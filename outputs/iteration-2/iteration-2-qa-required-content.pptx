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d262c578bca4f64" /><Relationship Type="http://schemas.openxmlformats.org/officeDocument/2006/relationships/extended-properties" Target="/docProps/app.xml" Id="Rd92d3c80217a4867" /><Relationship Type="http://schemas.openxmlformats.org/officeDocument/2006/relationships/officeDocument" Target="/ppt/presentation.xml" Id="Ra0af48914f2e4696" /></Relationships>
</file>

<file path=ppt/presentation.xml><?xml version="1.0" encoding="utf-8"?>
<p:presentation xmlns:p="http://schemas.openxmlformats.org/presentationml/2006/main">
  <p:sldMasterIdLst>
    <p:sldMasterId xmlns:r="http://schemas.openxmlformats.org/officeDocument/2006/relationships" id="2147483648" r:id="R92046fa6ed0045dd"/>
  </p:sldMasterIdLst>
  <p:notesMasterIdLst>
    <p:notesMasterId xmlns:r="http://schemas.openxmlformats.org/officeDocument/2006/relationships" r:id="R72db54b6373d40fb"/>
  </p:notesMasterIdLst>
  <p:sldIdLst>
    <p:sldId xmlns:r="http://schemas.openxmlformats.org/officeDocument/2006/relationships" id="256" r:id="R105e63a9a2a94fba"/>
    <p:sldId xmlns:r="http://schemas.openxmlformats.org/officeDocument/2006/relationships" id="257" r:id="R85fd23b9ca9a499e"/>
    <p:sldId xmlns:r="http://schemas.openxmlformats.org/officeDocument/2006/relationships" id="258" r:id="Re8c6b1b26869485a"/>
    <p:sldId xmlns:r="http://schemas.openxmlformats.org/officeDocument/2006/relationships" id="259" r:id="R163451055dec4777"/>
    <p:sldId xmlns:r="http://schemas.openxmlformats.org/officeDocument/2006/relationships" id="260" r:id="Rf887725b49e24dee"/>
    <p:sldId xmlns:r="http://schemas.openxmlformats.org/officeDocument/2006/relationships" id="261" r:id="R0e9a23aae5ac4769"/>
    <p:sldId xmlns:r="http://schemas.openxmlformats.org/officeDocument/2006/relationships" id="262" r:id="Rc7a16549565f4645"/>
    <p:sldId xmlns:r="http://schemas.openxmlformats.org/officeDocument/2006/relationships" id="263" r:id="Rc66cf0854ff4454c"/>
    <p:sldId xmlns:r="http://schemas.openxmlformats.org/officeDocument/2006/relationships" id="264" r:id="R158b1e3283184ce2"/>
    <p:sldId xmlns:r="http://schemas.openxmlformats.org/officeDocument/2006/relationships" id="265" r:id="Rbd369bffabc64a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5dbb0f4726046ba" /><Relationship Type="http://schemas.openxmlformats.org/officeDocument/2006/relationships/slideMaster" Target="/ppt/slideMasters/slideMaster1.xml" Id="R92046fa6ed0045dd" /><Relationship Type="http://schemas.openxmlformats.org/officeDocument/2006/relationships/notesMaster" Target="/ppt/notesMasters/notesMaster1.xml" Id="R72db54b6373d40fb" /><Relationship Type="http://schemas.openxmlformats.org/officeDocument/2006/relationships/presProps" Target="/ppt/presProps.xml" Id="R49dcc617c2d740a4" /><Relationship Type="http://schemas.openxmlformats.org/officeDocument/2006/relationships/viewProps" Target="/ppt/viewProps.xml" Id="Rb68c27ab03264338" /><Relationship Type="http://schemas.openxmlformats.org/officeDocument/2006/relationships/tableStyles" Target="/ppt/tableStyles.xml" Id="R3ddd4c9469a34b87" /><Relationship Type="http://schemas.openxmlformats.org/officeDocument/2006/relationships/slide" Target="/ppt/slides/slide1.xml" Id="R105e63a9a2a94fba" /><Relationship Type="http://schemas.openxmlformats.org/officeDocument/2006/relationships/slide" Target="/ppt/slides/slide2.xml" Id="R85fd23b9ca9a499e" /><Relationship Type="http://schemas.openxmlformats.org/officeDocument/2006/relationships/slide" Target="/ppt/slides/slide3.xml" Id="Re8c6b1b26869485a" /><Relationship Type="http://schemas.openxmlformats.org/officeDocument/2006/relationships/slide" Target="/ppt/slides/slide4.xml" Id="R163451055dec4777" /><Relationship Type="http://schemas.openxmlformats.org/officeDocument/2006/relationships/slide" Target="/ppt/slides/slide5.xml" Id="Rf887725b49e24dee" /><Relationship Type="http://schemas.openxmlformats.org/officeDocument/2006/relationships/slide" Target="/ppt/slides/slide6.xml" Id="R0e9a23aae5ac4769" /><Relationship Type="http://schemas.openxmlformats.org/officeDocument/2006/relationships/slide" Target="/ppt/slides/slide7.xml" Id="Rc7a16549565f4645" /><Relationship Type="http://schemas.openxmlformats.org/officeDocument/2006/relationships/slide" Target="/ppt/slides/slide8.xml" Id="Rc66cf0854ff4454c" /><Relationship Type="http://schemas.openxmlformats.org/officeDocument/2006/relationships/slide" Target="/ppt/slides/slide9.xml" Id="R158b1e3283184ce2" /><Relationship Type="http://schemas.openxmlformats.org/officeDocument/2006/relationships/slide" Target="/ppt/slides/slide10.xml" Id="Rbd369bffabc64a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72ffc6625940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cd0cf7830e4d42" /><Relationship Type="http://schemas.openxmlformats.org/officeDocument/2006/relationships/notesMaster" Target="/ppt/notesMasters/notesMaster1.xml" Id="R6ad848aeea3143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f267f2da5b45c4" /><Relationship Type="http://schemas.openxmlformats.org/officeDocument/2006/relationships/notesMaster" Target="/ppt/notesMasters/notesMaster1.xml" Id="Rd53c950985a248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9a1c87eee641e4" /><Relationship Type="http://schemas.openxmlformats.org/officeDocument/2006/relationships/notesMaster" Target="/ppt/notesMasters/notesMaster1.xml" Id="Ra21d2153d9f44b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80509548314f31" /><Relationship Type="http://schemas.openxmlformats.org/officeDocument/2006/relationships/notesMaster" Target="/ppt/notesMasters/notesMaster1.xml" Id="Rfd7c25edd04e44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75440a9f374866" /><Relationship Type="http://schemas.openxmlformats.org/officeDocument/2006/relationships/notesMaster" Target="/ppt/notesMasters/notesMaster1.xml" Id="R68bcec706da748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316d7705e74932" /><Relationship Type="http://schemas.openxmlformats.org/officeDocument/2006/relationships/notesMaster" Target="/ppt/notesMasters/notesMaster1.xml" Id="R6678ab568e2b44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a5204412ef4ff3" /><Relationship Type="http://schemas.openxmlformats.org/officeDocument/2006/relationships/notesMaster" Target="/ppt/notesMasters/notesMaster1.xml" Id="Ra49b24bf66ec47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02b3d798124f88" /><Relationship Type="http://schemas.openxmlformats.org/officeDocument/2006/relationships/notesMaster" Target="/ppt/notesMasters/notesMaster1.xml" Id="Re8f3ce351df142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e2622956224660" /><Relationship Type="http://schemas.openxmlformats.org/officeDocument/2006/relationships/notesMaster" Target="/ppt/notesMasters/notesMaster1.xml" Id="Rc81069403b054e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a6bb1dca96492c" /><Relationship Type="http://schemas.openxmlformats.org/officeDocument/2006/relationships/notesMaster" Target="/ppt/notesMasters/notesMaster1.xml" Id="R73b0c1846d2a40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reports the second QA iteration for JazGot Tours. The execution was on 18 September 2026 using the Quality copy. We compared its application source with the official repository main branch at commit fffd308, so the tested application code matched that baseline. The purpose today is to close the actions from Iteration 1, show an updated requirements traceability matrix with execution evidence, explain defect priorities, and set out the third iteration plan. A later official repository update arrived on 20 September. Following the agreed reporting boundary, that version is for Iteration 3. The results in this presentation remain the recorded Iteration 2 result.</a:t>
            </a:r>
          </a:p>
          <a:p xmlns:a="http://schemas.openxmlformats.org/drawingml/2006/main">
            <a:r>
              <a:t/>
            </a:r>
          </a:p>
          <a:p xmlns:a="http://schemas.openxmlformats.org/drawingml/2006/main">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previous iteration recorded eight cases: seven passed and one PDF download failed. Its passing assertions mostly established that screens opened and navigation worked. They did not reliably compare the booking details entered by the customer with the values on later screens. Our action in Iteration 2 was to retest the PDF problem, then add those accuracy checks. We also executed negative input checks, admin smoke checks and a clean Windows setup case. The PDF failure remained open. The wider checks exposed booking data changes between screens. Fix owners were not assigned in the material we received, and the written expectation for quotation record creation still needs agreement. The four figures at the top are the recorded first iteration baseline, not the Iteration 2 result.</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RTM means requirements traceability matrix. It answers which expected behavior each test addresses, what we observed, whether it passed, and where the supporting evidence is. We reconstructed the Iteration 2 matrix from the supplied deck, the test cases and the implemented interface because formal approved requirements were unavailable. The workbook gives one row to every case and links it to screenshots, logs or JSON. UC-001 has six cases, with five passes and one failure for a past tour date. UC-002 has six cases, with three passes, two failures and one blocked PDF content check. UC-003 covers booking continuity and all three cases failed. UC-004 has two admin cases, both failed under the written expectations. The installation case failed. For TC-017, quotation record creation, we record the failed written case while explicitly requesting scope agreement.</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Across the RTM there are eighteen planned cases. Eight passed, nine failed and one was blocked. Seventeen reached either a pass or fail outcome. Eight divided by seventeen is a 47.06 percent executed pass rate, below the 95 percent target. Eight divided by all eighteen planned cases is 44.44 percent. TC-009 is blocked because the PDF download test failed and no file existed to inspect. The results JSON and evidence files support the individual rows of the RTM; the separate spreadsheet lets reviewers inspect each expectation and observation. The first iteration pass rate should not be used as a direct measure of development regression because this round added deeper data accuracy checks.</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This table is a concrete trace from requirement to execution. The customer chose Tour A with two guests and two add-ons. The booking form calculated 3,900 pesos and accepted September 27 as the future tour date. Checkout showed one guest, 1,350 pesos and a pending date. The dashboard repeated those values and used a sample name. TC-010, TC-011 and TC-012 failed on the mismatch. The linked screenshots show the input and subsequent pages. These defects matter because the customer could proceed while reviewing a transaction different from the one requested. The requirement is that guest count, tour date, contact details, add-ons and total remain consistent across the flow. The newer source still contains hardcoded checkout values, but its behavior belongs to Iteration 3 retesting.</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invoice PDF failure is the carried defect from Iteration 1. The current iteration retest, TC-008R, again produced no downloaded file. The console recorded an unsupported lab colour function in html2canvas. TC-009, which would compare the contents of the downloaded invoice with the on-screen details, was blocked because there was no PDF. The impact is straightforward: the customer cannot obtain or check the invoice file. This is why the two cases have different outcomes, failed download and blocked content comparison. The retest after a developer change must confirm that a PDF downloads, opens, is readable and contains the correct booking data. The evidence file names are shown on this slide.</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We recommend the booking data defects, BUG-002 and BUG-003, as the first priority. They change what the customer appears to purchase and what the dashboard confirms. They were proposed as high severity in the report. The PDF defect is next because it prevents delivery of the invoice and blocks the content test. The old checkout form accepted malformed card values, a high severity finding for that tested version. However, the newer version replaces that form with a PayMongo redirect. We will retire the obsolete card field assertion and test the new gateway flow in a controlled sandbox in Iteration 3. Priority describes urgency for the next fixes and tests; the proposed severities and owners still need development team triage.</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Other findings also need a decision. TC-015 showed that the booking form accepted a past tour date. TC-018 showed a clean Windows install failing on a Linux-only Tailwind dependency; a forced install let us continue QA but did not change that case result. TC-016 found a React hydration error on the quotation page. All five admin routes returned page content, so this was not a blank page. TC-017 expected quotation submission and record creation, but the page had a preview without a save or submit action. We label that a scope clarification, since the agreed requirement was not available. Unused Supabase integration was only an observation in the tested version, not a confirmed customer defect. The new checkout API changes backend use, so that observation also needs fresh assessment in Iteration 3.</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third iteration will use official main commit 2f0d932, the version merged on September 20, as a new baseline. Its changes add a PayMongo checkout route and pending booking insertion into Supabase, remove the local raw card fields, and improve the booking modal on smaller screens. We will update the RTM before execution because some old payment cases no longer match the new interface. We should use a configured test or sandbox payment environment and never treat a redirect alone as proof of a completed payment. The highest value regression is one booking with two guests and add-ons, checked through the checkout request, pending record and return page. We will then repeat the PDF, past date, Windows setup and admin checks, clarify quotation scope, and attach new evidence and outcomes. The new code has not been counted as an Iteration 2 fix.</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Iteration 2 exit criteria were not met. We accounted for all eighteen cases, but the executed pass rate was below the 95 percent target, PDF export failed and high severity booking data findings remained. This is a completed QA assessment of the tested baseline, not a claim that the latest repository version was retested. The full RTM, test workbook, report and screenshots support questions on individual cases. The next step is to agree defect owners and quotation scope, then execute the revised Iteration 3 matrix on the newer build. Thank you.</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e4375c0dae43f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137572e38641fc" /><Relationship Type="http://schemas.openxmlformats.org/officeDocument/2006/relationships/slideLayout" Target="/ppt/slideLayouts/slideLayout1.xml" Id="Rfd35f4ae7efa436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35f4ae7efa436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2dddaab2c64c41" /><Relationship Type="http://schemas.openxmlformats.org/officeDocument/2006/relationships/notesSlide" Target="/ppt/notesSlides/notesSlide1.xml" Id="R1149a76609bb47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034df96afe44db" /><Relationship Type="http://schemas.openxmlformats.org/officeDocument/2006/relationships/notesSlide" Target="/ppt/notesSlides/notesSlide2.xml" Id="Rb80d63f0049a49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28fd648e034132" /><Relationship Type="http://schemas.openxmlformats.org/officeDocument/2006/relationships/notesSlide" Target="/ppt/notesSlides/notesSlide3.xml" Id="R130f0f3f261849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0a9b6e72c141fc" /><Relationship Type="http://schemas.openxmlformats.org/officeDocument/2006/relationships/chart" Target="/ppt/slides/charts/chart1.xml" Id="R69864c50e4f24747" /><Relationship Type="http://schemas.openxmlformats.org/officeDocument/2006/relationships/notesSlide" Target="/ppt/notesSlides/notesSlide4.xml" Id="R70995a7876374c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458f1143a7452c" /><Relationship Type="http://schemas.openxmlformats.org/officeDocument/2006/relationships/notesSlide" Target="/ppt/notesSlides/notesSlide5.xml" Id="Rca2cc6c1937948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8d201c15f574051" /><Relationship Type="http://schemas.openxmlformats.org/officeDocument/2006/relationships/notesSlide" Target="/ppt/notesSlides/notesSlide6.xml" Id="Rbd375f6e7a4d47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60eafe59e34225" /><Relationship Type="http://schemas.openxmlformats.org/officeDocument/2006/relationships/notesSlide" Target="/ppt/notesSlides/notesSlide7.xml" Id="Rc8bec358f5844a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6f8e73497246f1" /><Relationship Type="http://schemas.openxmlformats.org/officeDocument/2006/relationships/notesSlide" Target="/ppt/notesSlides/notesSlide8.xml" Id="R3fb8298232b645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9e273481384870" /><Relationship Type="http://schemas.openxmlformats.org/officeDocument/2006/relationships/notesSlide" Target="/ppt/notesSlides/notesSlide9.xml" Id="R6ace8602d1a943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9e41e7879a452e" /><Relationship Type="http://schemas.openxmlformats.org/officeDocument/2006/relationships/notesSlide" Target="/ppt/notesSlides/notesSlide10.xml" Id="Red21ee116dab44e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a:solidFill>
                  <a:srgbClr val="0E2A38"/>
                </a:solidFill>
                <a:latin typeface="Calibri"/>
                <a:ea typeface="Calibri"/>
                <a:cs typeface="Calibri"/>
              </a:rPr>
              <a:t>Current case outcomes</a:t>
            </a:r>
          </a:p>
        </c:rich>
      </c:tx>
      <c:overlay val="0"/>
      <c:txPr>
        <a:bodyPr xmlns:a="http://schemas.openxmlformats.org/drawingml/2006/main" anchorCtr="1"/>
        <a:lstStyle xmlns:a="http://schemas.openxmlformats.org/drawingml/2006/main"/>
        <a:p xmlns:a="http://schemas.openxmlformats.org/drawingml/2006/main">
          <a:pPr>
            <a:defRPr sz="1575">
              <a:solidFill>
                <a:srgbClr val="0E2A38"/>
              </a:solidFill>
              <a:latin typeface="Calibri"/>
              <a:ea typeface="Calibri"/>
              <a:cs typeface="Calibri"/>
            </a:defRPr>
          </a:pPr>
        </a:p>
      </c:txPr>
    </c:title>
    <c:plotArea>
      <c:barChart>
        <c:barDir val="col"/>
        <c:varyColors val="0"/>
        <c:ser>
          <c:idx val="0"/>
          <c:order val="0"/>
          <c:tx>
            <c:v>Cases</c:v>
          </c:tx>
          <c:spPr>
            <a:solidFill xmlns:a="http://schemas.openxmlformats.org/drawingml/2006/main">
              <a:srgbClr val="CE9136"/>
            </a:solidFill>
          </c:spPr>
          <c:cat>
            <c:strRef>
              <c:f>'Chart Data'!$A$2:$A$4</c:f>
              <c:strCache>
                <c:ptCount val="3"/>
                <c:pt idx="0">
                  <c:v>Pass</c:v>
                </c:pt>
                <c:pt idx="1">
                  <c:v>Fail</c:v>
                </c:pt>
                <c:pt idx="2">
                  <c:v>Blocked</c:v>
                </c:pt>
              </c:strCache>
            </c:strRef>
          </c:cat>
          <c:val>
            <c:numRef>
              <c:f>'Chart Data'!$B$2:$B$4</c:f>
              <c:numCache>
                <c:formatCode>0</c:formatCode>
                <c:ptCount val="3"/>
                <c:pt idx="0">
                  <c:v>8</c:v>
                </c:pt>
                <c:pt idx="1">
                  <c:v>9</c:v>
                </c:pt>
                <c:pt idx="2">
                  <c:v>1</c:v>
                </c:pt>
              </c:numCache>
            </c:numRef>
          </c:val>
        </c:ser>
        <c:dLbls>
          <c:txPr>
            <a:bodyPr xmlns:a="http://schemas.openxmlformats.org/drawingml/2006/main" anchorCtr="1"/>
            <a:lstStyle xmlns:a="http://schemas.openxmlformats.org/drawingml/2006/main"/>
            <a:p xmlns:a="http://schemas.openxmlformats.org/drawingml/2006/main">
              <a:pPr>
                <a:defRPr sz="1650">
                  <a:latin typeface="Calibri"/>
                  <a:ea typeface="Calibri"/>
                  <a:cs typeface="Calibr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Calibri"/>
                <a:ea typeface="Calibri"/>
                <a:cs typeface="Calibri"/>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Calibri"/>
                <a:ea typeface="Calibri"/>
                <a:cs typeface="Calibri"/>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E2A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2FD5A4C-A2BC-4108-BF77-AE284F556CCC}"/>
              </a:ext>
            </a:extLst>
          </p:cNvPr>
          <p:cNvSpPr>
            <a:spLocks xmlns:a="http://schemas.openxmlformats.org/drawingml/2006/main" noGrp="1"/>
          </p:cNvSpPr>
          <p:nvPr/>
        </p:nvSpPr>
        <p:spPr>
          <a:xfrm xmlns:a="http://schemas.openxmlformats.org/drawingml/2006/main">
            <a:off x="9326880" y="-1463040"/>
            <a:ext cx="4754880" cy="4754880"/>
          </a:xfrm>
          <a:prstGeom xmlns:a="http://schemas.openxmlformats.org/drawingml/2006/main" prst="ellipse">
            <a:avLst/>
          </a:prstGeom>
          <a:solidFill xmlns:a="http://schemas.openxmlformats.org/drawingml/2006/main">
            <a:srgbClr val="2A6F84">
              <a:alpha val="45000"/>
            </a:srgbClr>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379C3360-9E44-496D-89D3-6BA076F039C1}"/>
              </a:ext>
            </a:extLst>
          </p:cNvPr>
          <p:cNvSpPr>
            <a:spLocks xmlns:a="http://schemas.openxmlformats.org/drawingml/2006/main" noGrp="1"/>
          </p:cNvSpPr>
          <p:nvPr/>
        </p:nvSpPr>
        <p:spPr>
          <a:xfrm xmlns:a="http://schemas.openxmlformats.org/drawingml/2006/main">
            <a:off x="10607040" y="4206240"/>
            <a:ext cx="2377440" cy="2377440"/>
          </a:xfrm>
          <a:prstGeom xmlns:a="http://schemas.openxmlformats.org/drawingml/2006/main" prst="ellipse">
            <a:avLst/>
          </a:prstGeom>
          <a:solidFill xmlns:a="http://schemas.openxmlformats.org/drawingml/2006/main">
            <a:srgbClr val="CE9136">
              <a:alpha val="35000"/>
            </a:srgbClr>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4B72F48D-D76F-4C22-912A-8023D5E6E6D4}"/>
              </a:ext>
            </a:extLst>
          </p:cNvPr>
          <p:cNvSpPr>
            <a:spLocks xmlns:a="http://schemas.openxmlformats.org/drawingml/2006/main" noGrp="1"/>
          </p:cNvSpPr>
          <p:nvPr/>
        </p:nvSpPr>
        <p:spPr>
          <a:xfrm xmlns:a="http://schemas.openxmlformats.org/drawingml/2006/main">
            <a:off x="777240" y="132588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SOFTWARE QUALITY ASSURANCE  |  GROUP 02 - WASD</a:t>
            </a:r>
            <a:endParaRPr sz="1200"/>
          </a:p>
        </p:txBody>
      </p:sp>
      <p:sp>
        <p:nvSpPr>
          <p:cNvPr id="5" name="Text 3">
            <a:extLst xmlns:a="http://schemas.openxmlformats.org/drawingml/2006/main">
              <a:ext uri="{FF2B5EF4-FFF2-40B4-BE49-F238E27FC236}">
                <a16:creationId xmlns:a16="http://schemas.microsoft.com/office/drawing/2014/main" id="{06306A79-7B5E-409B-A46D-A2E3D85252BE}"/>
              </a:ext>
            </a:extLst>
          </p:cNvPr>
          <p:cNvSpPr>
            <a:spLocks xmlns:a="http://schemas.openxmlformats.org/drawingml/2006/main" noGrp="1"/>
          </p:cNvSpPr>
          <p:nvPr/>
        </p:nvSpPr>
        <p:spPr>
          <a:xfrm xmlns:a="http://schemas.openxmlformats.org/drawingml/2006/main">
            <a:off x="777240" y="1737360"/>
            <a:ext cx="877824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900" b="1">
                <a:solidFill>
                  <a:srgbClr val="FFFFFF"/>
                </a:solidFill>
                <a:latin typeface="Cambria"/>
                <a:ea typeface="Cambria"/>
                <a:cs typeface="Cambria"/>
              </a:defRPr>
            </a:pPr>
            <a:r>
              <a:rPr sz="3900" b="1">
                <a:solidFill>
                  <a:srgbClr val="FFFFFF"/>
                </a:solidFill>
                <a:latin typeface="Cambria"/>
                <a:ea typeface="Cambria"/>
                <a:cs typeface="Cambria"/>
              </a:rPr>
              <a:t>JazGot Tours</a:t>
            </a:r>
            <a:endParaRPr sz="4800"/>
          </a:p>
          <a:p xmlns:a="http://schemas.openxmlformats.org/drawingml/2006/main">
            <a:pPr marL="0" indent="0">
              <a:buNone/>
              <a:defRPr sz="3900" b="1">
                <a:solidFill>
                  <a:srgbClr val="FFFFFF"/>
                </a:solidFill>
                <a:latin typeface="Cambria"/>
                <a:ea typeface="Cambria"/>
                <a:cs typeface="Cambria"/>
              </a:defRPr>
            </a:pPr>
            <a:r>
              <a:rPr sz="3900" b="1">
                <a:solidFill>
                  <a:srgbClr val="FFFFFF"/>
                </a:solidFill>
                <a:latin typeface="Cambria"/>
                <a:ea typeface="Cambria"/>
                <a:cs typeface="Cambria"/>
              </a:rPr>
              <a:t>Iteration 2 QA</a:t>
            </a:r>
            <a:endParaRPr sz="4800"/>
          </a:p>
        </p:txBody>
      </p:sp>
      <p:sp>
        <p:nvSpPr>
          <p:cNvPr id="6" name="Text 4">
            <a:extLst xmlns:a="http://schemas.openxmlformats.org/drawingml/2006/main">
              <a:ext uri="{FF2B5EF4-FFF2-40B4-BE49-F238E27FC236}">
                <a16:creationId xmlns:a16="http://schemas.microsoft.com/office/drawing/2014/main" id="{D7F1E1D7-F98E-4882-B1CB-55A52715FBB7}"/>
              </a:ext>
            </a:extLst>
          </p:cNvPr>
          <p:cNvSpPr>
            <a:spLocks xmlns:a="http://schemas.openxmlformats.org/drawingml/2006/main" noGrp="1"/>
          </p:cNvSpPr>
          <p:nvPr/>
        </p:nvSpPr>
        <p:spPr>
          <a:xfrm xmlns:a="http://schemas.openxmlformats.org/drawingml/2006/main">
            <a:off x="777240" y="2743200"/>
            <a:ext cx="8778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800" b="0">
                <a:solidFill>
                  <a:srgbClr val="BFD3DD"/>
                </a:solidFill>
                <a:latin typeface="Calibri"/>
                <a:ea typeface="Calibri"/>
                <a:cs typeface="Calibri"/>
              </a:defRPr>
            </a:pPr>
            <a:r>
              <a:rPr sz="1800" b="0">
                <a:solidFill>
                  <a:srgbClr val="BFD3DD"/>
                </a:solidFill>
                <a:latin typeface="Calibri"/>
                <a:ea typeface="Calibri"/>
                <a:cs typeface="Calibri"/>
              </a:rPr>
              <a:t>Previous actions, RTM evidence and defect priorities</a:t>
            </a:r>
            <a:endParaRPr sz="1900"/>
          </a:p>
        </p:txBody>
      </p:sp>
      <p:sp>
        <p:nvSpPr>
          <p:cNvPr id="7" name="Shape 5">
            <a:extLst xmlns:a="http://schemas.openxmlformats.org/drawingml/2006/main">
              <a:ext uri="{FF2B5EF4-FFF2-40B4-BE49-F238E27FC236}">
                <a16:creationId xmlns:a16="http://schemas.microsoft.com/office/drawing/2014/main" id="{00426173-2627-4361-A117-5D05823920C3}"/>
              </a:ext>
            </a:extLst>
          </p:cNvPr>
          <p:cNvSpPr>
            <a:spLocks xmlns:a="http://schemas.openxmlformats.org/drawingml/2006/main" noGrp="1"/>
          </p:cNvSpPr>
          <p:nvPr/>
        </p:nvSpPr>
        <p:spPr>
          <a:xfrm xmlns:a="http://schemas.openxmlformats.org/drawingml/2006/main">
            <a:off x="777240" y="3429000"/>
            <a:ext cx="1005840" cy="32004"/>
          </a:xfrm>
          <a:prstGeom xmlns:a="http://schemas.openxmlformats.org/drawingml/2006/main" prst="rect">
            <a:avLst/>
          </a:prstGeom>
          <a:solidFill xmlns:a="http://schemas.openxmlformats.org/drawingml/2006/main">
            <a:srgbClr val="CE9136"/>
          </a:solidFill>
          <a:ln xmlns:a="http://schemas.openxmlformats.org/drawingml/2006/main" w="12700">
            <a:solidFill>
              <a:srgbClr val="CE9136"/>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B8A24879-82CD-492E-A342-89E3BCE06C92}"/>
              </a:ext>
            </a:extLst>
          </p:cNvPr>
          <p:cNvSpPr>
            <a:spLocks xmlns:a="http://schemas.openxmlformats.org/drawingml/2006/main" noGrp="1"/>
          </p:cNvSpPr>
          <p:nvPr/>
        </p:nvSpPr>
        <p:spPr>
          <a:xfrm xmlns:a="http://schemas.openxmlformats.org/drawingml/2006/main">
            <a:off x="777240" y="3703320"/>
            <a:ext cx="8778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2200"/>
              </a:lnSpc>
              <a:buNone/>
              <a:defRPr sz="1425" b="0">
                <a:solidFill>
                  <a:srgbClr val="BFD3DD"/>
                </a:solidFill>
                <a:latin typeface="Calibri"/>
                <a:ea typeface="Calibri"/>
                <a:cs typeface="Calibri"/>
              </a:defRPr>
            </a:pPr>
            <a:r>
              <a:rPr sz="1425" b="0">
                <a:solidFill>
                  <a:srgbClr val="BFD3DD"/>
                </a:solidFill>
                <a:latin typeface="Calibri"/>
                <a:ea typeface="Calibri"/>
                <a:cs typeface="Calibri"/>
              </a:rPr>
              <a:t>Execution: 18 September 2026</a:t>
            </a:r>
            <a:endParaRPr sz="1400"/>
          </a:p>
          <a:p xmlns:a="http://schemas.openxmlformats.org/drawingml/2006/main">
            <a:pPr marL="0" indent="0">
              <a:lnSpc>
                <a:spcPts val="2200"/>
              </a:lnSpc>
              <a:buNone/>
              <a:defRPr sz="1425" b="0">
                <a:solidFill>
                  <a:srgbClr val="BFD3DD"/>
                </a:solidFill>
                <a:latin typeface="Calibri"/>
                <a:ea typeface="Calibri"/>
                <a:cs typeface="Calibri"/>
              </a:defRPr>
            </a:pPr>
            <a:r>
              <a:rPr sz="1425" b="0">
                <a:solidFill>
                  <a:srgbClr val="BFD3DD"/>
                </a:solidFill>
                <a:latin typeface="Calibri"/>
                <a:ea typeface="Calibri"/>
                <a:cs typeface="Calibri"/>
              </a:rPr>
              <a:t>Baseline: official main fffd308</a:t>
            </a:r>
            <a:endParaRPr sz="1400"/>
          </a:p>
        </p:txBody>
      </p:sp>
    </p:spTree>
    <p:extLst>
      <p:ext uri="{BB962C8B-B14F-4D97-AF65-F5344CB8AC3E}">
        <p14:creationId xmlns:p14="http://schemas.microsoft.com/office/powerpoint/2010/main" val="1656843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161157-7C6F-4739-8561-613B8291D405}"/>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PREVIOUS ACTIONS</a:t>
            </a:r>
            <a:endParaRPr sz="1200"/>
          </a:p>
        </p:txBody>
      </p:sp>
      <p:sp>
        <p:nvSpPr>
          <p:cNvPr id="3" name="Text 1">
            <a:extLst xmlns:a="http://schemas.openxmlformats.org/drawingml/2006/main">
              <a:ext uri="{FF2B5EF4-FFF2-40B4-BE49-F238E27FC236}">
                <a16:creationId xmlns:a16="http://schemas.microsoft.com/office/drawing/2014/main" id="{FFF46A68-7D11-4609-82A3-118DA28838A6}"/>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Actions carried from Iteration 1</a:t>
            </a:r>
            <a:endParaRPr sz="3400"/>
          </a:p>
        </p:txBody>
      </p:sp>
      <p:sp>
        <p:nvSpPr>
          <p:cNvPr id="4" name="Shape 2">
            <a:extLst xmlns:a="http://schemas.openxmlformats.org/drawingml/2006/main">
              <a:ext uri="{FF2B5EF4-FFF2-40B4-BE49-F238E27FC236}">
                <a16:creationId xmlns:a16="http://schemas.microsoft.com/office/drawing/2014/main" id="{C112FC1C-CF4B-42F9-B1B0-9598A1D4C899}"/>
              </a:ext>
            </a:extLst>
          </p:cNvPr>
          <p:cNvSpPr>
            <a:spLocks xmlns:a="http://schemas.openxmlformats.org/drawingml/2006/main" noGrp="1"/>
          </p:cNvSpPr>
          <p:nvPr/>
        </p:nvSpPr>
        <p:spPr>
          <a:xfrm xmlns:a="http://schemas.openxmlformats.org/drawingml/2006/main">
            <a:off x="640080"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363348FC-E818-4D29-8CD4-CE5C7F883C54}"/>
              </a:ext>
            </a:extLst>
          </p:cNvPr>
          <p:cNvSpPr>
            <a:spLocks xmlns:a="http://schemas.openxmlformats.org/drawingml/2006/main" noGrp="1"/>
          </p:cNvSpPr>
          <p:nvPr/>
        </p:nvSpPr>
        <p:spPr>
          <a:xfrm xmlns:a="http://schemas.openxmlformats.org/drawingml/2006/main">
            <a:off x="640080"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0E2A38"/>
                </a:solidFill>
                <a:latin typeface="Cambria"/>
                <a:ea typeface="Cambria"/>
                <a:cs typeface="Cambria"/>
              </a:rPr>
              <a:t>8</a:t>
            </a:r>
            <a:endParaRPr sz="5200"/>
          </a:p>
        </p:txBody>
      </p:sp>
      <p:sp>
        <p:nvSpPr>
          <p:cNvPr id="6" name="Text 4">
            <a:extLst xmlns:a="http://schemas.openxmlformats.org/drawingml/2006/main">
              <a:ext uri="{FF2B5EF4-FFF2-40B4-BE49-F238E27FC236}">
                <a16:creationId xmlns:a16="http://schemas.microsoft.com/office/drawing/2014/main" id="{FF179394-4E95-47E4-9C86-DB6DD70340A1}"/>
              </a:ext>
            </a:extLst>
          </p:cNvPr>
          <p:cNvSpPr>
            <a:spLocks xmlns:a="http://schemas.openxmlformats.org/drawingml/2006/main" noGrp="1"/>
          </p:cNvSpPr>
          <p:nvPr/>
        </p:nvSpPr>
        <p:spPr>
          <a:xfrm xmlns:a="http://schemas.openxmlformats.org/drawingml/2006/main">
            <a:off x="640080"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Test cases executed</a:t>
            </a:r>
            <a:endParaRPr sz="1200"/>
          </a:p>
        </p:txBody>
      </p:sp>
      <p:sp>
        <p:nvSpPr>
          <p:cNvPr id="7" name="Shape 5">
            <a:extLst xmlns:a="http://schemas.openxmlformats.org/drawingml/2006/main">
              <a:ext uri="{FF2B5EF4-FFF2-40B4-BE49-F238E27FC236}">
                <a16:creationId xmlns:a16="http://schemas.microsoft.com/office/drawing/2014/main" id="{B7608CF4-56AA-444F-9BF3-144E2DBC32A9}"/>
              </a:ext>
            </a:extLst>
          </p:cNvPr>
          <p:cNvSpPr>
            <a:spLocks xmlns:a="http://schemas.openxmlformats.org/drawingml/2006/main" noGrp="1"/>
          </p:cNvSpPr>
          <p:nvPr/>
        </p:nvSpPr>
        <p:spPr>
          <a:xfrm xmlns:a="http://schemas.openxmlformats.org/drawingml/2006/main">
            <a:off x="3438144"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30B7735E-78C0-4540-8E7D-768428F45A18}"/>
              </a:ext>
            </a:extLst>
          </p:cNvPr>
          <p:cNvSpPr>
            <a:spLocks xmlns:a="http://schemas.openxmlformats.org/drawingml/2006/main" noGrp="1"/>
          </p:cNvSpPr>
          <p:nvPr/>
        </p:nvSpPr>
        <p:spPr>
          <a:xfrm xmlns:a="http://schemas.openxmlformats.org/drawingml/2006/main">
            <a:off x="3438144"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2E7D5B"/>
                </a:solidFill>
                <a:latin typeface="Cambria"/>
                <a:ea typeface="Cambria"/>
                <a:cs typeface="Cambria"/>
              </a:rPr>
              <a:t>7</a:t>
            </a:r>
            <a:endParaRPr sz="5200"/>
          </a:p>
        </p:txBody>
      </p:sp>
      <p:sp>
        <p:nvSpPr>
          <p:cNvPr id="9" name="Text 7">
            <a:extLst xmlns:a="http://schemas.openxmlformats.org/drawingml/2006/main">
              <a:ext uri="{FF2B5EF4-FFF2-40B4-BE49-F238E27FC236}">
                <a16:creationId xmlns:a16="http://schemas.microsoft.com/office/drawing/2014/main" id="{BC6A682D-042D-4219-8507-A288AD6DFE05}"/>
              </a:ext>
            </a:extLst>
          </p:cNvPr>
          <p:cNvSpPr>
            <a:spLocks xmlns:a="http://schemas.openxmlformats.org/drawingml/2006/main" noGrp="1"/>
          </p:cNvSpPr>
          <p:nvPr/>
        </p:nvSpPr>
        <p:spPr>
          <a:xfrm xmlns:a="http://schemas.openxmlformats.org/drawingml/2006/main">
            <a:off x="3438144"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Passed</a:t>
            </a:r>
            <a:endParaRPr sz="1200"/>
          </a:p>
        </p:txBody>
      </p:sp>
      <p:sp>
        <p:nvSpPr>
          <p:cNvPr id="10" name="Shape 8">
            <a:extLst xmlns:a="http://schemas.openxmlformats.org/drawingml/2006/main">
              <a:ext uri="{FF2B5EF4-FFF2-40B4-BE49-F238E27FC236}">
                <a16:creationId xmlns:a16="http://schemas.microsoft.com/office/drawing/2014/main" id="{2EB31892-2B75-45BF-9E29-6555467225F7}"/>
              </a:ext>
            </a:extLst>
          </p:cNvPr>
          <p:cNvSpPr>
            <a:spLocks xmlns:a="http://schemas.openxmlformats.org/drawingml/2006/main" noGrp="1"/>
          </p:cNvSpPr>
          <p:nvPr/>
        </p:nvSpPr>
        <p:spPr>
          <a:xfrm xmlns:a="http://schemas.openxmlformats.org/drawingml/2006/main">
            <a:off x="6236208"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6D9BB555-6745-4854-9F91-6CD71582DD38}"/>
              </a:ext>
            </a:extLst>
          </p:cNvPr>
          <p:cNvSpPr>
            <a:spLocks xmlns:a="http://schemas.openxmlformats.org/drawingml/2006/main" noGrp="1"/>
          </p:cNvSpPr>
          <p:nvPr/>
        </p:nvSpPr>
        <p:spPr>
          <a:xfrm xmlns:a="http://schemas.openxmlformats.org/drawingml/2006/main">
            <a:off x="6236208"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B4432F"/>
                </a:solidFill>
                <a:latin typeface="Cambria"/>
                <a:ea typeface="Cambria"/>
                <a:cs typeface="Cambria"/>
              </a:rPr>
              <a:t>1</a:t>
            </a:r>
            <a:endParaRPr sz="5200"/>
          </a:p>
        </p:txBody>
      </p:sp>
      <p:sp>
        <p:nvSpPr>
          <p:cNvPr id="12" name="Text 10">
            <a:extLst xmlns:a="http://schemas.openxmlformats.org/drawingml/2006/main">
              <a:ext uri="{FF2B5EF4-FFF2-40B4-BE49-F238E27FC236}">
                <a16:creationId xmlns:a16="http://schemas.microsoft.com/office/drawing/2014/main" id="{39FDB320-BA38-47B3-8921-1784228DA336}"/>
              </a:ext>
            </a:extLst>
          </p:cNvPr>
          <p:cNvSpPr>
            <a:spLocks xmlns:a="http://schemas.openxmlformats.org/drawingml/2006/main" noGrp="1"/>
          </p:cNvSpPr>
          <p:nvPr/>
        </p:nvSpPr>
        <p:spPr>
          <a:xfrm xmlns:a="http://schemas.openxmlformats.org/drawingml/2006/main">
            <a:off x="6236208"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Failed</a:t>
            </a:r>
            <a:endParaRPr sz="1200"/>
          </a:p>
        </p:txBody>
      </p:sp>
      <p:sp>
        <p:nvSpPr>
          <p:cNvPr id="13" name="Shape 11">
            <a:extLst xmlns:a="http://schemas.openxmlformats.org/drawingml/2006/main">
              <a:ext uri="{FF2B5EF4-FFF2-40B4-BE49-F238E27FC236}">
                <a16:creationId xmlns:a16="http://schemas.microsoft.com/office/drawing/2014/main" id="{A2E9F460-68A6-4AFF-BA1A-88B28006EEFB}"/>
              </a:ext>
            </a:extLst>
          </p:cNvPr>
          <p:cNvSpPr>
            <a:spLocks xmlns:a="http://schemas.openxmlformats.org/drawingml/2006/main" noGrp="1"/>
          </p:cNvSpPr>
          <p:nvPr/>
        </p:nvSpPr>
        <p:spPr>
          <a:xfrm xmlns:a="http://schemas.openxmlformats.org/drawingml/2006/main">
            <a:off x="9034272"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73372DE6-FD54-4537-9094-39DEF4664C3E}"/>
              </a:ext>
            </a:extLst>
          </p:cNvPr>
          <p:cNvSpPr>
            <a:spLocks xmlns:a="http://schemas.openxmlformats.org/drawingml/2006/main" noGrp="1"/>
          </p:cNvSpPr>
          <p:nvPr/>
        </p:nvSpPr>
        <p:spPr>
          <a:xfrm xmlns:a="http://schemas.openxmlformats.org/drawingml/2006/main">
            <a:off x="9034272"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C08321"/>
                </a:solidFill>
                <a:latin typeface="Cambria"/>
                <a:ea typeface="Cambria"/>
                <a:cs typeface="Cambria"/>
              </a:rPr>
              <a:t>87.5%</a:t>
            </a:r>
            <a:endParaRPr sz="5200"/>
          </a:p>
        </p:txBody>
      </p:sp>
      <p:sp>
        <p:nvSpPr>
          <p:cNvPr id="15" name="Text 13">
            <a:extLst xmlns:a="http://schemas.openxmlformats.org/drawingml/2006/main">
              <a:ext uri="{FF2B5EF4-FFF2-40B4-BE49-F238E27FC236}">
                <a16:creationId xmlns:a16="http://schemas.microsoft.com/office/drawing/2014/main" id="{45E1E83E-055F-4E74-9E16-ADA348A6E96F}"/>
              </a:ext>
            </a:extLst>
          </p:cNvPr>
          <p:cNvSpPr>
            <a:spLocks xmlns:a="http://schemas.openxmlformats.org/drawingml/2006/main" noGrp="1"/>
          </p:cNvSpPr>
          <p:nvPr/>
        </p:nvSpPr>
        <p:spPr>
          <a:xfrm xmlns:a="http://schemas.openxmlformats.org/drawingml/2006/main">
            <a:off x="9034272"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Pass rate</a:t>
            </a:r>
            <a:endParaRPr sz="1200"/>
          </a:p>
        </p:txBody>
      </p:sp>
      <p:sp>
        <p:nvSpPr>
          <p:cNvPr id="16" name="Shape 14">
            <a:extLst xmlns:a="http://schemas.openxmlformats.org/drawingml/2006/main">
              <a:ext uri="{FF2B5EF4-FFF2-40B4-BE49-F238E27FC236}">
                <a16:creationId xmlns:a16="http://schemas.microsoft.com/office/drawing/2014/main" id="{70D3620C-D55E-4B24-8CF3-709D5CACBCE5}"/>
              </a:ext>
            </a:extLst>
          </p:cNvPr>
          <p:cNvSpPr>
            <a:spLocks xmlns:a="http://schemas.openxmlformats.org/drawingml/2006/main" noGrp="1"/>
          </p:cNvSpPr>
          <p:nvPr/>
        </p:nvSpPr>
        <p:spPr>
          <a:xfrm xmlns:a="http://schemas.openxmlformats.org/drawingml/2006/main">
            <a:off x="640080" y="3657600"/>
            <a:ext cx="5394960" cy="233172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678707FA-5963-4903-A223-56648C5F3A0A}"/>
              </a:ext>
            </a:extLst>
          </p:cNvPr>
          <p:cNvSpPr>
            <a:spLocks xmlns:a="http://schemas.openxmlformats.org/drawingml/2006/main" noGrp="1"/>
          </p:cNvSpPr>
          <p:nvPr/>
        </p:nvSpPr>
        <p:spPr>
          <a:xfrm xmlns:a="http://schemas.openxmlformats.org/drawingml/2006/main">
            <a:off x="868680" y="3840480"/>
            <a:ext cx="49377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1">
                <a:solidFill>
                  <a:srgbClr val="0E2A38"/>
                </a:solidFill>
                <a:latin typeface="Calibri"/>
                <a:ea typeface="Calibri"/>
                <a:cs typeface="Calibri"/>
              </a:defRPr>
            </a:pPr>
            <a:r>
              <a:rPr sz="1575" b="1">
                <a:solidFill>
                  <a:srgbClr val="0E2A38"/>
                </a:solidFill>
                <a:latin typeface="Calibri"/>
                <a:ea typeface="Calibri"/>
                <a:cs typeface="Calibri"/>
              </a:rPr>
              <a:t>Completed in Iteration 2</a:t>
            </a:r>
            <a:endParaRPr sz="1500"/>
          </a:p>
        </p:txBody>
      </p:sp>
      <p:sp>
        <p:nvSpPr>
          <p:cNvPr id="18" name="Text 16">
            <a:extLst xmlns:a="http://schemas.openxmlformats.org/drawingml/2006/main">
              <a:ext uri="{FF2B5EF4-FFF2-40B4-BE49-F238E27FC236}">
                <a16:creationId xmlns:a16="http://schemas.microsoft.com/office/drawing/2014/main" id="{7B045378-7EEF-4059-9494-F153992ED875}"/>
              </a:ext>
            </a:extLst>
          </p:cNvPr>
          <p:cNvSpPr>
            <a:spLocks xmlns:a="http://schemas.openxmlformats.org/drawingml/2006/main" noGrp="1"/>
          </p:cNvSpPr>
          <p:nvPr/>
        </p:nvSpPr>
        <p:spPr>
          <a:xfrm xmlns:a="http://schemas.openxmlformats.org/drawingml/2006/main">
            <a:off x="868680" y="4224528"/>
            <a:ext cx="493776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700"/>
              </a:spcAft>
              <a:buSzPct val="100000"/>
              <a:buChar char="•"/>
              <a:defRPr sz="1500" b="0">
                <a:solidFill>
                  <a:srgbClr val="0E2A38"/>
                </a:solidFill>
                <a:latin typeface="Calibri"/>
                <a:ea typeface="Calibri"/>
                <a:cs typeface="Calibri"/>
              </a:defRPr>
            </a:pPr>
            <a:r>
              <a:rPr sz="1500" b="0">
                <a:solidFill>
                  <a:srgbClr val="0E2A38"/>
                </a:solidFill>
                <a:latin typeface="Calibri"/>
                <a:ea typeface="Calibri"/>
                <a:cs typeface="Calibri"/>
              </a:rPr>
              <a:t>Retested the failed PDF download</a:t>
            </a:r>
            <a:endParaRPr sz="1250"/>
          </a:p>
          <a:p xmlns:a="http://schemas.openxmlformats.org/drawingml/2006/main">
            <a:pPr marL="342900" indent="-342900">
              <a:spcAft>
                <a:spcPts val="700"/>
              </a:spcAft>
              <a:buSzPct val="100000"/>
              <a:buChar char="•"/>
              <a:defRPr sz="1500" b="0">
                <a:solidFill>
                  <a:srgbClr val="0E2A38"/>
                </a:solidFill>
                <a:latin typeface="Calibri"/>
                <a:ea typeface="Calibri"/>
                <a:cs typeface="Calibri"/>
              </a:defRPr>
            </a:pPr>
            <a:r>
              <a:rPr sz="1500" b="0">
                <a:solidFill>
                  <a:srgbClr val="0E2A38"/>
                </a:solidFill>
                <a:latin typeface="Calibri"/>
                <a:ea typeface="Calibri"/>
                <a:cs typeface="Calibri"/>
              </a:rPr>
              <a:t>Expanded checks from page display to data accuracy</a:t>
            </a:r>
            <a:endParaRPr sz="1250"/>
          </a:p>
          <a:p xmlns:a="http://schemas.openxmlformats.org/drawingml/2006/main">
            <a:pPr marL="342900" indent="-342900">
              <a:spcAft>
                <a:spcPts val="700"/>
              </a:spcAft>
              <a:buSzPct val="100000"/>
              <a:buChar char="•"/>
              <a:defRPr sz="1500" b="0">
                <a:solidFill>
                  <a:srgbClr val="0E2A38"/>
                </a:solidFill>
                <a:latin typeface="Calibri"/>
                <a:ea typeface="Calibri"/>
                <a:cs typeface="Calibri"/>
              </a:defRPr>
            </a:pPr>
            <a:r>
              <a:rPr sz="1500" b="0">
                <a:solidFill>
                  <a:srgbClr val="0E2A38"/>
                </a:solidFill>
                <a:latin typeface="Calibri"/>
                <a:ea typeface="Calibri"/>
                <a:cs typeface="Calibri"/>
              </a:rPr>
              <a:t>Recorded admin, setup and negative cases</a:t>
            </a:r>
            <a:endParaRPr sz="1250"/>
          </a:p>
        </p:txBody>
      </p:sp>
      <p:sp>
        <p:nvSpPr>
          <p:cNvPr id="19" name="Shape 17">
            <a:extLst xmlns:a="http://schemas.openxmlformats.org/drawingml/2006/main">
              <a:ext uri="{FF2B5EF4-FFF2-40B4-BE49-F238E27FC236}">
                <a16:creationId xmlns:a16="http://schemas.microsoft.com/office/drawing/2014/main" id="{C948A71F-4F6D-4878-9AAB-649959CD9524}"/>
              </a:ext>
            </a:extLst>
          </p:cNvPr>
          <p:cNvSpPr>
            <a:spLocks xmlns:a="http://schemas.openxmlformats.org/drawingml/2006/main" noGrp="1"/>
          </p:cNvSpPr>
          <p:nvPr/>
        </p:nvSpPr>
        <p:spPr>
          <a:xfrm xmlns:a="http://schemas.openxmlformats.org/drawingml/2006/main">
            <a:off x="6309360" y="3657600"/>
            <a:ext cx="5212080" cy="233172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D34E68A9-B77B-455D-A21E-0213123A1A79}"/>
              </a:ext>
            </a:extLst>
          </p:cNvPr>
          <p:cNvSpPr>
            <a:spLocks xmlns:a="http://schemas.openxmlformats.org/drawingml/2006/main" noGrp="1"/>
          </p:cNvSpPr>
          <p:nvPr/>
        </p:nvSpPr>
        <p:spPr>
          <a:xfrm xmlns:a="http://schemas.openxmlformats.org/drawingml/2006/main">
            <a:off x="6537960" y="3840480"/>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1">
                <a:solidFill>
                  <a:srgbClr val="0E2A38"/>
                </a:solidFill>
                <a:latin typeface="Calibri"/>
                <a:ea typeface="Calibri"/>
                <a:cs typeface="Calibri"/>
              </a:defRPr>
            </a:pPr>
            <a:r>
              <a:rPr sz="1575" b="1">
                <a:solidFill>
                  <a:srgbClr val="0E2A38"/>
                </a:solidFill>
                <a:latin typeface="Calibri"/>
                <a:ea typeface="Calibri"/>
                <a:cs typeface="Calibri"/>
              </a:rPr>
              <a:t>Still open after retest</a:t>
            </a:r>
            <a:endParaRPr sz="1500"/>
          </a:p>
        </p:txBody>
      </p:sp>
      <p:sp>
        <p:nvSpPr>
          <p:cNvPr id="21" name="Text 19">
            <a:extLst xmlns:a="http://schemas.openxmlformats.org/drawingml/2006/main">
              <a:ext uri="{FF2B5EF4-FFF2-40B4-BE49-F238E27FC236}">
                <a16:creationId xmlns:a16="http://schemas.microsoft.com/office/drawing/2014/main" id="{448E6F47-1699-4B73-BFC2-63682FF037F6}"/>
              </a:ext>
            </a:extLst>
          </p:cNvPr>
          <p:cNvSpPr>
            <a:spLocks xmlns:a="http://schemas.openxmlformats.org/drawingml/2006/main" noGrp="1"/>
          </p:cNvSpPr>
          <p:nvPr/>
        </p:nvSpPr>
        <p:spPr>
          <a:xfrm xmlns:a="http://schemas.openxmlformats.org/drawingml/2006/main">
            <a:off x="6537960" y="4224528"/>
            <a:ext cx="475488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700"/>
              </a:spcAft>
              <a:buSzPct val="100000"/>
              <a:buChar char="•"/>
              <a:defRPr sz="1500" b="0">
                <a:solidFill>
                  <a:srgbClr val="0E2A38"/>
                </a:solidFill>
                <a:latin typeface="Calibri"/>
                <a:ea typeface="Calibri"/>
                <a:cs typeface="Calibri"/>
              </a:defRPr>
            </a:pPr>
            <a:r>
              <a:rPr sz="1500" b="0">
                <a:solidFill>
                  <a:srgbClr val="0E2A38"/>
                </a:solidFill>
                <a:latin typeface="Calibri"/>
                <a:ea typeface="Calibri"/>
                <a:cs typeface="Calibri"/>
              </a:rPr>
              <a:t>BUG-001: PDF still does not download</a:t>
            </a:r>
            <a:endParaRPr sz="1250"/>
          </a:p>
          <a:p xmlns:a="http://schemas.openxmlformats.org/drawingml/2006/main">
            <a:pPr marL="342900" indent="-342900">
              <a:spcAft>
                <a:spcPts val="700"/>
              </a:spcAft>
              <a:buSzPct val="100000"/>
              <a:buChar char="•"/>
              <a:defRPr sz="1500" b="0">
                <a:solidFill>
                  <a:srgbClr val="0E2A38"/>
                </a:solidFill>
                <a:latin typeface="Calibri"/>
                <a:ea typeface="Calibri"/>
                <a:cs typeface="Calibri"/>
              </a:defRPr>
            </a:pPr>
            <a:r>
              <a:rPr sz="1500" b="0">
                <a:solidFill>
                  <a:srgbClr val="0E2A38"/>
                </a:solidFill>
                <a:latin typeface="Calibri"/>
                <a:ea typeface="Calibri"/>
                <a:cs typeface="Calibri"/>
              </a:rPr>
              <a:t>Booking details change between screens</a:t>
            </a:r>
            <a:endParaRPr sz="1250"/>
          </a:p>
          <a:p xmlns:a="http://schemas.openxmlformats.org/drawingml/2006/main">
            <a:pPr marL="342900" indent="-342900">
              <a:spcAft>
                <a:spcPts val="700"/>
              </a:spcAft>
              <a:buSzPct val="100000"/>
              <a:buChar char="•"/>
              <a:defRPr sz="1500" b="0">
                <a:solidFill>
                  <a:srgbClr val="0E2A38"/>
                </a:solidFill>
                <a:latin typeface="Calibri"/>
                <a:ea typeface="Calibri"/>
                <a:cs typeface="Calibri"/>
              </a:defRPr>
            </a:pPr>
            <a:r>
              <a:rPr sz="1500" b="0">
                <a:solidFill>
                  <a:srgbClr val="0E2A38"/>
                </a:solidFill>
                <a:latin typeface="Calibri"/>
                <a:ea typeface="Calibri"/>
                <a:cs typeface="Calibri"/>
              </a:rPr>
              <a:t>Fix ownership and quotation scope need agreement</a:t>
            </a:r>
            <a:endParaRPr sz="1250"/>
          </a:p>
        </p:txBody>
      </p:sp>
    </p:spTree>
    <p:extLst>
      <p:ext uri="{BB962C8B-B14F-4D97-AF65-F5344CB8AC3E}">
        <p14:creationId xmlns:p14="http://schemas.microsoft.com/office/powerpoint/2010/main" val="16589304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2AB074-1A78-4768-9907-0AAE18481A66}"/>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UPDATED RTM</a:t>
            </a:r>
            <a:endParaRPr sz="1200"/>
          </a:p>
        </p:txBody>
      </p:sp>
      <p:sp>
        <p:nvSpPr>
          <p:cNvPr id="3" name="Text 1">
            <a:extLst xmlns:a="http://schemas.openxmlformats.org/drawingml/2006/main">
              <a:ext uri="{FF2B5EF4-FFF2-40B4-BE49-F238E27FC236}">
                <a16:creationId xmlns:a16="http://schemas.microsoft.com/office/drawing/2014/main" id="{78F29BEC-D474-40F9-A5F0-42054EE0F622}"/>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Execution evidence by requirement area</a:t>
            </a:r>
            <a:endParaRPr sz="3400"/>
          </a:p>
        </p:txBody>
      </p:sp>
      <p:sp>
        <p:nvSpPr>
          <p:cNvPr id="4" name="Shape 2">
            <a:extLst xmlns:a="http://schemas.openxmlformats.org/drawingml/2006/main">
              <a:ext uri="{FF2B5EF4-FFF2-40B4-BE49-F238E27FC236}">
                <a16:creationId xmlns:a16="http://schemas.microsoft.com/office/drawing/2014/main" id="{A83C4CBB-09D9-4088-BFA0-4D5AE3FADC5C}"/>
              </a:ext>
            </a:extLst>
          </p:cNvPr>
          <p:cNvSpPr>
            <a:spLocks xmlns:a="http://schemas.openxmlformats.org/drawingml/2006/main" noGrp="1"/>
          </p:cNvSpPr>
          <p:nvPr/>
        </p:nvSpPr>
        <p:spPr>
          <a:xfrm xmlns:a="http://schemas.openxmlformats.org/drawingml/2006/main">
            <a:off x="640080" y="1600200"/>
            <a:ext cx="5394960" cy="41148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1B301E3E-7121-49AD-93C3-75568B8E71FC}"/>
              </a:ext>
            </a:extLst>
          </p:cNvPr>
          <p:cNvSpPr>
            <a:spLocks xmlns:a="http://schemas.openxmlformats.org/drawingml/2006/main" noGrp="1"/>
          </p:cNvSpPr>
          <p:nvPr/>
        </p:nvSpPr>
        <p:spPr>
          <a:xfrm xmlns:a="http://schemas.openxmlformats.org/drawingml/2006/main">
            <a:off x="896112" y="1810512"/>
            <a:ext cx="310896" cy="310896"/>
          </a:xfrm>
          <a:prstGeom xmlns:a="http://schemas.openxmlformats.org/drawingml/2006/main" prst="ellipse">
            <a:avLst/>
          </a:prstGeom>
          <a:solidFill xmlns:a="http://schemas.openxmlformats.org/drawingml/2006/main">
            <a:srgbClr val="2E7D5B"/>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0BF4F96-EC32-4A1C-AF9F-186525A50453}"/>
              </a:ext>
            </a:extLst>
          </p:cNvPr>
          <p:cNvSpPr>
            <a:spLocks xmlns:a="http://schemas.openxmlformats.org/drawingml/2006/main" noGrp="1"/>
          </p:cNvSpPr>
          <p:nvPr/>
        </p:nvSpPr>
        <p:spPr>
          <a:xfrm xmlns:a="http://schemas.openxmlformats.org/drawingml/2006/main">
            <a:off x="1316736" y="1810512"/>
            <a:ext cx="4480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650" b="1">
                <a:solidFill>
                  <a:srgbClr val="0E2A38"/>
                </a:solidFill>
                <a:latin typeface="Calibri"/>
                <a:ea typeface="Calibri"/>
                <a:cs typeface="Calibri"/>
              </a:defRPr>
            </a:pPr>
            <a:r>
              <a:rPr sz="1650" b="1">
                <a:solidFill>
                  <a:srgbClr val="0E2A38"/>
                </a:solidFill>
                <a:latin typeface="Calibri"/>
                <a:ea typeface="Calibri"/>
                <a:cs typeface="Calibri"/>
              </a:rPr>
              <a:t>Customer flow: 15 cases</a:t>
            </a:r>
            <a:endParaRPr sz="1600"/>
          </a:p>
        </p:txBody>
      </p:sp>
      <p:sp>
        <p:nvSpPr>
          <p:cNvPr id="7" name="Text 5">
            <a:extLst xmlns:a="http://schemas.openxmlformats.org/drawingml/2006/main">
              <a:ext uri="{FF2B5EF4-FFF2-40B4-BE49-F238E27FC236}">
                <a16:creationId xmlns:a16="http://schemas.microsoft.com/office/drawing/2014/main" id="{5F11B498-4C2B-4CB0-B6DB-D132BBD67964}"/>
              </a:ext>
            </a:extLst>
          </p:cNvPr>
          <p:cNvSpPr>
            <a:spLocks xmlns:a="http://schemas.openxmlformats.org/drawingml/2006/main" noGrp="1"/>
          </p:cNvSpPr>
          <p:nvPr/>
        </p:nvSpPr>
        <p:spPr>
          <a:xfrm xmlns:a="http://schemas.openxmlformats.org/drawingml/2006/main">
            <a:off x="914400" y="2286000"/>
            <a:ext cx="4892040" cy="32461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900"/>
              </a:spcAft>
              <a:buSzPct val="100000"/>
              <a:buChar char="•"/>
              <a:defRPr sz="1575" b="0">
                <a:solidFill>
                  <a:srgbClr val="0E2A38"/>
                </a:solidFill>
                <a:latin typeface="Calibri"/>
                <a:ea typeface="Calibri"/>
                <a:cs typeface="Calibri"/>
              </a:defRPr>
            </a:pPr>
            <a:r>
              <a:rPr sz="1575" b="0">
                <a:solidFill>
                  <a:srgbClr val="0E2A38"/>
                </a:solidFill>
                <a:latin typeface="Calibri"/>
                <a:ea typeface="Calibri"/>
                <a:cs typeface="Calibri"/>
              </a:rPr>
              <a:t>UC-001 Browse and book: 5 pass, 1 fail</a:t>
            </a:r>
            <a:endParaRPr sz="1250"/>
          </a:p>
          <a:p xmlns:a="http://schemas.openxmlformats.org/drawingml/2006/main">
            <a:pPr marL="342900" indent="-342900">
              <a:spcAft>
                <a:spcPts val="900"/>
              </a:spcAft>
              <a:buSzPct val="100000"/>
              <a:buChar char="•"/>
              <a:defRPr sz="1575" b="0">
                <a:solidFill>
                  <a:srgbClr val="0E2A38"/>
                </a:solidFill>
                <a:latin typeface="Calibri"/>
                <a:ea typeface="Calibri"/>
                <a:cs typeface="Calibri"/>
              </a:defRPr>
            </a:pPr>
            <a:r>
              <a:rPr sz="1575" b="0">
                <a:solidFill>
                  <a:srgbClr val="0E2A38"/>
                </a:solidFill>
                <a:latin typeface="Calibri"/>
                <a:ea typeface="Calibri"/>
                <a:cs typeface="Calibri"/>
              </a:rPr>
              <a:t>UC-002 Payment and invoice: 3 pass, 2 fail, 1 blocked</a:t>
            </a:r>
            <a:endParaRPr sz="1250"/>
          </a:p>
          <a:p xmlns:a="http://schemas.openxmlformats.org/drawingml/2006/main">
            <a:pPr marL="342900" indent="-342900">
              <a:spcAft>
                <a:spcPts val="900"/>
              </a:spcAft>
              <a:buSzPct val="100000"/>
              <a:buChar char="•"/>
              <a:defRPr sz="1575" b="0">
                <a:solidFill>
                  <a:srgbClr val="0E2A38"/>
                </a:solidFill>
                <a:latin typeface="Calibri"/>
                <a:ea typeface="Calibri"/>
                <a:cs typeface="Calibri"/>
              </a:defRPr>
            </a:pPr>
            <a:r>
              <a:rPr sz="1575" b="0">
                <a:solidFill>
                  <a:srgbClr val="0E2A38"/>
                </a:solidFill>
                <a:latin typeface="Calibri"/>
                <a:ea typeface="Calibri"/>
                <a:cs typeface="Calibri"/>
              </a:rPr>
              <a:t>UC-003 Booking continuity: 3 fail</a:t>
            </a:r>
            <a:endParaRPr sz="1250"/>
          </a:p>
          <a:p xmlns:a="http://schemas.openxmlformats.org/drawingml/2006/main">
            <a:pPr marL="342900" indent="-342900">
              <a:spcAft>
                <a:spcPts val="900"/>
              </a:spcAft>
              <a:buSzPct val="100000"/>
              <a:buChar char="•"/>
              <a:defRPr sz="1575" b="0">
                <a:solidFill>
                  <a:srgbClr val="0E2A38"/>
                </a:solidFill>
                <a:latin typeface="Calibri"/>
                <a:ea typeface="Calibri"/>
                <a:cs typeface="Calibri"/>
              </a:defRPr>
            </a:pPr>
            <a:r>
              <a:rPr sz="1575" b="0">
                <a:solidFill>
                  <a:srgbClr val="0E2A38"/>
                </a:solidFill>
                <a:latin typeface="Calibri"/>
                <a:ea typeface="Calibri"/>
                <a:cs typeface="Calibri"/>
              </a:rPr>
              <a:t>Evidence: case screenshots, console and results JSON</a:t>
            </a:r>
            <a:endParaRPr sz="1250"/>
          </a:p>
        </p:txBody>
      </p:sp>
      <p:sp>
        <p:nvSpPr>
          <p:cNvPr id="8" name="Shape 6">
            <a:extLst xmlns:a="http://schemas.openxmlformats.org/drawingml/2006/main">
              <a:ext uri="{FF2B5EF4-FFF2-40B4-BE49-F238E27FC236}">
                <a16:creationId xmlns:a16="http://schemas.microsoft.com/office/drawing/2014/main" id="{59DD09FC-BAA8-4DCB-A435-F223CAA210BB}"/>
              </a:ext>
            </a:extLst>
          </p:cNvPr>
          <p:cNvSpPr>
            <a:spLocks xmlns:a="http://schemas.openxmlformats.org/drawingml/2006/main" noGrp="1"/>
          </p:cNvSpPr>
          <p:nvPr/>
        </p:nvSpPr>
        <p:spPr>
          <a:xfrm xmlns:a="http://schemas.openxmlformats.org/drawingml/2006/main">
            <a:off x="6309360" y="1600200"/>
            <a:ext cx="5212080" cy="4114800"/>
          </a:xfrm>
          <a:prstGeom xmlns:a="http://schemas.openxmlformats.org/drawingml/2006/main" prst="roundRect">
            <a:avLst>
              <a:gd name="adj" fmla="val 2000"/>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592C999B-04ED-42E8-8F26-17A8BF1FCEF6}"/>
              </a:ext>
            </a:extLst>
          </p:cNvPr>
          <p:cNvSpPr>
            <a:spLocks xmlns:a="http://schemas.openxmlformats.org/drawingml/2006/main" noGrp="1"/>
          </p:cNvSpPr>
          <p:nvPr/>
        </p:nvSpPr>
        <p:spPr>
          <a:xfrm xmlns:a="http://schemas.openxmlformats.org/drawingml/2006/main">
            <a:off x="6565392" y="1810512"/>
            <a:ext cx="310896" cy="310896"/>
          </a:xfrm>
          <a:prstGeom xmlns:a="http://schemas.openxmlformats.org/drawingml/2006/main" prst="ellipse">
            <a:avLst/>
          </a:prstGeom>
          <a:solidFill xmlns:a="http://schemas.openxmlformats.org/drawingml/2006/main">
            <a:srgbClr val="5A7383"/>
          </a:solidFill>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B5CE98B4-A8C2-4148-AAB8-5A4BB2A280CE}"/>
              </a:ext>
            </a:extLst>
          </p:cNvPr>
          <p:cNvSpPr>
            <a:spLocks xmlns:a="http://schemas.openxmlformats.org/drawingml/2006/main" noGrp="1"/>
          </p:cNvSpPr>
          <p:nvPr/>
        </p:nvSpPr>
        <p:spPr>
          <a:xfrm xmlns:a="http://schemas.openxmlformats.org/drawingml/2006/main">
            <a:off x="6986016" y="1810512"/>
            <a:ext cx="42976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650" b="1">
                <a:solidFill>
                  <a:srgbClr val="0E2A38"/>
                </a:solidFill>
                <a:latin typeface="Calibri"/>
                <a:ea typeface="Calibri"/>
                <a:cs typeface="Calibri"/>
              </a:defRPr>
            </a:pPr>
            <a:r>
              <a:rPr sz="1650" b="1">
                <a:solidFill>
                  <a:srgbClr val="0E2A38"/>
                </a:solidFill>
                <a:latin typeface="Calibri"/>
                <a:ea typeface="Calibri"/>
                <a:cs typeface="Calibri"/>
              </a:rPr>
              <a:t>Admin and setup: 3 cases</a:t>
            </a:r>
            <a:endParaRPr sz="1600"/>
          </a:p>
        </p:txBody>
      </p:sp>
      <p:sp>
        <p:nvSpPr>
          <p:cNvPr id="11" name="Text 9">
            <a:extLst xmlns:a="http://schemas.openxmlformats.org/drawingml/2006/main">
              <a:ext uri="{FF2B5EF4-FFF2-40B4-BE49-F238E27FC236}">
                <a16:creationId xmlns:a16="http://schemas.microsoft.com/office/drawing/2014/main" id="{9BC59E66-904F-424E-A4D4-14CD9A00388D}"/>
              </a:ext>
            </a:extLst>
          </p:cNvPr>
          <p:cNvSpPr>
            <a:spLocks xmlns:a="http://schemas.openxmlformats.org/drawingml/2006/main" noGrp="1"/>
          </p:cNvSpPr>
          <p:nvPr/>
        </p:nvSpPr>
        <p:spPr>
          <a:xfrm xmlns:a="http://schemas.openxmlformats.org/drawingml/2006/main">
            <a:off x="6583680" y="2286000"/>
            <a:ext cx="4709160" cy="32461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900"/>
              </a:spcAft>
              <a:buSzPct val="100000"/>
              <a:buChar char="•"/>
              <a:defRPr sz="1575" b="0">
                <a:solidFill>
                  <a:srgbClr val="506473"/>
                </a:solidFill>
                <a:latin typeface="Calibri"/>
                <a:ea typeface="Calibri"/>
                <a:cs typeface="Calibri"/>
              </a:defRPr>
            </a:pPr>
            <a:r>
              <a:rPr sz="1575" b="0">
                <a:solidFill>
                  <a:srgbClr val="506473"/>
                </a:solidFill>
                <a:latin typeface="Calibri"/>
                <a:ea typeface="Calibri"/>
                <a:cs typeface="Calibri"/>
              </a:rPr>
              <a:t>UC-004 Admin workspace: 2 fail</a:t>
            </a:r>
            <a:endParaRPr sz="1250"/>
          </a:p>
          <a:p xmlns:a="http://schemas.openxmlformats.org/drawingml/2006/main">
            <a:pPr marL="342900" indent="-342900">
              <a:spcAft>
                <a:spcPts val="900"/>
              </a:spcAft>
              <a:buSzPct val="100000"/>
              <a:buChar char="•"/>
              <a:defRPr sz="1575" b="0">
                <a:solidFill>
                  <a:srgbClr val="506473"/>
                </a:solidFill>
                <a:latin typeface="Calibri"/>
                <a:ea typeface="Calibri"/>
                <a:cs typeface="Calibri"/>
              </a:defRPr>
            </a:pPr>
            <a:r>
              <a:rPr sz="1575" b="0">
                <a:solidFill>
                  <a:srgbClr val="506473"/>
                </a:solidFill>
                <a:latin typeface="Calibri"/>
                <a:ea typeface="Calibri"/>
                <a:cs typeface="Calibri"/>
              </a:rPr>
              <a:t>Setup: clean Windows install failed</a:t>
            </a:r>
            <a:endParaRPr sz="1250"/>
          </a:p>
          <a:p xmlns:a="http://schemas.openxmlformats.org/drawingml/2006/main">
            <a:pPr marL="342900" indent="-342900">
              <a:spcAft>
                <a:spcPts val="900"/>
              </a:spcAft>
              <a:buSzPct val="100000"/>
              <a:buChar char="•"/>
              <a:defRPr sz="1575" b="0">
                <a:solidFill>
                  <a:srgbClr val="506473"/>
                </a:solidFill>
                <a:latin typeface="Calibri"/>
                <a:ea typeface="Calibri"/>
                <a:cs typeface="Calibri"/>
              </a:defRPr>
            </a:pPr>
            <a:r>
              <a:rPr sz="1575" b="0">
                <a:solidFill>
                  <a:srgbClr val="506473"/>
                </a:solidFill>
                <a:latin typeface="Calibri"/>
                <a:ea typeface="Calibri"/>
                <a:cs typeface="Calibri"/>
              </a:rPr>
              <a:t>Quotation record creation needs scope agreement</a:t>
            </a:r>
            <a:endParaRPr sz="1250"/>
          </a:p>
          <a:p xmlns:a="http://schemas.openxmlformats.org/drawingml/2006/main">
            <a:pPr marL="342900" indent="-342900">
              <a:spcAft>
                <a:spcPts val="900"/>
              </a:spcAft>
              <a:buSzPct val="100000"/>
              <a:buChar char="•"/>
              <a:defRPr sz="1575" b="0">
                <a:solidFill>
                  <a:srgbClr val="506473"/>
                </a:solidFill>
                <a:latin typeface="Calibri"/>
                <a:ea typeface="Calibri"/>
                <a:cs typeface="Calibri"/>
              </a:defRPr>
            </a:pPr>
            <a:r>
              <a:rPr sz="1575" b="0">
                <a:solidFill>
                  <a:srgbClr val="506473"/>
                </a:solidFill>
                <a:latin typeface="Calibri"/>
                <a:ea typeface="Calibri"/>
                <a:cs typeface="Calibri"/>
              </a:rPr>
              <a:t>Full RTM lists each case, outcome and evidence file</a:t>
            </a:r>
            <a:endParaRPr sz="1250"/>
          </a:p>
        </p:txBody>
      </p:sp>
    </p:spTree>
    <p:extLst>
      <p:ext uri="{BB962C8B-B14F-4D97-AF65-F5344CB8AC3E}">
        <p14:creationId xmlns:p14="http://schemas.microsoft.com/office/powerpoint/2010/main" val="19901701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4886B3-C3F4-4F97-A035-0DF996336C6B}"/>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EXECUTION</a:t>
            </a:r>
            <a:endParaRPr sz="1200"/>
          </a:p>
        </p:txBody>
      </p:sp>
      <p:sp>
        <p:nvSpPr>
          <p:cNvPr id="3" name="Text 1">
            <a:extLst xmlns:a="http://schemas.openxmlformats.org/drawingml/2006/main">
              <a:ext uri="{FF2B5EF4-FFF2-40B4-BE49-F238E27FC236}">
                <a16:creationId xmlns:a16="http://schemas.microsoft.com/office/drawing/2014/main" id="{944A23EB-931C-41FB-A6CF-8716678C9243}"/>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18 cases traced to an outcome</a:t>
            </a:r>
            <a:endParaRPr sz="3400"/>
          </a:p>
        </p:txBody>
      </p:sp>
      <p:sp>
        <p:nvSpPr>
          <p:cNvPr id="5" name="Shape 2">
            <a:extLst xmlns:a="http://schemas.openxmlformats.org/drawingml/2006/main">
              <a:ext uri="{FF2B5EF4-FFF2-40B4-BE49-F238E27FC236}">
                <a16:creationId xmlns:a16="http://schemas.microsoft.com/office/drawing/2014/main" id="{A3E068CC-0FAC-4100-BDDA-09035F226A5B}"/>
              </a:ext>
            </a:extLst>
          </p:cNvPr>
          <p:cNvSpPr>
            <a:spLocks xmlns:a="http://schemas.openxmlformats.org/drawingml/2006/main" noGrp="1"/>
          </p:cNvSpPr>
          <p:nvPr/>
        </p:nvSpPr>
        <p:spPr>
          <a:xfrm xmlns:a="http://schemas.openxmlformats.org/drawingml/2006/main">
            <a:off x="7452360" y="1600200"/>
            <a:ext cx="4069080" cy="4160520"/>
          </a:xfrm>
          <a:prstGeom xmlns:a="http://schemas.openxmlformats.org/drawingml/2006/main" prst="roundRect">
            <a:avLst>
              <a:gd name="adj" fmla="val 2022"/>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8B38FB07-7218-403D-B541-E3DC24D68E47}"/>
              </a:ext>
            </a:extLst>
          </p:cNvPr>
          <p:cNvSpPr>
            <a:spLocks xmlns:a="http://schemas.openxmlformats.org/drawingml/2006/main" noGrp="1"/>
          </p:cNvSpPr>
          <p:nvPr/>
        </p:nvSpPr>
        <p:spPr>
          <a:xfrm xmlns:a="http://schemas.openxmlformats.org/drawingml/2006/main">
            <a:off x="7726680" y="1828800"/>
            <a:ext cx="3566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800" b="0">
                <a:solidFill>
                  <a:srgbClr val="0E2A38"/>
                </a:solidFill>
                <a:latin typeface="Calibri"/>
                <a:ea typeface="Calibri"/>
                <a:cs typeface="Calibri"/>
              </a:defRPr>
            </a:pPr>
            <a:r>
              <a:rPr sz="1800" b="0">
                <a:solidFill>
                  <a:srgbClr val="0E2A38"/>
                </a:solidFill>
                <a:latin typeface="Calibri"/>
                <a:ea typeface="Calibri"/>
                <a:cs typeface="Calibri"/>
              </a:rPr>
              <a:t>Iteration 2 result</a:t>
            </a:r>
            <a:endParaRPr sz="1600"/>
          </a:p>
        </p:txBody>
      </p:sp>
      <p:sp>
        <p:nvSpPr>
          <p:cNvPr id="7" name="Text 4">
            <a:extLst xmlns:a="http://schemas.openxmlformats.org/drawingml/2006/main">
              <a:ext uri="{FF2B5EF4-FFF2-40B4-BE49-F238E27FC236}">
                <a16:creationId xmlns:a16="http://schemas.microsoft.com/office/drawing/2014/main" id="{15A78AD3-E3F9-4DA0-8073-D9BCD318B91C}"/>
              </a:ext>
            </a:extLst>
          </p:cNvPr>
          <p:cNvSpPr>
            <a:spLocks xmlns:a="http://schemas.openxmlformats.org/drawingml/2006/main" noGrp="1"/>
          </p:cNvSpPr>
          <p:nvPr/>
        </p:nvSpPr>
        <p:spPr>
          <a:xfrm xmlns:a="http://schemas.openxmlformats.org/drawingml/2006/main">
            <a:off x="7726680" y="2286000"/>
            <a:ext cx="356616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1700"/>
              </a:lnSpc>
              <a:buNone/>
              <a:defRPr sz="1575" b="0">
                <a:solidFill>
                  <a:srgbClr val="506473"/>
                </a:solidFill>
                <a:latin typeface="Calibri"/>
                <a:ea typeface="Calibri"/>
                <a:cs typeface="Calibri"/>
              </a:defRPr>
            </a:pPr>
            <a:r>
              <a:rPr sz="1575" b="0">
                <a:solidFill>
                  <a:srgbClr val="506473"/>
                </a:solidFill>
                <a:latin typeface="Calibri"/>
                <a:ea typeface="Calibri"/>
                <a:cs typeface="Calibri"/>
              </a:rPr>
              <a:t>8 passed, 9 failed, 1 blocked.</a:t>
            </a:r>
            <a:endParaRPr sz="1250"/>
          </a:p>
          <a:p xmlns:a="http://schemas.openxmlformats.org/drawingml/2006/main">
            <a:pPr marL="0" indent="0">
              <a:lnSpc>
                <a:spcPts val="1700"/>
              </a:lnSpc>
              <a:buNone/>
              <a:defRPr sz="1250" b="0">
                <a:solidFill>
                  <a:srgbClr val="5A7383"/>
                </a:solidFill>
                <a:latin typeface="Calibri"/>
                <a:ea typeface="Calibri"/>
                <a:cs typeface="Calibri"/>
              </a:defRPr>
            </a:pPr>
            <a:r>
              <a:rPr sz="1250" b="0">
                <a:solidFill>
                  <a:srgbClr val="5A7383"/>
                </a:solidFill>
                <a:latin typeface="Calibri"/>
                <a:ea typeface="Calibri"/>
                <a:cs typeface="Calibri"/>
              </a:rPr>
              <a:t/>
            </a:r>
            <a:endParaRPr sz="1250"/>
          </a:p>
          <a:p xmlns:a="http://schemas.openxmlformats.org/drawingml/2006/main">
            <a:pPr marL="0" indent="0">
              <a:lnSpc>
                <a:spcPts val="1700"/>
              </a:lnSpc>
              <a:buNone/>
              <a:defRPr sz="1575" b="0">
                <a:solidFill>
                  <a:srgbClr val="506473"/>
                </a:solidFill>
                <a:latin typeface="Calibri"/>
                <a:ea typeface="Calibri"/>
                <a:cs typeface="Calibri"/>
              </a:defRPr>
            </a:pPr>
            <a:r>
              <a:rPr sz="1575" b="0">
                <a:solidFill>
                  <a:srgbClr val="506473"/>
                </a:solidFill>
                <a:latin typeface="Calibri"/>
                <a:ea typeface="Calibri"/>
                <a:cs typeface="Calibri"/>
              </a:rPr>
              <a:t>17 reached Pass or Fail.</a:t>
            </a:r>
            <a:endParaRPr sz="1250"/>
          </a:p>
          <a:p xmlns:a="http://schemas.openxmlformats.org/drawingml/2006/main">
            <a:pPr marL="0" indent="0">
              <a:lnSpc>
                <a:spcPts val="1700"/>
              </a:lnSpc>
              <a:buNone/>
              <a:defRPr sz="1575" b="0">
                <a:solidFill>
                  <a:srgbClr val="506473"/>
                </a:solidFill>
                <a:latin typeface="Calibri"/>
                <a:ea typeface="Calibri"/>
                <a:cs typeface="Calibri"/>
              </a:defRPr>
            </a:pPr>
            <a:r>
              <a:rPr sz="1575" b="0">
                <a:solidFill>
                  <a:srgbClr val="506473"/>
                </a:solidFill>
                <a:latin typeface="Calibri"/>
                <a:ea typeface="Calibri"/>
                <a:cs typeface="Calibri"/>
              </a:rPr>
              <a:t>Pass rate: 8 / 17 = 47.06%</a:t>
            </a:r>
            <a:endParaRPr sz="1250"/>
          </a:p>
          <a:p xmlns:a="http://schemas.openxmlformats.org/drawingml/2006/main">
            <a:pPr marL="0" indent="0">
              <a:lnSpc>
                <a:spcPts val="1700"/>
              </a:lnSpc>
              <a:buNone/>
              <a:defRPr sz="1575" b="0">
                <a:solidFill>
                  <a:srgbClr val="506473"/>
                </a:solidFill>
                <a:latin typeface="Calibri"/>
                <a:ea typeface="Calibri"/>
                <a:cs typeface="Calibri"/>
              </a:defRPr>
            </a:pPr>
            <a:r>
              <a:rPr sz="1575" b="0">
                <a:solidFill>
                  <a:srgbClr val="506473"/>
                </a:solidFill>
                <a:latin typeface="Calibri"/>
                <a:ea typeface="Calibri"/>
                <a:cs typeface="Calibri"/>
              </a:rPr>
              <a:t>Target: 95%</a:t>
            </a:r>
            <a:endParaRPr sz="1250"/>
          </a:p>
          <a:p xmlns:a="http://schemas.openxmlformats.org/drawingml/2006/main">
            <a:pPr marL="0" indent="0">
              <a:lnSpc>
                <a:spcPts val="1700"/>
              </a:lnSpc>
              <a:buNone/>
              <a:defRPr sz="1650" b="0">
                <a:solidFill>
                  <a:srgbClr val="5A7383"/>
                </a:solidFill>
                <a:latin typeface="Calibri"/>
                <a:ea typeface="Calibri"/>
                <a:cs typeface="Calibri"/>
              </a:defRPr>
            </a:pPr>
            <a:r>
              <a:rPr sz="1650" b="0">
                <a:solidFill>
                  <a:srgbClr val="5A7383"/>
                </a:solidFill>
                <a:latin typeface="Calibri"/>
                <a:ea typeface="Calibri"/>
                <a:cs typeface="Calibri"/>
              </a:rPr>
              <a:t/>
            </a:r>
            <a:endParaRPr sz="1250"/>
          </a:p>
          <a:p xmlns:a="http://schemas.openxmlformats.org/drawingml/2006/main">
            <a:pPr marL="0" indent="0">
              <a:lnSpc>
                <a:spcPts val="1700"/>
              </a:lnSpc>
              <a:buNone/>
              <a:defRPr sz="1575" b="0">
                <a:solidFill>
                  <a:srgbClr val="506473"/>
                </a:solidFill>
                <a:latin typeface="Calibri"/>
                <a:ea typeface="Calibri"/>
                <a:cs typeface="Calibri"/>
              </a:defRPr>
            </a:pPr>
            <a:r>
              <a:rPr sz="1575" b="0">
                <a:solidFill>
                  <a:srgbClr val="506473"/>
                </a:solidFill>
                <a:latin typeface="Calibri"/>
                <a:ea typeface="Calibri"/>
                <a:cs typeface="Calibri"/>
              </a:rPr>
              <a:t>TC-009 could not inspect PDF content because no file downloaded.</a:t>
            </a:r>
            <a:endParaRPr sz="1250"/>
          </a:p>
          <a:p xmlns:a="http://schemas.openxmlformats.org/drawingml/2006/main">
            <a:pPr marL="0" indent="0">
              <a:lnSpc>
                <a:spcPts val="1700"/>
              </a:lnSpc>
              <a:buNone/>
              <a:defRPr sz="1650" b="0">
                <a:solidFill>
                  <a:srgbClr val="5A7383"/>
                </a:solidFill>
                <a:latin typeface="Calibri"/>
                <a:ea typeface="Calibri"/>
                <a:cs typeface="Calibri"/>
              </a:defRPr>
            </a:pPr>
            <a:r>
              <a:rPr sz="1650" b="0">
                <a:solidFill>
                  <a:srgbClr val="5A7383"/>
                </a:solidFill>
                <a:latin typeface="Calibri"/>
                <a:ea typeface="Calibri"/>
                <a:cs typeface="Calibri"/>
              </a:rPr>
              <a:t/>
            </a:r>
            <a:endParaRPr sz="1250"/>
          </a:p>
          <a:p xmlns:a="http://schemas.openxmlformats.org/drawingml/2006/main">
            <a:pPr marL="0" indent="0">
              <a:lnSpc>
                <a:spcPts val="1700"/>
              </a:lnSpc>
              <a:buNone/>
              <a:defRPr sz="1575" b="0">
                <a:solidFill>
                  <a:srgbClr val="506473"/>
                </a:solidFill>
                <a:latin typeface="Calibri"/>
                <a:ea typeface="Calibri"/>
                <a:cs typeface="Calibri"/>
              </a:defRPr>
            </a:pPr>
            <a:r>
              <a:rPr sz="1575" b="0">
                <a:solidFill>
                  <a:srgbClr val="506473"/>
                </a:solidFill>
                <a:latin typeface="Calibri"/>
                <a:ea typeface="Calibri"/>
                <a:cs typeface="Calibri"/>
              </a:rPr>
              <a:t>See the RTM for each expected result and evidence file.</a:t>
            </a:r>
            <a:endParaRPr sz="1250"/>
          </a:p>
        </p:txBody>
      </p:sp>
      <p:graphicFrame>
        <p:nvGraphicFramePr>
          <p:cNvPr id="14" name="Chart"/>
          <p:cNvGraphicFramePr/>
          <p:nvPr/>
        </p:nvGraphicFramePr>
        <p:xfrm>
          <a:off xmlns:a="http://schemas.openxmlformats.org/drawingml/2006/main" x="640080" y="1809750"/>
          <a:ext xmlns:a="http://schemas.openxmlformats.org/drawingml/2006/main" cx="6492240" cy="3714750"/>
        </p:xfrm>
        <a:graphic xmlns:a="http://schemas.openxmlformats.org/drawingml/2006/main">
          <a:graphicData uri="http://schemas.openxmlformats.org/drawingml/2006/chart">
            <c:chart xmlns:r="http://schemas.openxmlformats.org/officeDocument/2006/relationships" xmlns:c="http://schemas.openxmlformats.org/drawingml/2006/chart" r:id="R69864c50e4f24747"/>
          </a:graphicData>
        </a:graphic>
      </p:graphicFrame>
    </p:spTree>
    <p:extLst>
      <p:ext uri="{BB962C8B-B14F-4D97-AF65-F5344CB8AC3E}">
        <p14:creationId xmlns:p14="http://schemas.microsoft.com/office/powerpoint/2010/main" val="20796364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5CC1C5-75A1-4AAC-9366-5E40C1E13CF1}"/>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RTM EVIDENCE</a:t>
            </a:r>
            <a:endParaRPr sz="1200"/>
          </a:p>
        </p:txBody>
      </p:sp>
      <p:sp>
        <p:nvSpPr>
          <p:cNvPr id="3" name="Text 1">
            <a:extLst xmlns:a="http://schemas.openxmlformats.org/drawingml/2006/main">
              <a:ext uri="{FF2B5EF4-FFF2-40B4-BE49-F238E27FC236}">
                <a16:creationId xmlns:a16="http://schemas.microsoft.com/office/drawing/2014/main" id="{592CEC7D-FC92-4D81-B67D-D60A13EE9AEE}"/>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Booking details change between screens</a:t>
            </a:r>
            <a:endParaRPr sz="3400"/>
          </a:p>
        </p:txBody>
      </p:sp>
      <p:sp>
        <p:nvSpPr>
          <p:cNvPr id="5" name="Text 2">
            <a:extLst xmlns:a="http://schemas.openxmlformats.org/drawingml/2006/main">
              <a:ext uri="{FF2B5EF4-FFF2-40B4-BE49-F238E27FC236}">
                <a16:creationId xmlns:a16="http://schemas.microsoft.com/office/drawing/2014/main" id="{63EBA2DC-04E6-4F44-9254-512B590B9B4A}"/>
              </a:ext>
            </a:extLst>
          </p:cNvPr>
          <p:cNvSpPr>
            <a:spLocks xmlns:a="http://schemas.openxmlformats.org/drawingml/2006/main" noGrp="1"/>
          </p:cNvSpPr>
          <p:nvPr/>
        </p:nvSpPr>
        <p:spPr>
          <a:xfrm xmlns:a="http://schemas.openxmlformats.org/drawingml/2006/main">
            <a:off x="640080" y="5989320"/>
            <a:ext cx="10881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425" b="0">
                <a:solidFill>
                  <a:srgbClr val="506473"/>
                </a:solidFill>
                <a:latin typeface="Calibri"/>
                <a:ea typeface="Calibri"/>
                <a:cs typeface="Calibri"/>
              </a:defRPr>
            </a:pPr>
            <a:r>
              <a:rPr sz="1425" b="0" i="1">
                <a:solidFill>
                  <a:srgbClr val="506473"/>
                </a:solidFill>
                <a:latin typeface="Calibri"/>
                <a:ea typeface="Calibri"/>
                <a:cs typeface="Calibri"/>
              </a:rPr>
              <a:t>TC-010 to TC-012 failed. Evidence: TC-005, TC-010, TC-011 and TC-012 screenshots.</a:t>
            </a:r>
            <a:endParaRPr sz="1200"/>
          </a:p>
        </p:txBody>
      </p:sp>
      <p:graphicFrame>
        <p:nvGraphicFramePr>
          <p:cNvPr id="10" name=""/>
          <p:cNvGraphicFramePr/>
          <p:nvPr/>
        </p:nvGraphicFramePr>
        <p:xfrm>
          <a:off xmlns:a="http://schemas.openxmlformats.org/drawingml/2006/main" x="640080" y="2000250"/>
          <a:ext xmlns:a="http://schemas.openxmlformats.org/drawingml/2006/main" cx="10858500" cy="3143250"/>
        </p:xfrm>
        <a:graphic xmlns:a="http://schemas.openxmlformats.org/drawingml/2006/main">
          <a:graphicData uri="http://schemas.openxmlformats.org/drawingml/2006/table">
            <a:tbl>
              <a:tblPr/>
              <a:tblGrid>
                <a:gridCol w="1714500"/>
                <a:gridCol w="3048000"/>
                <a:gridCol w="3048000"/>
                <a:gridCol w="3048000"/>
              </a:tblGrid>
              <a:tr h="785813">
                <a:tc>
                  <a:txBody>
                    <a:bodyPr>
                      <a:noAutofit/>
                    </a:bodyPr>
                    <a:lstStyle/>
                    <a:p>
                      <a:r>
                        <a:rPr sz="1650" b="1">
                          <a:solidFill>
                            <a:srgbClr val="FFFFFF"/>
                          </a:solidFill>
                          <a:latin typeface="Calibri"/>
                          <a:ea typeface="Calibri"/>
                          <a:cs typeface="Calibri"/>
                        </a:rPr>
                        <a:t>Detail</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Customer booked</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Checkout</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Dashboard</a:t>
                      </a:r>
                    </a:p>
                  </a:txBody>
                  <a:tcPr marL="91440" marR="91440" marT="45720" marB="45720">
                    <a:solidFill>
                      <a:srgbClr val="0E2A38"/>
                    </a:solidFill>
                  </a:tcPr>
                </a:tc>
              </a:tr>
              <a:tr h="785813">
                <a:tc>
                  <a:txBody>
                    <a:bodyPr>
                      <a:noAutofit/>
                    </a:bodyPr>
                    <a:lstStyle/>
                    <a:p>
                      <a:r>
                        <a:rPr sz="1650" b="0">
                          <a:solidFill>
                            <a:srgbClr val="0E2A38"/>
                          </a:solidFill>
                          <a:latin typeface="Calibri"/>
                          <a:ea typeface="Calibri"/>
                          <a:cs typeface="Calibri"/>
                        </a:rPr>
                        <a:t>Guests</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2</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1</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1</a:t>
                      </a:r>
                    </a:p>
                  </a:txBody>
                  <a:tcPr marL="91440" marR="91440" marT="45720" marB="45720">
                    <a:solidFill>
                      <a:srgbClr val="F3F6F8"/>
                    </a:solidFill>
                  </a:tcPr>
                </a:tc>
              </a:tr>
              <a:tr h="785813">
                <a:tc>
                  <a:txBody>
                    <a:bodyPr>
                      <a:noAutofit/>
                    </a:bodyPr>
                    <a:lstStyle/>
                    <a:p>
                      <a:r>
                        <a:rPr sz="1650" b="0">
                          <a:solidFill>
                            <a:srgbClr val="0E2A38"/>
                          </a:solidFill>
                          <a:latin typeface="Calibri"/>
                          <a:ea typeface="Calibri"/>
                          <a:cs typeface="Calibri"/>
                        </a:rPr>
                        <a:t>Tour date</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27 September 2026</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Pending confirmation</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Pending confirmation</a:t>
                      </a:r>
                    </a:p>
                  </a:txBody>
                  <a:tcPr marL="91440" marR="91440" marT="45720" marB="45720">
                    <a:solidFill>
                      <a:srgbClr val="FFFFFF"/>
                    </a:solidFill>
                  </a:tcPr>
                </a:tc>
              </a:tr>
              <a:tr h="785813">
                <a:tc>
                  <a:txBody>
                    <a:bodyPr>
                      <a:noAutofit/>
                    </a:bodyPr>
                    <a:lstStyle/>
                    <a:p>
                      <a:r>
                        <a:rPr sz="1650" b="0">
                          <a:solidFill>
                            <a:srgbClr val="0E2A38"/>
                          </a:solidFill>
                          <a:latin typeface="Calibri"/>
                          <a:ea typeface="Calibri"/>
                          <a:cs typeface="Calibri"/>
                        </a:rPr>
                        <a:t>Total</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PHP 3,900</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PHP 1,350</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PHP 1,350</a:t>
                      </a:r>
                    </a:p>
                  </a:txBody>
                  <a:tcPr marL="91440" marR="91440" marT="45720" marB="45720">
                    <a:solidFill>
                      <a:srgbClr val="F3F6F8"/>
                    </a:solidFill>
                  </a:tcPr>
                </a:tc>
              </a:tr>
            </a:tbl>
          </a:graphicData>
        </a:graphic>
      </p:graphicFrame>
    </p:spTree>
    <p:extLst>
      <p:ext uri="{BB962C8B-B14F-4D97-AF65-F5344CB8AC3E}">
        <p14:creationId xmlns:p14="http://schemas.microsoft.com/office/powerpoint/2010/main" val="1067563383"/>
      </p:ext>
    </p:extLst>
  </p:cSld>
</p:sld>
</file>

<file path=ppt/slides/slide6.xml><?xml version="1.0" encoding="utf-8"?>
<p:sld xmlns:p="http://schemas.openxmlformats.org/presentationml/2006/main">
  <p:cSld>
    <p:bg>
      <p:bgPr>
        <a:solidFill xmlns:a="http://schemas.openxmlformats.org/drawingml/2006/main">
          <a:srgbClr val="0E2A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9D35351-7579-42BC-88B0-788139438C1C}"/>
              </a:ext>
            </a:extLst>
          </p:cNvPr>
          <p:cNvSpPr>
            <a:spLocks xmlns:a="http://schemas.openxmlformats.org/drawingml/2006/main" noGrp="1"/>
          </p:cNvSpPr>
          <p:nvPr/>
        </p:nvSpPr>
        <p:spPr>
          <a:xfrm xmlns:a="http://schemas.openxmlformats.org/drawingml/2006/main">
            <a:off x="10332720" y="-1188720"/>
            <a:ext cx="3474720" cy="3474720"/>
          </a:xfrm>
          <a:prstGeom xmlns:a="http://schemas.openxmlformats.org/drawingml/2006/main" prst="ellipse">
            <a:avLst/>
          </a:prstGeom>
          <a:solidFill xmlns:a="http://schemas.openxmlformats.org/drawingml/2006/main">
            <a:srgbClr val="2A6F84">
              <a:alpha val="40000"/>
            </a:srgbClr>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5902282A-0E23-4DDF-9E60-1DEBF8FCCCF7}"/>
              </a:ext>
            </a:extLst>
          </p:cNvPr>
          <p:cNvSpPr>
            <a:spLocks xmlns:a="http://schemas.openxmlformats.org/drawingml/2006/main" noGrp="1"/>
          </p:cNvSpPr>
          <p:nvPr/>
        </p:nvSpPr>
        <p:spPr>
          <a:xfrm xmlns:a="http://schemas.openxmlformats.org/drawingml/2006/main">
            <a:off x="64008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300" b="1">
                <a:solidFill>
                  <a:srgbClr val="FFFFFF"/>
                </a:solidFill>
                <a:latin typeface="Cambria"/>
                <a:ea typeface="Cambria"/>
                <a:cs typeface="Cambria"/>
              </a:defRPr>
            </a:pPr>
            <a:r>
              <a:rPr sz="3300" b="1" spc="200">
                <a:solidFill>
                  <a:srgbClr val="FFFFFF"/>
                </a:solidFill>
                <a:latin typeface="Cambria"/>
                <a:ea typeface="Cambria"/>
                <a:cs typeface="Cambria"/>
              </a:rPr>
              <a:t>RTM EVIDENCE</a:t>
            </a:r>
            <a:endParaRPr sz="1200"/>
          </a:p>
        </p:txBody>
      </p:sp>
      <p:sp>
        <p:nvSpPr>
          <p:cNvPr id="4" name="Text 2">
            <a:extLst xmlns:a="http://schemas.openxmlformats.org/drawingml/2006/main">
              <a:ext uri="{FF2B5EF4-FFF2-40B4-BE49-F238E27FC236}">
                <a16:creationId xmlns:a16="http://schemas.microsoft.com/office/drawing/2014/main" id="{5B488544-1181-4F62-96DF-78A18D384F3F}"/>
              </a:ext>
            </a:extLst>
          </p:cNvPr>
          <p:cNvSpPr>
            <a:spLocks xmlns:a="http://schemas.openxmlformats.org/drawingml/2006/main" noGrp="1"/>
          </p:cNvSpPr>
          <p:nvPr/>
        </p:nvSpPr>
        <p:spPr>
          <a:xfrm xmlns:a="http://schemas.openxmlformats.org/drawingml/2006/main">
            <a:off x="640080" y="777240"/>
            <a:ext cx="102412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600" b="1">
                <a:solidFill>
                  <a:srgbClr val="FFFFFF"/>
                </a:solidFill>
                <a:latin typeface="Cambria"/>
                <a:ea typeface="Cambria"/>
                <a:cs typeface="Cambria"/>
              </a:defRPr>
            </a:pPr>
            <a:r>
              <a:rPr sz="3600" b="1">
                <a:solidFill>
                  <a:srgbClr val="FFFFFF"/>
                </a:solidFill>
                <a:latin typeface="Cambria"/>
                <a:ea typeface="Cambria"/>
                <a:cs typeface="Cambria"/>
              </a:rPr>
              <a:t>Invoice PDF still fails</a:t>
            </a:r>
            <a:endParaRPr sz="3400"/>
          </a:p>
        </p:txBody>
      </p:sp>
      <p:sp>
        <p:nvSpPr>
          <p:cNvPr id="5" name="Text 3">
            <a:extLst xmlns:a="http://schemas.openxmlformats.org/drawingml/2006/main">
              <a:ext uri="{FF2B5EF4-FFF2-40B4-BE49-F238E27FC236}">
                <a16:creationId xmlns:a16="http://schemas.microsoft.com/office/drawing/2014/main" id="{C5BC04DB-FD4A-4769-B1B4-5B965809E17A}"/>
              </a:ext>
            </a:extLst>
          </p:cNvPr>
          <p:cNvSpPr>
            <a:spLocks xmlns:a="http://schemas.openxmlformats.org/drawingml/2006/main" noGrp="1"/>
          </p:cNvSpPr>
          <p:nvPr/>
        </p:nvSpPr>
        <p:spPr>
          <a:xfrm xmlns:a="http://schemas.openxmlformats.org/drawingml/2006/main">
            <a:off x="640080" y="1463040"/>
            <a:ext cx="10241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725" b="0">
                <a:solidFill>
                  <a:srgbClr val="BFD3DD"/>
                </a:solidFill>
                <a:latin typeface="Calibri"/>
                <a:ea typeface="Calibri"/>
                <a:cs typeface="Calibri"/>
              </a:defRPr>
            </a:pPr>
            <a:r>
              <a:rPr sz="1725" b="0">
                <a:solidFill>
                  <a:srgbClr val="BFD3DD"/>
                </a:solidFill>
                <a:latin typeface="Calibri"/>
                <a:ea typeface="Calibri"/>
                <a:cs typeface="Calibri"/>
              </a:rPr>
              <a:t>BUG-001 remained open after the live retest.</a:t>
            </a:r>
            <a:endParaRPr sz="1500"/>
          </a:p>
        </p:txBody>
      </p:sp>
      <p:sp>
        <p:nvSpPr>
          <p:cNvPr id="6" name="Shape 4">
            <a:extLst xmlns:a="http://schemas.openxmlformats.org/drawingml/2006/main">
              <a:ext uri="{FF2B5EF4-FFF2-40B4-BE49-F238E27FC236}">
                <a16:creationId xmlns:a16="http://schemas.microsoft.com/office/drawing/2014/main" id="{81909978-27AC-437F-889C-0AF28E308AFD}"/>
              </a:ext>
            </a:extLst>
          </p:cNvPr>
          <p:cNvSpPr>
            <a:spLocks xmlns:a="http://schemas.openxmlformats.org/drawingml/2006/main" noGrp="1"/>
          </p:cNvSpPr>
          <p:nvPr/>
        </p:nvSpPr>
        <p:spPr>
          <a:xfrm xmlns:a="http://schemas.openxmlformats.org/drawingml/2006/main">
            <a:off x="640080" y="2057400"/>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B6DD4F82-4436-4C23-AFD5-B3605691820C}"/>
              </a:ext>
            </a:extLst>
          </p:cNvPr>
          <p:cNvSpPr>
            <a:spLocks xmlns:a="http://schemas.openxmlformats.org/drawingml/2006/main" noGrp="1"/>
          </p:cNvSpPr>
          <p:nvPr/>
        </p:nvSpPr>
        <p:spPr>
          <a:xfrm xmlns:a="http://schemas.openxmlformats.org/drawingml/2006/main">
            <a:off x="914400" y="2167128"/>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F1AC4B"/>
                </a:solidFill>
                <a:latin typeface="Calibri"/>
                <a:ea typeface="Calibri"/>
                <a:cs typeface="Calibri"/>
              </a:defRPr>
            </a:pPr>
            <a:r>
              <a:rPr sz="1350" b="1">
                <a:solidFill>
                  <a:srgbClr val="F1AC4B"/>
                </a:solidFill>
                <a:latin typeface="Calibri"/>
                <a:ea typeface="Calibri"/>
                <a:cs typeface="Calibri"/>
              </a:rPr>
              <a:t>Linked cases</a:t>
            </a:r>
            <a:endParaRPr sz="1400"/>
          </a:p>
        </p:txBody>
      </p:sp>
      <p:sp>
        <p:nvSpPr>
          <p:cNvPr id="8" name="Text 6">
            <a:extLst xmlns:a="http://schemas.openxmlformats.org/drawingml/2006/main">
              <a:ext uri="{FF2B5EF4-FFF2-40B4-BE49-F238E27FC236}">
                <a16:creationId xmlns:a16="http://schemas.microsoft.com/office/drawing/2014/main" id="{AC7B56FE-628D-4587-A105-3D0B6A900887}"/>
              </a:ext>
            </a:extLst>
          </p:cNvPr>
          <p:cNvSpPr>
            <a:spLocks xmlns:a="http://schemas.openxmlformats.org/drawingml/2006/main" noGrp="1"/>
          </p:cNvSpPr>
          <p:nvPr/>
        </p:nvSpPr>
        <p:spPr>
          <a:xfrm xmlns:a="http://schemas.openxmlformats.org/drawingml/2006/main">
            <a:off x="3657600" y="2167128"/>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FFFFFF"/>
                </a:solidFill>
                <a:latin typeface="Calibri"/>
                <a:ea typeface="Calibri"/>
                <a:cs typeface="Calibri"/>
              </a:defRPr>
            </a:pPr>
            <a:r>
              <a:rPr sz="1575" b="0">
                <a:solidFill>
                  <a:srgbClr val="FFFFFF"/>
                </a:solidFill>
                <a:latin typeface="Calibri"/>
                <a:ea typeface="Calibri"/>
                <a:cs typeface="Calibri"/>
              </a:rPr>
              <a:t>TC-008R failed; TC-009 content check was blocked.</a:t>
            </a:r>
            <a:endParaRPr sz="1250"/>
          </a:p>
        </p:txBody>
      </p:sp>
      <p:sp>
        <p:nvSpPr>
          <p:cNvPr id="9" name="Shape 7">
            <a:extLst xmlns:a="http://schemas.openxmlformats.org/drawingml/2006/main">
              <a:ext uri="{FF2B5EF4-FFF2-40B4-BE49-F238E27FC236}">
                <a16:creationId xmlns:a16="http://schemas.microsoft.com/office/drawing/2014/main" id="{9FB9FB28-4309-4295-A714-8BF1EEA8F368}"/>
              </a:ext>
            </a:extLst>
          </p:cNvPr>
          <p:cNvSpPr>
            <a:spLocks xmlns:a="http://schemas.openxmlformats.org/drawingml/2006/main" noGrp="1"/>
          </p:cNvSpPr>
          <p:nvPr/>
        </p:nvSpPr>
        <p:spPr>
          <a:xfrm xmlns:a="http://schemas.openxmlformats.org/drawingml/2006/main">
            <a:off x="640080" y="3090672"/>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3050D0DF-3A88-4F94-9772-5BE61E8A4CB9}"/>
              </a:ext>
            </a:extLst>
          </p:cNvPr>
          <p:cNvSpPr>
            <a:spLocks xmlns:a="http://schemas.openxmlformats.org/drawingml/2006/main" noGrp="1"/>
          </p:cNvSpPr>
          <p:nvPr/>
        </p:nvSpPr>
        <p:spPr>
          <a:xfrm xmlns:a="http://schemas.openxmlformats.org/drawingml/2006/main">
            <a:off x="914400" y="3200400"/>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F1AC4B"/>
                </a:solidFill>
                <a:latin typeface="Calibri"/>
                <a:ea typeface="Calibri"/>
                <a:cs typeface="Calibri"/>
              </a:defRPr>
            </a:pPr>
            <a:r>
              <a:rPr sz="1350" b="1">
                <a:solidFill>
                  <a:srgbClr val="F1AC4B"/>
                </a:solidFill>
                <a:latin typeface="Calibri"/>
                <a:ea typeface="Calibri"/>
                <a:cs typeface="Calibri"/>
              </a:rPr>
              <a:t>Observed result</a:t>
            </a:r>
            <a:endParaRPr sz="1400"/>
          </a:p>
        </p:txBody>
      </p:sp>
      <p:sp>
        <p:nvSpPr>
          <p:cNvPr id="11" name="Text 9">
            <a:extLst xmlns:a="http://schemas.openxmlformats.org/drawingml/2006/main">
              <a:ext uri="{FF2B5EF4-FFF2-40B4-BE49-F238E27FC236}">
                <a16:creationId xmlns:a16="http://schemas.microsoft.com/office/drawing/2014/main" id="{C0ABE549-04C0-414D-85B3-BF99F984B235}"/>
              </a:ext>
            </a:extLst>
          </p:cNvPr>
          <p:cNvSpPr>
            <a:spLocks xmlns:a="http://schemas.openxmlformats.org/drawingml/2006/main" noGrp="1"/>
          </p:cNvSpPr>
          <p:nvPr/>
        </p:nvSpPr>
        <p:spPr>
          <a:xfrm xmlns:a="http://schemas.openxmlformats.org/drawingml/2006/main">
            <a:off x="3657600" y="3200400"/>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FFFFFF"/>
                </a:solidFill>
                <a:latin typeface="Calibri"/>
                <a:ea typeface="Calibri"/>
                <a:cs typeface="Calibri"/>
              </a:defRPr>
            </a:pPr>
            <a:r>
              <a:rPr sz="1575" b="0">
                <a:solidFill>
                  <a:srgbClr val="FFFFFF"/>
                </a:solidFill>
                <a:latin typeface="Calibri"/>
                <a:ea typeface="Calibri"/>
                <a:cs typeface="Calibri"/>
              </a:rPr>
              <a:t>No PDF file. Console: unsupported colour function "lab".</a:t>
            </a:r>
            <a:endParaRPr sz="1250"/>
          </a:p>
        </p:txBody>
      </p:sp>
      <p:sp>
        <p:nvSpPr>
          <p:cNvPr id="12" name="Shape 10">
            <a:extLst xmlns:a="http://schemas.openxmlformats.org/drawingml/2006/main">
              <a:ext uri="{FF2B5EF4-FFF2-40B4-BE49-F238E27FC236}">
                <a16:creationId xmlns:a16="http://schemas.microsoft.com/office/drawing/2014/main" id="{A91BDAD1-5F1A-4C29-A823-FDC617DBBE96}"/>
              </a:ext>
            </a:extLst>
          </p:cNvPr>
          <p:cNvSpPr>
            <a:spLocks xmlns:a="http://schemas.openxmlformats.org/drawingml/2006/main" noGrp="1"/>
          </p:cNvSpPr>
          <p:nvPr/>
        </p:nvSpPr>
        <p:spPr>
          <a:xfrm xmlns:a="http://schemas.openxmlformats.org/drawingml/2006/main">
            <a:off x="640080" y="4123944"/>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9BD2119B-47CE-4AB7-8BF6-4D7D73920584}"/>
              </a:ext>
            </a:extLst>
          </p:cNvPr>
          <p:cNvSpPr>
            <a:spLocks xmlns:a="http://schemas.openxmlformats.org/drawingml/2006/main" noGrp="1"/>
          </p:cNvSpPr>
          <p:nvPr/>
        </p:nvSpPr>
        <p:spPr>
          <a:xfrm xmlns:a="http://schemas.openxmlformats.org/drawingml/2006/main">
            <a:off x="914400" y="4233672"/>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F1AC4B"/>
                </a:solidFill>
                <a:latin typeface="Calibri"/>
                <a:ea typeface="Calibri"/>
                <a:cs typeface="Calibri"/>
              </a:defRPr>
            </a:pPr>
            <a:r>
              <a:rPr sz="1350" b="1">
                <a:solidFill>
                  <a:srgbClr val="F1AC4B"/>
                </a:solidFill>
                <a:latin typeface="Calibri"/>
                <a:ea typeface="Calibri"/>
                <a:cs typeface="Calibri"/>
              </a:rPr>
              <a:t>Customer impact</a:t>
            </a:r>
            <a:endParaRPr sz="1400"/>
          </a:p>
        </p:txBody>
      </p:sp>
      <p:sp>
        <p:nvSpPr>
          <p:cNvPr id="14" name="Text 12">
            <a:extLst xmlns:a="http://schemas.openxmlformats.org/drawingml/2006/main">
              <a:ext uri="{FF2B5EF4-FFF2-40B4-BE49-F238E27FC236}">
                <a16:creationId xmlns:a16="http://schemas.microsoft.com/office/drawing/2014/main" id="{95CCC2D6-117D-4C85-91E0-80B93877CBF4}"/>
              </a:ext>
            </a:extLst>
          </p:cNvPr>
          <p:cNvSpPr>
            <a:spLocks xmlns:a="http://schemas.openxmlformats.org/drawingml/2006/main" noGrp="1"/>
          </p:cNvSpPr>
          <p:nvPr/>
        </p:nvSpPr>
        <p:spPr>
          <a:xfrm xmlns:a="http://schemas.openxmlformats.org/drawingml/2006/main">
            <a:off x="3657600" y="4233672"/>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FFFFFF"/>
                </a:solidFill>
                <a:latin typeface="Calibri"/>
                <a:ea typeface="Calibri"/>
                <a:cs typeface="Calibri"/>
              </a:defRPr>
            </a:pPr>
            <a:r>
              <a:rPr sz="1575" b="0">
                <a:solidFill>
                  <a:srgbClr val="FFFFFF"/>
                </a:solidFill>
                <a:latin typeface="Calibri"/>
                <a:ea typeface="Calibri"/>
                <a:cs typeface="Calibri"/>
              </a:rPr>
              <a:t>The customer cannot obtain or verify an invoice PDF.</a:t>
            </a:r>
            <a:endParaRPr sz="1250"/>
          </a:p>
        </p:txBody>
      </p:sp>
      <p:sp>
        <p:nvSpPr>
          <p:cNvPr id="15" name="Shape 13">
            <a:extLst xmlns:a="http://schemas.openxmlformats.org/drawingml/2006/main">
              <a:ext uri="{FF2B5EF4-FFF2-40B4-BE49-F238E27FC236}">
                <a16:creationId xmlns:a16="http://schemas.microsoft.com/office/drawing/2014/main" id="{9ED98BE4-6CAF-45B5-BEED-A2581DBBC6EE}"/>
              </a:ext>
            </a:extLst>
          </p:cNvPr>
          <p:cNvSpPr>
            <a:spLocks xmlns:a="http://schemas.openxmlformats.org/drawingml/2006/main" noGrp="1"/>
          </p:cNvSpPr>
          <p:nvPr/>
        </p:nvSpPr>
        <p:spPr>
          <a:xfrm xmlns:a="http://schemas.openxmlformats.org/drawingml/2006/main">
            <a:off x="640080" y="5157216"/>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5E6745D0-2E95-4438-A167-E17B7CF3A8D3}"/>
              </a:ext>
            </a:extLst>
          </p:cNvPr>
          <p:cNvSpPr>
            <a:spLocks xmlns:a="http://schemas.openxmlformats.org/drawingml/2006/main" noGrp="1"/>
          </p:cNvSpPr>
          <p:nvPr/>
        </p:nvSpPr>
        <p:spPr>
          <a:xfrm xmlns:a="http://schemas.openxmlformats.org/drawingml/2006/main">
            <a:off x="914400" y="5266944"/>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F1AC4B"/>
                </a:solidFill>
                <a:latin typeface="Calibri"/>
                <a:ea typeface="Calibri"/>
                <a:cs typeface="Calibri"/>
              </a:defRPr>
            </a:pPr>
            <a:r>
              <a:rPr sz="1350" b="1">
                <a:solidFill>
                  <a:srgbClr val="F1AC4B"/>
                </a:solidFill>
                <a:latin typeface="Calibri"/>
                <a:ea typeface="Calibri"/>
                <a:cs typeface="Calibri"/>
              </a:rPr>
              <a:t>Evidence</a:t>
            </a:r>
            <a:endParaRPr sz="1400"/>
          </a:p>
        </p:txBody>
      </p:sp>
      <p:sp>
        <p:nvSpPr>
          <p:cNvPr id="17" name="Text 15">
            <a:extLst xmlns:a="http://schemas.openxmlformats.org/drawingml/2006/main">
              <a:ext uri="{FF2B5EF4-FFF2-40B4-BE49-F238E27FC236}">
                <a16:creationId xmlns:a16="http://schemas.microsoft.com/office/drawing/2014/main" id="{E08630FA-D9EC-4F05-8386-15E498C6B2A6}"/>
              </a:ext>
            </a:extLst>
          </p:cNvPr>
          <p:cNvSpPr>
            <a:spLocks xmlns:a="http://schemas.openxmlformats.org/drawingml/2006/main" noGrp="1"/>
          </p:cNvSpPr>
          <p:nvPr/>
        </p:nvSpPr>
        <p:spPr>
          <a:xfrm xmlns:a="http://schemas.openxmlformats.org/drawingml/2006/main">
            <a:off x="3657600" y="5266944"/>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FFFFFF"/>
                </a:solidFill>
                <a:latin typeface="Calibri"/>
                <a:ea typeface="Calibri"/>
                <a:cs typeface="Calibri"/>
              </a:defRPr>
            </a:pPr>
            <a:r>
              <a:rPr sz="1575" b="0">
                <a:solidFill>
                  <a:srgbClr val="FFFFFF"/>
                </a:solidFill>
                <a:latin typeface="Calibri"/>
                <a:ea typeface="Calibri"/>
                <a:cs typeface="Calibri"/>
              </a:rPr>
              <a:t>TC-008R.png and console.json. Retest file and content after a fix.</a:t>
            </a:r>
            <a:endParaRPr sz="1250"/>
          </a:p>
        </p:txBody>
      </p:sp>
    </p:spTree>
    <p:extLst>
      <p:ext uri="{BB962C8B-B14F-4D97-AF65-F5344CB8AC3E}">
        <p14:creationId xmlns:p14="http://schemas.microsoft.com/office/powerpoint/2010/main" val="6486994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C2081A-6CF8-44D7-8277-F135F3D81BF4}"/>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DEFECT ANALYSIS</a:t>
            </a:r>
            <a:endParaRPr sz="1200"/>
          </a:p>
        </p:txBody>
      </p:sp>
      <p:sp>
        <p:nvSpPr>
          <p:cNvPr id="3" name="Text 1">
            <a:extLst xmlns:a="http://schemas.openxmlformats.org/drawingml/2006/main">
              <a:ext uri="{FF2B5EF4-FFF2-40B4-BE49-F238E27FC236}">
                <a16:creationId xmlns:a16="http://schemas.microsoft.com/office/drawing/2014/main" id="{A4A80473-8CDC-4ABF-A17B-7808D61C67AF}"/>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Which defects come first?</a:t>
            </a:r>
            <a:endParaRPr sz="3400"/>
          </a:p>
        </p:txBody>
      </p:sp>
      <p:sp>
        <p:nvSpPr>
          <p:cNvPr id="28" name="Text 26">
            <a:extLst xmlns:a="http://schemas.openxmlformats.org/drawingml/2006/main">
              <a:ext uri="{FF2B5EF4-FFF2-40B4-BE49-F238E27FC236}">
                <a16:creationId xmlns:a16="http://schemas.microsoft.com/office/drawing/2014/main" id="{4907163B-D5B5-4847-97D1-18A9468C0455}"/>
              </a:ext>
            </a:extLst>
          </p:cNvPr>
          <p:cNvSpPr>
            <a:spLocks xmlns:a="http://schemas.openxmlformats.org/drawingml/2006/main" noGrp="1"/>
          </p:cNvSpPr>
          <p:nvPr/>
        </p:nvSpPr>
        <p:spPr>
          <a:xfrm xmlns:a="http://schemas.openxmlformats.org/drawingml/2006/main">
            <a:off x="640080" y="6053328"/>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0">
                <a:solidFill>
                  <a:srgbClr val="506473"/>
                </a:solidFill>
                <a:latin typeface="Calibri"/>
                <a:ea typeface="Calibri"/>
                <a:cs typeface="Calibri"/>
              </a:defRPr>
            </a:pPr>
            <a:r>
              <a:rPr sz="1350" b="0" i="1">
                <a:solidFill>
                  <a:srgbClr val="506473"/>
                </a:solidFill>
                <a:latin typeface="Calibri"/>
                <a:ea typeface="Calibri"/>
                <a:cs typeface="Calibri"/>
              </a:rPr>
              <a:t>Priority is proposed from customer impact and test blockage; the team should confirm ownership.</a:t>
            </a:r>
            <a:endParaRPr sz="1050"/>
          </a:p>
        </p:txBody>
      </p:sp>
      <p:graphicFrame>
        <p:nvGraphicFramePr>
          <p:cNvPr id="33" name=""/>
          <p:cNvGraphicFramePr/>
          <p:nvPr/>
        </p:nvGraphicFramePr>
        <p:xfrm>
          <a:off xmlns:a="http://schemas.openxmlformats.org/drawingml/2006/main" x="640080" y="1924050"/>
          <a:ext xmlns:a="http://schemas.openxmlformats.org/drawingml/2006/main" cx="10858500" cy="3619500"/>
        </p:xfrm>
        <a:graphic xmlns:a="http://schemas.openxmlformats.org/drawingml/2006/main">
          <a:graphicData uri="http://schemas.openxmlformats.org/drawingml/2006/table">
            <a:tbl>
              <a:tblPr/>
              <a:tblGrid>
                <a:gridCol w="1238250"/>
                <a:gridCol w="2381250"/>
                <a:gridCol w="3857625"/>
                <a:gridCol w="3381375"/>
              </a:tblGrid>
              <a:tr h="904875">
                <a:tc>
                  <a:txBody>
                    <a:bodyPr>
                      <a:noAutofit/>
                    </a:bodyPr>
                    <a:lstStyle/>
                    <a:p>
                      <a:r>
                        <a:rPr sz="1500" b="1">
                          <a:solidFill>
                            <a:srgbClr val="FFFFFF"/>
                          </a:solidFill>
                          <a:latin typeface="Calibri"/>
                          <a:ea typeface="Calibri"/>
                          <a:cs typeface="Calibri"/>
                        </a:rPr>
                        <a:t>Priority</a:t>
                      </a:r>
                    </a:p>
                  </a:txBody>
                  <a:tcPr marL="91440" marR="91440" marT="45720" marB="45720">
                    <a:solidFill>
                      <a:srgbClr val="0E2A38"/>
                    </a:solidFill>
                  </a:tcPr>
                </a:tc>
                <a:tc>
                  <a:txBody>
                    <a:bodyPr>
                      <a:noAutofit/>
                    </a:bodyPr>
                    <a:lstStyle/>
                    <a:p>
                      <a:r>
                        <a:rPr sz="1500" b="1">
                          <a:solidFill>
                            <a:srgbClr val="FFFFFF"/>
                          </a:solidFill>
                          <a:latin typeface="Calibri"/>
                          <a:ea typeface="Calibri"/>
                          <a:cs typeface="Calibri"/>
                        </a:rPr>
                        <a:t>Defect</a:t>
                      </a:r>
                    </a:p>
                  </a:txBody>
                  <a:tcPr marL="91440" marR="91440" marT="45720" marB="45720">
                    <a:solidFill>
                      <a:srgbClr val="0E2A38"/>
                    </a:solidFill>
                  </a:tcPr>
                </a:tc>
                <a:tc>
                  <a:txBody>
                    <a:bodyPr>
                      <a:noAutofit/>
                    </a:bodyPr>
                    <a:lstStyle/>
                    <a:p>
                      <a:r>
                        <a:rPr sz="1500" b="1">
                          <a:solidFill>
                            <a:srgbClr val="FFFFFF"/>
                          </a:solidFill>
                          <a:latin typeface="Calibri"/>
                          <a:ea typeface="Calibri"/>
                          <a:cs typeface="Calibri"/>
                        </a:rPr>
                        <a:t>Reason</a:t>
                      </a:r>
                    </a:p>
                  </a:txBody>
                  <a:tcPr marL="91440" marR="91440" marT="45720" marB="45720">
                    <a:solidFill>
                      <a:srgbClr val="0E2A38"/>
                    </a:solidFill>
                  </a:tcPr>
                </a:tc>
                <a:tc>
                  <a:txBody>
                    <a:bodyPr>
                      <a:noAutofit/>
                    </a:bodyPr>
                    <a:lstStyle/>
                    <a:p>
                      <a:r>
                        <a:rPr sz="1500" b="1">
                          <a:solidFill>
                            <a:srgbClr val="FFFFFF"/>
                          </a:solidFill>
                          <a:latin typeface="Calibri"/>
                          <a:ea typeface="Calibri"/>
                          <a:cs typeface="Calibri"/>
                        </a:rPr>
                        <a:t>Iteration 3 check</a:t>
                      </a:r>
                    </a:p>
                  </a:txBody>
                  <a:tcPr marL="91440" marR="91440" marT="45720" marB="45720">
                    <a:solidFill>
                      <a:srgbClr val="0E2A38"/>
                    </a:solidFill>
                  </a:tcPr>
                </a:tc>
              </a:tr>
              <a:tr h="904875">
                <a:tc>
                  <a:txBody>
                    <a:bodyPr>
                      <a:noAutofit/>
                    </a:bodyPr>
                    <a:lstStyle/>
                    <a:p>
                      <a:r>
                        <a:rPr sz="1350" b="0">
                          <a:solidFill>
                            <a:srgbClr val="0E2A38"/>
                          </a:solidFill>
                          <a:latin typeface="Calibri"/>
                          <a:ea typeface="Calibri"/>
                          <a:cs typeface="Calibri"/>
                        </a:rPr>
                        <a:t>1</a:t>
                      </a:r>
                    </a:p>
                  </a:txBody>
                  <a:tcPr marL="91440" marR="91440" marT="45720" marB="45720">
                    <a:solidFill>
                      <a:srgbClr val="F3F6F8"/>
                    </a:solidFill>
                  </a:tcPr>
                </a:tc>
                <a:tc>
                  <a:txBody>
                    <a:bodyPr>
                      <a:noAutofit/>
                    </a:bodyPr>
                    <a:lstStyle/>
                    <a:p>
                      <a:r>
                        <a:rPr sz="1350" b="0">
                          <a:solidFill>
                            <a:srgbClr val="0E2A38"/>
                          </a:solidFill>
                          <a:latin typeface="Calibri"/>
                          <a:ea typeface="Calibri"/>
                          <a:cs typeface="Calibri"/>
                        </a:rPr>
                        <a:t>BUG-002 / BUG-003</a:t>
                      </a:r>
                    </a:p>
                    <a:p>
                      <a:r>
                        <a:rPr sz="1350" b="0">
                          <a:solidFill>
                            <a:srgbClr val="0E2A38"/>
                          </a:solidFill>
                          <a:latin typeface="Calibri"/>
                          <a:ea typeface="Calibri"/>
                          <a:cs typeface="Calibri"/>
                        </a:rPr>
                        <a:t>Booking data</a:t>
                      </a:r>
                    </a:p>
                  </a:txBody>
                  <a:tcPr marL="91440" marR="91440" marT="45720" marB="45720">
                    <a:solidFill>
                      <a:srgbClr val="F3F6F8"/>
                    </a:solidFill>
                  </a:tcPr>
                </a:tc>
                <a:tc>
                  <a:txBody>
                    <a:bodyPr>
                      <a:noAutofit/>
                    </a:bodyPr>
                    <a:lstStyle/>
                    <a:p>
                      <a:r>
                        <a:rPr sz="1350" b="0">
                          <a:solidFill>
                            <a:srgbClr val="0E2A38"/>
                          </a:solidFill>
                          <a:latin typeface="Calibri"/>
                          <a:ea typeface="Calibri"/>
                          <a:cs typeface="Calibri"/>
                        </a:rPr>
                        <a:t>Guests, date, total and name change; the customer sees a different booking.</a:t>
                      </a:r>
                    </a:p>
                  </a:txBody>
                  <a:tcPr marL="91440" marR="91440" marT="45720" marB="45720">
                    <a:solidFill>
                      <a:srgbClr val="F3F6F8"/>
                    </a:solidFill>
                  </a:tcPr>
                </a:tc>
                <a:tc>
                  <a:txBody>
                    <a:bodyPr>
                      <a:noAutofit/>
                    </a:bodyPr>
                    <a:lstStyle/>
                    <a:p>
                      <a:r>
                        <a:rPr sz="1350" b="0">
                          <a:solidFill>
                            <a:srgbClr val="0E2A38"/>
                          </a:solidFill>
                          <a:latin typeface="Calibri"/>
                          <a:ea typeface="Calibri"/>
                          <a:cs typeface="Calibri"/>
                        </a:rPr>
                        <a:t>Compare entered booking, pending record and dashboard.</a:t>
                      </a:r>
                    </a:p>
                  </a:txBody>
                  <a:tcPr marL="91440" marR="91440" marT="45720" marB="45720">
                    <a:solidFill>
                      <a:srgbClr val="F3F6F8"/>
                    </a:solidFill>
                  </a:tcPr>
                </a:tc>
              </a:tr>
              <a:tr h="904875">
                <a:tc>
                  <a:txBody>
                    <a:bodyPr>
                      <a:noAutofit/>
                    </a:bodyPr>
                    <a:lstStyle/>
                    <a:p>
                      <a:r>
                        <a:rPr sz="1350" b="0">
                          <a:solidFill>
                            <a:srgbClr val="0E2A38"/>
                          </a:solidFill>
                          <a:latin typeface="Calibri"/>
                          <a:ea typeface="Calibri"/>
                          <a:cs typeface="Calibri"/>
                        </a:rPr>
                        <a:t>2</a:t>
                      </a:r>
                    </a:p>
                  </a:txBody>
                  <a:tcPr marL="91440" marR="91440" marT="45720" marB="45720">
                    <a:solidFill>
                      <a:srgbClr val="FFFFFF"/>
                    </a:solidFill>
                  </a:tcPr>
                </a:tc>
                <a:tc>
                  <a:txBody>
                    <a:bodyPr>
                      <a:noAutofit/>
                    </a:bodyPr>
                    <a:lstStyle/>
                    <a:p>
                      <a:r>
                        <a:rPr sz="1350" b="0">
                          <a:solidFill>
                            <a:srgbClr val="0E2A38"/>
                          </a:solidFill>
                          <a:latin typeface="Calibri"/>
                          <a:ea typeface="Calibri"/>
                          <a:cs typeface="Calibri"/>
                        </a:rPr>
                        <a:t>BUG-001</a:t>
                      </a:r>
                    </a:p>
                    <a:p>
                      <a:r>
                        <a:rPr sz="1350" b="0">
                          <a:solidFill>
                            <a:srgbClr val="0E2A38"/>
                          </a:solidFill>
                          <a:latin typeface="Calibri"/>
                          <a:ea typeface="Calibri"/>
                          <a:cs typeface="Calibri"/>
                        </a:rPr>
                        <a:t>PDF export</a:t>
                      </a:r>
                    </a:p>
                  </a:txBody>
                  <a:tcPr marL="91440" marR="91440" marT="45720" marB="45720">
                    <a:solidFill>
                      <a:srgbClr val="FFFFFF"/>
                    </a:solidFill>
                  </a:tcPr>
                </a:tc>
                <a:tc>
                  <a:txBody>
                    <a:bodyPr>
                      <a:noAutofit/>
                    </a:bodyPr>
                    <a:lstStyle/>
                    <a:p>
                      <a:r>
                        <a:rPr sz="1350" b="0">
                          <a:solidFill>
                            <a:srgbClr val="0E2A38"/>
                          </a:solidFill>
                          <a:latin typeface="Calibri"/>
                          <a:ea typeface="Calibri"/>
                          <a:cs typeface="Calibri"/>
                        </a:rPr>
                        <a:t>No invoice downloads; its content check cannot run.</a:t>
                      </a:r>
                    </a:p>
                  </a:txBody>
                  <a:tcPr marL="91440" marR="91440" marT="45720" marB="45720">
                    <a:solidFill>
                      <a:srgbClr val="FFFFFF"/>
                    </a:solidFill>
                  </a:tcPr>
                </a:tc>
                <a:tc>
                  <a:txBody>
                    <a:bodyPr>
                      <a:noAutofit/>
                    </a:bodyPr>
                    <a:lstStyle/>
                    <a:p>
                      <a:r>
                        <a:rPr sz="1350" b="0">
                          <a:solidFill>
                            <a:srgbClr val="0E2A38"/>
                          </a:solidFill>
                          <a:latin typeface="Calibri"/>
                          <a:ea typeface="Calibri"/>
                          <a:cs typeface="Calibri"/>
                        </a:rPr>
                        <a:t>Download, open and compare the PDF.</a:t>
                      </a:r>
                    </a:p>
                  </a:txBody>
                  <a:tcPr marL="91440" marR="91440" marT="45720" marB="45720">
                    <a:solidFill>
                      <a:srgbClr val="FFFFFF"/>
                    </a:solidFill>
                  </a:tcPr>
                </a:tc>
              </a:tr>
              <a:tr h="904875">
                <a:tc>
                  <a:txBody>
                    <a:bodyPr>
                      <a:noAutofit/>
                    </a:bodyPr>
                    <a:lstStyle/>
                    <a:p>
                      <a:r>
                        <a:rPr sz="1350" b="0">
                          <a:solidFill>
                            <a:srgbClr val="0E2A38"/>
                          </a:solidFill>
                          <a:latin typeface="Calibri"/>
                          <a:ea typeface="Calibri"/>
                          <a:cs typeface="Calibri"/>
                        </a:rPr>
                        <a:t>3</a:t>
                      </a:r>
                    </a:p>
                  </a:txBody>
                  <a:tcPr marL="91440" marR="91440" marT="45720" marB="45720">
                    <a:solidFill>
                      <a:srgbClr val="F3F6F8"/>
                    </a:solidFill>
                  </a:tcPr>
                </a:tc>
                <a:tc>
                  <a:txBody>
                    <a:bodyPr>
                      <a:noAutofit/>
                    </a:bodyPr>
                    <a:lstStyle/>
                    <a:p>
                      <a:r>
                        <a:rPr sz="1350" b="0">
                          <a:solidFill>
                            <a:srgbClr val="0E2A38"/>
                          </a:solidFill>
                          <a:latin typeface="Calibri"/>
                          <a:ea typeface="Calibri"/>
                          <a:cs typeface="Calibri"/>
                        </a:rPr>
                        <a:t>BUG-004</a:t>
                      </a:r>
                    </a:p>
                    <a:p>
                      <a:r>
                        <a:rPr sz="1350" b="0">
                          <a:solidFill>
                            <a:srgbClr val="0E2A38"/>
                          </a:solidFill>
                          <a:latin typeface="Calibri"/>
                          <a:ea typeface="Calibri"/>
                          <a:cs typeface="Calibri"/>
                        </a:rPr>
                        <a:t>Old card form</a:t>
                      </a:r>
                    </a:p>
                  </a:txBody>
                  <a:tcPr marL="91440" marR="91440" marT="45720" marB="45720">
                    <a:solidFill>
                      <a:srgbClr val="F3F6F8"/>
                    </a:solidFill>
                  </a:tcPr>
                </a:tc>
                <a:tc>
                  <a:txBody>
                    <a:bodyPr>
                      <a:noAutofit/>
                    </a:bodyPr>
                    <a:lstStyle/>
                    <a:p>
                      <a:r>
                        <a:rPr sz="1350" b="0">
                          <a:solidFill>
                            <a:srgbClr val="0E2A38"/>
                          </a:solidFill>
                          <a:latin typeface="Calibri"/>
                          <a:ea typeface="Calibri"/>
                          <a:cs typeface="Calibri"/>
                        </a:rPr>
                        <a:t>Old form accepted malformed values; that form was replaced in the new version.</a:t>
                      </a:r>
                    </a:p>
                  </a:txBody>
                  <a:tcPr marL="91440" marR="91440" marT="45720" marB="45720">
                    <a:solidFill>
                      <a:srgbClr val="F3F6F8"/>
                    </a:solidFill>
                  </a:tcPr>
                </a:tc>
                <a:tc>
                  <a:txBody>
                    <a:bodyPr>
                      <a:noAutofit/>
                    </a:bodyPr>
                    <a:lstStyle/>
                    <a:p>
                      <a:r>
                        <a:rPr sz="1350" b="0">
                          <a:solidFill>
                            <a:srgbClr val="0E2A38"/>
                          </a:solidFill>
                          <a:latin typeface="Calibri"/>
                          <a:ea typeface="Calibri"/>
                          <a:cs typeface="Calibri"/>
                        </a:rPr>
                        <a:t>Retire old case; test gateway sandbox flow.</a:t>
                      </a:r>
                    </a:p>
                  </a:txBody>
                  <a:tcPr marL="91440" marR="91440" marT="45720" marB="45720">
                    <a:solidFill>
                      <a:srgbClr val="F3F6F8"/>
                    </a:solidFill>
                  </a:tcPr>
                </a:tc>
              </a:tr>
            </a:tbl>
          </a:graphicData>
        </a:graphic>
      </p:graphicFrame>
    </p:spTree>
    <p:extLst>
      <p:ext uri="{BB962C8B-B14F-4D97-AF65-F5344CB8AC3E}">
        <p14:creationId xmlns:p14="http://schemas.microsoft.com/office/powerpoint/2010/main" val="10727084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2E13056-F155-4E0C-A953-101C900BDA67}"/>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DEFECT ANALYSIS</a:t>
            </a:r>
            <a:endParaRPr sz="1200"/>
          </a:p>
        </p:txBody>
      </p:sp>
      <p:sp>
        <p:nvSpPr>
          <p:cNvPr id="3" name="Text 1">
            <a:extLst xmlns:a="http://schemas.openxmlformats.org/drawingml/2006/main">
              <a:ext uri="{FF2B5EF4-FFF2-40B4-BE49-F238E27FC236}">
                <a16:creationId xmlns:a16="http://schemas.microsoft.com/office/drawing/2014/main" id="{5C2964ED-6D04-4A9D-8335-91F03AACA7A0}"/>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Remaining defects and scope decision</a:t>
            </a:r>
            <a:endParaRPr sz="3400"/>
          </a:p>
        </p:txBody>
      </p:sp>
      <p:graphicFrame>
        <p:nvGraphicFramePr>
          <p:cNvPr id="7" name=""/>
          <p:cNvGraphicFramePr/>
          <p:nvPr/>
        </p:nvGraphicFramePr>
        <p:xfrm>
          <a:off xmlns:a="http://schemas.openxmlformats.org/drawingml/2006/main" x="640080" y="1905000"/>
          <a:ext xmlns:a="http://schemas.openxmlformats.org/drawingml/2006/main" cx="10858500" cy="3762375"/>
        </p:xfrm>
        <a:graphic xmlns:a="http://schemas.openxmlformats.org/drawingml/2006/main">
          <a:graphicData uri="http://schemas.openxmlformats.org/drawingml/2006/table">
            <a:tbl>
              <a:tblPr/>
              <a:tblGrid>
                <a:gridCol w="2571750"/>
                <a:gridCol w="4286250"/>
                <a:gridCol w="4000500"/>
              </a:tblGrid>
              <a:tr h="752475">
                <a:tc>
                  <a:txBody>
                    <a:bodyPr>
                      <a:noAutofit/>
                    </a:bodyPr>
                    <a:lstStyle/>
                    <a:p>
                      <a:r>
                        <a:rPr sz="1500" b="1">
                          <a:solidFill>
                            <a:srgbClr val="FFFFFF"/>
                          </a:solidFill>
                          <a:latin typeface="Calibri"/>
                          <a:ea typeface="Calibri"/>
                          <a:cs typeface="Calibri"/>
                        </a:rPr>
                        <a:t>Item</a:t>
                      </a:r>
                    </a:p>
                  </a:txBody>
                  <a:tcPr marL="91440" marR="91440" marT="45720" marB="45720">
                    <a:solidFill>
                      <a:srgbClr val="0E2A38"/>
                    </a:solidFill>
                  </a:tcPr>
                </a:tc>
                <a:tc>
                  <a:txBody>
                    <a:bodyPr>
                      <a:noAutofit/>
                    </a:bodyPr>
                    <a:lstStyle/>
                    <a:p>
                      <a:r>
                        <a:rPr sz="1500" b="1">
                          <a:solidFill>
                            <a:srgbClr val="FFFFFF"/>
                          </a:solidFill>
                          <a:latin typeface="Calibri"/>
                          <a:ea typeface="Calibri"/>
                          <a:cs typeface="Calibri"/>
                        </a:rPr>
                        <a:t>Iteration 2 evidence</a:t>
                      </a:r>
                    </a:p>
                  </a:txBody>
                  <a:tcPr marL="91440" marR="91440" marT="45720" marB="45720">
                    <a:solidFill>
                      <a:srgbClr val="0E2A38"/>
                    </a:solidFill>
                  </a:tcPr>
                </a:tc>
                <a:tc>
                  <a:txBody>
                    <a:bodyPr>
                      <a:noAutofit/>
                    </a:bodyPr>
                    <a:lstStyle/>
                    <a:p>
                      <a:r>
                        <a:rPr sz="1500" b="1">
                          <a:solidFill>
                            <a:srgbClr val="FFFFFF"/>
                          </a:solidFill>
                          <a:latin typeface="Calibri"/>
                          <a:ea typeface="Calibri"/>
                          <a:cs typeface="Calibri"/>
                        </a:rPr>
                        <a:t>Proposed handling</a:t>
                      </a:r>
                    </a:p>
                  </a:txBody>
                  <a:tcPr marL="91440" marR="91440" marT="45720" marB="45720">
                    <a:solidFill>
                      <a:srgbClr val="0E2A38"/>
                    </a:solidFill>
                  </a:tcPr>
                </a:tc>
              </a:tr>
              <a:tr h="752475">
                <a:tc>
                  <a:txBody>
                    <a:bodyPr>
                      <a:noAutofit/>
                    </a:bodyPr>
                    <a:lstStyle/>
                    <a:p>
                      <a:r>
                        <a:rPr sz="1425" b="0">
                          <a:solidFill>
                            <a:srgbClr val="0E2A38"/>
                          </a:solidFill>
                          <a:latin typeface="Calibri"/>
                          <a:ea typeface="Calibri"/>
                          <a:cs typeface="Calibri"/>
                        </a:rPr>
                        <a:t>BUG-006: past date</a:t>
                      </a:r>
                    </a:p>
                  </a:txBody>
                  <a:tcPr marL="91440" marR="91440" marT="45720" marB="45720">
                    <a:solidFill>
                      <a:srgbClr val="F3F6F8"/>
                    </a:solidFill>
                  </a:tcPr>
                </a:tc>
                <a:tc>
                  <a:txBody>
                    <a:bodyPr>
                      <a:noAutofit/>
                    </a:bodyPr>
                    <a:lstStyle/>
                    <a:p>
                      <a:r>
                        <a:rPr sz="1425" b="0">
                          <a:solidFill>
                            <a:srgbClr val="0E2A38"/>
                          </a:solidFill>
                          <a:latin typeface="Calibri"/>
                          <a:ea typeface="Calibri"/>
                          <a:cs typeface="Calibri"/>
                        </a:rPr>
                        <a:t>TC-015 entered a past date and reached checkout.</a:t>
                      </a:r>
                    </a:p>
                  </a:txBody>
                  <a:tcPr marL="91440" marR="91440" marT="45720" marB="45720">
                    <a:solidFill>
                      <a:srgbClr val="F3F6F8"/>
                    </a:solidFill>
                  </a:tcPr>
                </a:tc>
                <a:tc>
                  <a:txBody>
                    <a:bodyPr>
                      <a:noAutofit/>
                    </a:bodyPr>
                    <a:lstStyle/>
                    <a:p>
                      <a:r>
                        <a:rPr sz="1425" b="0">
                          <a:solidFill>
                            <a:srgbClr val="0E2A38"/>
                          </a:solidFill>
                          <a:latin typeface="Calibri"/>
                          <a:ea typeface="Calibri"/>
                          <a:cs typeface="Calibri"/>
                        </a:rPr>
                        <a:t>Retest date rule in Iteration 3.</a:t>
                      </a:r>
                    </a:p>
                  </a:txBody>
                  <a:tcPr marL="91440" marR="91440" marT="45720" marB="45720">
                    <a:solidFill>
                      <a:srgbClr val="F3F6F8"/>
                    </a:solidFill>
                  </a:tcPr>
                </a:tc>
              </a:tr>
              <a:tr h="752475">
                <a:tc>
                  <a:txBody>
                    <a:bodyPr>
                      <a:noAutofit/>
                    </a:bodyPr>
                    <a:lstStyle/>
                    <a:p>
                      <a:r>
                        <a:rPr sz="1425" b="0">
                          <a:solidFill>
                            <a:srgbClr val="0E2A38"/>
                          </a:solidFill>
                          <a:latin typeface="Calibri"/>
                          <a:ea typeface="Calibri"/>
                          <a:cs typeface="Calibri"/>
                        </a:rPr>
                        <a:t>BUG-007: install</a:t>
                      </a:r>
                    </a:p>
                  </a:txBody>
                  <a:tcPr marL="91440" marR="91440" marT="45720" marB="45720">
                    <a:solidFill>
                      <a:srgbClr val="FFFFFF"/>
                    </a:solidFill>
                  </a:tcPr>
                </a:tc>
                <a:tc>
                  <a:txBody>
                    <a:bodyPr>
                      <a:noAutofit/>
                    </a:bodyPr>
                    <a:lstStyle/>
                    <a:p>
                      <a:r>
                        <a:rPr sz="1425" b="0">
                          <a:solidFill>
                            <a:srgbClr val="0E2A38"/>
                          </a:solidFill>
                          <a:latin typeface="Calibri"/>
                          <a:ea typeface="Calibri"/>
                          <a:cs typeface="Calibri"/>
                        </a:rPr>
                        <a:t>TC-018 clean Windows npm ci failed.</a:t>
                      </a:r>
                    </a:p>
                  </a:txBody>
                  <a:tcPr marL="91440" marR="91440" marT="45720" marB="45720">
                    <a:solidFill>
                      <a:srgbClr val="FFFFFF"/>
                    </a:solidFill>
                  </a:tcPr>
                </a:tc>
                <a:tc>
                  <a:txBody>
                    <a:bodyPr>
                      <a:noAutofit/>
                    </a:bodyPr>
                    <a:lstStyle/>
                    <a:p>
                      <a:r>
                        <a:rPr sz="1425" b="0">
                          <a:solidFill>
                            <a:srgbClr val="0E2A38"/>
                          </a:solidFill>
                          <a:latin typeface="Calibri"/>
                          <a:ea typeface="Calibri"/>
                          <a:cs typeface="Calibri"/>
                        </a:rPr>
                        <a:t>Repair platform dependency; repeat clean install.</a:t>
                      </a:r>
                    </a:p>
                  </a:txBody>
                  <a:tcPr marL="91440" marR="91440" marT="45720" marB="45720">
                    <a:solidFill>
                      <a:srgbClr val="FFFFFF"/>
                    </a:solidFill>
                  </a:tcPr>
                </a:tc>
              </a:tr>
              <a:tr h="752475">
                <a:tc>
                  <a:txBody>
                    <a:bodyPr>
                      <a:noAutofit/>
                    </a:bodyPr>
                    <a:lstStyle/>
                    <a:p>
                      <a:r>
                        <a:rPr sz="1425" b="0">
                          <a:solidFill>
                            <a:srgbClr val="0E2A38"/>
                          </a:solidFill>
                          <a:latin typeface="Calibri"/>
                          <a:ea typeface="Calibri"/>
                          <a:cs typeface="Calibri"/>
                        </a:rPr>
                        <a:t>BUG-008: admin</a:t>
                      </a:r>
                    </a:p>
                  </a:txBody>
                  <a:tcPr marL="91440" marR="91440" marT="45720" marB="45720">
                    <a:solidFill>
                      <a:srgbClr val="F3F6F8"/>
                    </a:solidFill>
                  </a:tcPr>
                </a:tc>
                <a:tc>
                  <a:txBody>
                    <a:bodyPr>
                      <a:noAutofit/>
                    </a:bodyPr>
                    <a:lstStyle/>
                    <a:p>
                      <a:r>
                        <a:rPr sz="1425" b="0">
                          <a:solidFill>
                            <a:srgbClr val="0E2A38"/>
                          </a:solidFill>
                          <a:latin typeface="Calibri"/>
                          <a:ea typeface="Calibri"/>
                          <a:cs typeface="Calibri"/>
                        </a:rPr>
                        <a:t>TC-016 found quotation hydration error; page recovered.</a:t>
                      </a:r>
                    </a:p>
                  </a:txBody>
                  <a:tcPr marL="91440" marR="91440" marT="45720" marB="45720">
                    <a:solidFill>
                      <a:srgbClr val="F3F6F8"/>
                    </a:solidFill>
                  </a:tcPr>
                </a:tc>
                <a:tc>
                  <a:txBody>
                    <a:bodyPr>
                      <a:noAutofit/>
                    </a:bodyPr>
                    <a:lstStyle/>
                    <a:p>
                      <a:r>
                        <a:rPr sz="1425" b="0">
                          <a:solidFill>
                            <a:srgbClr val="0E2A38"/>
                          </a:solidFill>
                          <a:latin typeface="Calibri"/>
                          <a:ea typeface="Calibri"/>
                          <a:cs typeface="Calibri"/>
                        </a:rPr>
                        <a:t>Fix and repeat fresh-page smoke test.</a:t>
                      </a:r>
                    </a:p>
                  </a:txBody>
                  <a:tcPr marL="91440" marR="91440" marT="45720" marB="45720">
                    <a:solidFill>
                      <a:srgbClr val="F3F6F8"/>
                    </a:solidFill>
                  </a:tcPr>
                </a:tc>
              </a:tr>
              <a:tr h="752475">
                <a:tc>
                  <a:txBody>
                    <a:bodyPr>
                      <a:noAutofit/>
                    </a:bodyPr>
                    <a:lstStyle/>
                    <a:p>
                      <a:r>
                        <a:rPr sz="1425" b="0">
                          <a:solidFill>
                            <a:srgbClr val="0E2A38"/>
                          </a:solidFill>
                          <a:latin typeface="Calibri"/>
                          <a:ea typeface="Calibri"/>
                          <a:cs typeface="Calibri"/>
                        </a:rPr>
                        <a:t>BUG-009: scope</a:t>
                      </a:r>
                    </a:p>
                  </a:txBody>
                  <a:tcPr marL="91440" marR="91440" marT="45720" marB="45720">
                    <a:solidFill>
                      <a:srgbClr val="FFFFFF"/>
                    </a:solidFill>
                  </a:tcPr>
                </a:tc>
                <a:tc>
                  <a:txBody>
                    <a:bodyPr>
                      <a:noAutofit/>
                    </a:bodyPr>
                    <a:lstStyle/>
                    <a:p>
                      <a:r>
                        <a:rPr sz="1425" b="0">
                          <a:solidFill>
                            <a:srgbClr val="0E2A38"/>
                          </a:solidFill>
                          <a:latin typeface="Calibri"/>
                          <a:ea typeface="Calibri"/>
                          <a:cs typeface="Calibri"/>
                        </a:rPr>
                        <a:t>TC-017 found no quotation save action.</a:t>
                      </a:r>
                    </a:p>
                  </a:txBody>
                  <a:tcPr marL="91440" marR="91440" marT="45720" marB="45720">
                    <a:solidFill>
                      <a:srgbClr val="FFFFFF"/>
                    </a:solidFill>
                  </a:tcPr>
                </a:tc>
                <a:tc>
                  <a:txBody>
                    <a:bodyPr>
                      <a:noAutofit/>
                    </a:bodyPr>
                    <a:lstStyle/>
                    <a:p>
                      <a:r>
                        <a:rPr sz="1425" b="0">
                          <a:solidFill>
                            <a:srgbClr val="0E2A38"/>
                          </a:solidFill>
                          <a:latin typeface="Calibri"/>
                          <a:ea typeface="Calibri"/>
                          <a:cs typeface="Calibri"/>
                        </a:rPr>
                        <a:t>Agree requirement before calling it a defect.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065163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2DDDCDB-9933-4D11-B8D4-FFE56F324541}"/>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ITERATION 3 PLAN</a:t>
            </a:r>
            <a:endParaRPr sz="1200"/>
          </a:p>
        </p:txBody>
      </p:sp>
      <p:sp>
        <p:nvSpPr>
          <p:cNvPr id="3" name="Text 1">
            <a:extLst xmlns:a="http://schemas.openxmlformats.org/drawingml/2006/main">
              <a:ext uri="{FF2B5EF4-FFF2-40B4-BE49-F238E27FC236}">
                <a16:creationId xmlns:a16="http://schemas.microsoft.com/office/drawing/2014/main" id="{050B2A08-13E8-4553-9115-3049844937F3}"/>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Retest the newer application version</a:t>
            </a:r>
            <a:endParaRPr sz="3400"/>
          </a:p>
        </p:txBody>
      </p:sp>
      <p:sp>
        <p:nvSpPr>
          <p:cNvPr id="4" name="Shape 2">
            <a:extLst xmlns:a="http://schemas.openxmlformats.org/drawingml/2006/main">
              <a:ext uri="{FF2B5EF4-FFF2-40B4-BE49-F238E27FC236}">
                <a16:creationId xmlns:a16="http://schemas.microsoft.com/office/drawing/2014/main" id="{3EEC3F78-139D-4A90-A18C-D963F0A42F6E}"/>
              </a:ext>
            </a:extLst>
          </p:cNvPr>
          <p:cNvSpPr>
            <a:spLocks xmlns:a="http://schemas.openxmlformats.org/drawingml/2006/main" noGrp="1"/>
          </p:cNvSpPr>
          <p:nvPr/>
        </p:nvSpPr>
        <p:spPr>
          <a:xfrm xmlns:a="http://schemas.openxmlformats.org/drawingml/2006/main">
            <a:off x="640080" y="1572768"/>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80D4CD-8B1A-4577-B369-5F19CD0442A0}"/>
              </a:ext>
            </a:extLst>
          </p:cNvPr>
          <p:cNvSpPr>
            <a:spLocks xmlns:a="http://schemas.openxmlformats.org/drawingml/2006/main" noGrp="1"/>
          </p:cNvSpPr>
          <p:nvPr/>
        </p:nvSpPr>
        <p:spPr>
          <a:xfrm xmlns:a="http://schemas.openxmlformats.org/drawingml/2006/main">
            <a:off x="914400" y="1810512"/>
            <a:ext cx="310896" cy="310896"/>
          </a:xfrm>
          <a:prstGeom xmlns:a="http://schemas.openxmlformats.org/drawingml/2006/main" prst="ellipse">
            <a:avLst/>
          </a:prstGeom>
          <a:solidFill xmlns:a="http://schemas.openxmlformats.org/drawingml/2006/main">
            <a:srgbClr val="CE9136"/>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EF58A91D-BBB5-45B5-99E0-FFB522D00266}"/>
              </a:ext>
            </a:extLst>
          </p:cNvPr>
          <p:cNvSpPr>
            <a:spLocks xmlns:a="http://schemas.openxmlformats.org/drawingml/2006/main" noGrp="1"/>
          </p:cNvSpPr>
          <p:nvPr/>
        </p:nvSpPr>
        <p:spPr>
          <a:xfrm xmlns:a="http://schemas.openxmlformats.org/drawingml/2006/main">
            <a:off x="914400" y="181051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01</a:t>
            </a:r>
            <a:endParaRPr sz="1050"/>
          </a:p>
        </p:txBody>
      </p:sp>
      <p:sp>
        <p:nvSpPr>
          <p:cNvPr id="7" name="Text 5">
            <a:extLst xmlns:a="http://schemas.openxmlformats.org/drawingml/2006/main">
              <a:ext uri="{FF2B5EF4-FFF2-40B4-BE49-F238E27FC236}">
                <a16:creationId xmlns:a16="http://schemas.microsoft.com/office/drawing/2014/main" id="{D4BFA619-58E2-4CBD-AF15-BE47A7886CB8}"/>
              </a:ext>
            </a:extLst>
          </p:cNvPr>
          <p:cNvSpPr>
            <a:spLocks xmlns:a="http://schemas.openxmlformats.org/drawingml/2006/main" noGrp="1"/>
          </p:cNvSpPr>
          <p:nvPr/>
        </p:nvSpPr>
        <p:spPr>
          <a:xfrm xmlns:a="http://schemas.openxmlformats.org/drawingml/2006/main">
            <a:off x="1417320" y="1664208"/>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0E2A38"/>
                </a:solidFill>
                <a:latin typeface="Calibri"/>
                <a:ea typeface="Calibri"/>
                <a:cs typeface="Calibri"/>
              </a:defRPr>
            </a:pPr>
            <a:r>
              <a:rPr sz="1350" b="1">
                <a:solidFill>
                  <a:srgbClr val="0E2A38"/>
                </a:solidFill>
                <a:latin typeface="Calibri"/>
                <a:ea typeface="Calibri"/>
                <a:cs typeface="Calibri"/>
              </a:rPr>
              <a:t>Record the new baseline</a:t>
            </a:r>
            <a:endParaRPr sz="1350"/>
          </a:p>
        </p:txBody>
      </p:sp>
      <p:sp>
        <p:nvSpPr>
          <p:cNvPr id="8" name="Text 6">
            <a:extLst xmlns:a="http://schemas.openxmlformats.org/drawingml/2006/main">
              <a:ext uri="{FF2B5EF4-FFF2-40B4-BE49-F238E27FC236}">
                <a16:creationId xmlns:a16="http://schemas.microsoft.com/office/drawing/2014/main" id="{3A5D902E-399B-4E16-8083-6FC05B98A7F2}"/>
              </a:ext>
            </a:extLst>
          </p:cNvPr>
          <p:cNvSpPr>
            <a:spLocks xmlns:a="http://schemas.openxmlformats.org/drawingml/2006/main" noGrp="1"/>
          </p:cNvSpPr>
          <p:nvPr/>
        </p:nvSpPr>
        <p:spPr>
          <a:xfrm xmlns:a="http://schemas.openxmlformats.org/drawingml/2006/main">
            <a:off x="5074920" y="1664208"/>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00" b="0">
                <a:solidFill>
                  <a:srgbClr val="506473"/>
                </a:solidFill>
                <a:latin typeface="Calibri"/>
                <a:ea typeface="Calibri"/>
                <a:cs typeface="Calibri"/>
              </a:defRPr>
            </a:pPr>
            <a:r>
              <a:rPr sz="1500" b="0">
                <a:solidFill>
                  <a:srgbClr val="506473"/>
                </a:solidFill>
                <a:latin typeface="Calibri"/>
                <a:ea typeface="Calibri"/>
                <a:cs typeface="Calibri"/>
              </a:rPr>
              <a:t>Use official main 2f0d932; keep Iteration 2 outcomes tied to fffd308.</a:t>
            </a:r>
            <a:endParaRPr sz="1200"/>
          </a:p>
        </p:txBody>
      </p:sp>
      <p:sp>
        <p:nvSpPr>
          <p:cNvPr id="9" name="Shape 7">
            <a:extLst xmlns:a="http://schemas.openxmlformats.org/drawingml/2006/main">
              <a:ext uri="{FF2B5EF4-FFF2-40B4-BE49-F238E27FC236}">
                <a16:creationId xmlns:a16="http://schemas.microsoft.com/office/drawing/2014/main" id="{920E5E22-8ED2-444B-BF1B-307169518E2B}"/>
              </a:ext>
            </a:extLst>
          </p:cNvPr>
          <p:cNvSpPr>
            <a:spLocks xmlns:a="http://schemas.openxmlformats.org/drawingml/2006/main" noGrp="1"/>
          </p:cNvSpPr>
          <p:nvPr/>
        </p:nvSpPr>
        <p:spPr>
          <a:xfrm xmlns:a="http://schemas.openxmlformats.org/drawingml/2006/main">
            <a:off x="640080" y="2478024"/>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0" name="Shape 8">
            <a:extLst xmlns:a="http://schemas.openxmlformats.org/drawingml/2006/main">
              <a:ext uri="{FF2B5EF4-FFF2-40B4-BE49-F238E27FC236}">
                <a16:creationId xmlns:a16="http://schemas.microsoft.com/office/drawing/2014/main" id="{6C8BF6B8-2BEE-43B9-8E51-A65F3018B332}"/>
              </a:ext>
            </a:extLst>
          </p:cNvPr>
          <p:cNvSpPr>
            <a:spLocks xmlns:a="http://schemas.openxmlformats.org/drawingml/2006/main" noGrp="1"/>
          </p:cNvSpPr>
          <p:nvPr/>
        </p:nvSpPr>
        <p:spPr>
          <a:xfrm xmlns:a="http://schemas.openxmlformats.org/drawingml/2006/main">
            <a:off x="914400" y="2715768"/>
            <a:ext cx="310896" cy="310896"/>
          </a:xfrm>
          <a:prstGeom xmlns:a="http://schemas.openxmlformats.org/drawingml/2006/main" prst="ellipse">
            <a:avLst/>
          </a:prstGeom>
          <a:solidFill xmlns:a="http://schemas.openxmlformats.org/drawingml/2006/main">
            <a:srgbClr val="CE9136"/>
          </a:solidFill>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0C561585-4D70-4F39-A7F7-4EEC1C470C99}"/>
              </a:ext>
            </a:extLst>
          </p:cNvPr>
          <p:cNvSpPr>
            <a:spLocks xmlns:a="http://schemas.openxmlformats.org/drawingml/2006/main" noGrp="1"/>
          </p:cNvSpPr>
          <p:nvPr/>
        </p:nvSpPr>
        <p:spPr>
          <a:xfrm xmlns:a="http://schemas.openxmlformats.org/drawingml/2006/main">
            <a:off x="914400" y="271576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02</a:t>
            </a:r>
            <a:endParaRPr sz="1050"/>
          </a:p>
        </p:txBody>
      </p:sp>
      <p:sp>
        <p:nvSpPr>
          <p:cNvPr id="12" name="Text 10">
            <a:extLst xmlns:a="http://schemas.openxmlformats.org/drawingml/2006/main">
              <a:ext uri="{FF2B5EF4-FFF2-40B4-BE49-F238E27FC236}">
                <a16:creationId xmlns:a16="http://schemas.microsoft.com/office/drawing/2014/main" id="{4A3093A2-16EC-47A3-B7A0-1BB87F5F062B}"/>
              </a:ext>
            </a:extLst>
          </p:cNvPr>
          <p:cNvSpPr>
            <a:spLocks xmlns:a="http://schemas.openxmlformats.org/drawingml/2006/main" noGrp="1"/>
          </p:cNvSpPr>
          <p:nvPr/>
        </p:nvSpPr>
        <p:spPr>
          <a:xfrm xmlns:a="http://schemas.openxmlformats.org/drawingml/2006/main">
            <a:off x="1417320" y="2569464"/>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0E2A38"/>
                </a:solidFill>
                <a:latin typeface="Calibri"/>
                <a:ea typeface="Calibri"/>
                <a:cs typeface="Calibri"/>
              </a:defRPr>
            </a:pPr>
            <a:r>
              <a:rPr sz="1350" b="1">
                <a:solidFill>
                  <a:srgbClr val="0E2A38"/>
                </a:solidFill>
                <a:latin typeface="Calibri"/>
                <a:ea typeface="Calibri"/>
                <a:cs typeface="Calibri"/>
              </a:rPr>
              <a:t>Revise payment cases</a:t>
            </a:r>
            <a:endParaRPr sz="1350"/>
          </a:p>
        </p:txBody>
      </p:sp>
      <p:sp>
        <p:nvSpPr>
          <p:cNvPr id="13" name="Text 11">
            <a:extLst xmlns:a="http://schemas.openxmlformats.org/drawingml/2006/main">
              <a:ext uri="{FF2B5EF4-FFF2-40B4-BE49-F238E27FC236}">
                <a16:creationId xmlns:a16="http://schemas.microsoft.com/office/drawing/2014/main" id="{B836C09E-0A61-4CF9-94BC-545FD8D6C1E7}"/>
              </a:ext>
            </a:extLst>
          </p:cNvPr>
          <p:cNvSpPr>
            <a:spLocks xmlns:a="http://schemas.openxmlformats.org/drawingml/2006/main" noGrp="1"/>
          </p:cNvSpPr>
          <p:nvPr/>
        </p:nvSpPr>
        <p:spPr>
          <a:xfrm xmlns:a="http://schemas.openxmlformats.org/drawingml/2006/main">
            <a:off x="5074920" y="2569464"/>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00" b="0">
                <a:solidFill>
                  <a:srgbClr val="506473"/>
                </a:solidFill>
                <a:latin typeface="Calibri"/>
                <a:ea typeface="Calibri"/>
                <a:cs typeface="Calibri"/>
              </a:defRPr>
            </a:pPr>
            <a:r>
              <a:rPr sz="1500" b="0">
                <a:solidFill>
                  <a:srgbClr val="506473"/>
                </a:solidFill>
                <a:latin typeface="Calibri"/>
                <a:ea typeface="Calibri"/>
                <a:cs typeface="Calibri"/>
              </a:rPr>
              <a:t>Replace old card-field tests with PayMongo sandbox checks.</a:t>
            </a:r>
            <a:endParaRPr sz="1200"/>
          </a:p>
        </p:txBody>
      </p:sp>
      <p:sp>
        <p:nvSpPr>
          <p:cNvPr id="14" name="Shape 12">
            <a:extLst xmlns:a="http://schemas.openxmlformats.org/drawingml/2006/main">
              <a:ext uri="{FF2B5EF4-FFF2-40B4-BE49-F238E27FC236}">
                <a16:creationId xmlns:a16="http://schemas.microsoft.com/office/drawing/2014/main" id="{0A23EB93-5732-4358-830D-C1950F9FC918}"/>
              </a:ext>
            </a:extLst>
          </p:cNvPr>
          <p:cNvSpPr>
            <a:spLocks xmlns:a="http://schemas.openxmlformats.org/drawingml/2006/main" noGrp="1"/>
          </p:cNvSpPr>
          <p:nvPr/>
        </p:nvSpPr>
        <p:spPr>
          <a:xfrm xmlns:a="http://schemas.openxmlformats.org/drawingml/2006/main">
            <a:off x="640080" y="3383280"/>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2AA55F18-9567-49E2-8E8E-8CC5FD0C3F65}"/>
              </a:ext>
            </a:extLst>
          </p:cNvPr>
          <p:cNvSpPr>
            <a:spLocks xmlns:a="http://schemas.openxmlformats.org/drawingml/2006/main" noGrp="1"/>
          </p:cNvSpPr>
          <p:nvPr/>
        </p:nvSpPr>
        <p:spPr>
          <a:xfrm xmlns:a="http://schemas.openxmlformats.org/drawingml/2006/main">
            <a:off x="914400" y="3621024"/>
            <a:ext cx="310896" cy="310896"/>
          </a:xfrm>
          <a:prstGeom xmlns:a="http://schemas.openxmlformats.org/drawingml/2006/main" prst="ellipse">
            <a:avLst/>
          </a:prstGeom>
          <a:solidFill xmlns:a="http://schemas.openxmlformats.org/drawingml/2006/main">
            <a:srgbClr val="B4432F"/>
          </a:solidFill>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5BDA9375-9F4F-4A61-A68F-6BADCDED396A}"/>
              </a:ext>
            </a:extLst>
          </p:cNvPr>
          <p:cNvSpPr>
            <a:spLocks xmlns:a="http://schemas.openxmlformats.org/drawingml/2006/main" noGrp="1"/>
          </p:cNvSpPr>
          <p:nvPr/>
        </p:nvSpPr>
        <p:spPr>
          <a:xfrm xmlns:a="http://schemas.openxmlformats.org/drawingml/2006/main">
            <a:off x="914400" y="362102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03</a:t>
            </a:r>
            <a:endParaRPr sz="1050"/>
          </a:p>
        </p:txBody>
      </p:sp>
      <p:sp>
        <p:nvSpPr>
          <p:cNvPr id="17" name="Text 15">
            <a:extLst xmlns:a="http://schemas.openxmlformats.org/drawingml/2006/main">
              <a:ext uri="{FF2B5EF4-FFF2-40B4-BE49-F238E27FC236}">
                <a16:creationId xmlns:a16="http://schemas.microsoft.com/office/drawing/2014/main" id="{4B35ABFC-B4AD-4B0D-B785-C19C1CD5BE3B}"/>
              </a:ext>
            </a:extLst>
          </p:cNvPr>
          <p:cNvSpPr>
            <a:spLocks xmlns:a="http://schemas.openxmlformats.org/drawingml/2006/main" noGrp="1"/>
          </p:cNvSpPr>
          <p:nvPr/>
        </p:nvSpPr>
        <p:spPr>
          <a:xfrm xmlns:a="http://schemas.openxmlformats.org/drawingml/2006/main">
            <a:off x="1417320" y="3474720"/>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0E2A38"/>
                </a:solidFill>
                <a:latin typeface="Calibri"/>
                <a:ea typeface="Calibri"/>
                <a:cs typeface="Calibri"/>
              </a:defRPr>
            </a:pPr>
            <a:r>
              <a:rPr sz="1350" b="1">
                <a:solidFill>
                  <a:srgbClr val="0E2A38"/>
                </a:solidFill>
                <a:latin typeface="Calibri"/>
                <a:ea typeface="Calibri"/>
                <a:cs typeface="Calibri"/>
              </a:rPr>
              <a:t>Retest booking continuity</a:t>
            </a:r>
            <a:endParaRPr sz="1350"/>
          </a:p>
        </p:txBody>
      </p:sp>
      <p:sp>
        <p:nvSpPr>
          <p:cNvPr id="18" name="Text 16">
            <a:extLst xmlns:a="http://schemas.openxmlformats.org/drawingml/2006/main">
              <a:ext uri="{FF2B5EF4-FFF2-40B4-BE49-F238E27FC236}">
                <a16:creationId xmlns:a16="http://schemas.microsoft.com/office/drawing/2014/main" id="{EE0E8369-AD0C-4C35-B0AB-D91D04038F4A}"/>
              </a:ext>
            </a:extLst>
          </p:cNvPr>
          <p:cNvSpPr>
            <a:spLocks xmlns:a="http://schemas.openxmlformats.org/drawingml/2006/main" noGrp="1"/>
          </p:cNvSpPr>
          <p:nvPr/>
        </p:nvSpPr>
        <p:spPr>
          <a:xfrm xmlns:a="http://schemas.openxmlformats.org/drawingml/2006/main">
            <a:off x="5074920" y="3474720"/>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00" b="0">
                <a:solidFill>
                  <a:srgbClr val="506473"/>
                </a:solidFill>
                <a:latin typeface="Calibri"/>
                <a:ea typeface="Calibri"/>
                <a:cs typeface="Calibri"/>
              </a:defRPr>
            </a:pPr>
            <a:r>
              <a:rPr sz="1500" b="0">
                <a:solidFill>
                  <a:srgbClr val="506473"/>
                </a:solidFill>
                <a:latin typeface="Calibri"/>
                <a:ea typeface="Calibri"/>
                <a:cs typeface="Calibri"/>
              </a:rPr>
              <a:t>Compare guests, date, add-ons and total through checkout and return.</a:t>
            </a:r>
            <a:endParaRPr sz="1200"/>
          </a:p>
        </p:txBody>
      </p:sp>
      <p:sp>
        <p:nvSpPr>
          <p:cNvPr id="19" name="Shape 17">
            <a:extLst xmlns:a="http://schemas.openxmlformats.org/drawingml/2006/main">
              <a:ext uri="{FF2B5EF4-FFF2-40B4-BE49-F238E27FC236}">
                <a16:creationId xmlns:a16="http://schemas.microsoft.com/office/drawing/2014/main" id="{082CF01E-8F03-4367-9E68-0EADAEEB40BC}"/>
              </a:ext>
            </a:extLst>
          </p:cNvPr>
          <p:cNvSpPr>
            <a:spLocks xmlns:a="http://schemas.openxmlformats.org/drawingml/2006/main" noGrp="1"/>
          </p:cNvSpPr>
          <p:nvPr/>
        </p:nvSpPr>
        <p:spPr>
          <a:xfrm xmlns:a="http://schemas.openxmlformats.org/drawingml/2006/main">
            <a:off x="640080" y="4288536"/>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DAF976F-9FE3-4400-9814-410B9D775EFF}"/>
              </a:ext>
            </a:extLst>
          </p:cNvPr>
          <p:cNvSpPr>
            <a:spLocks xmlns:a="http://schemas.openxmlformats.org/drawingml/2006/main" noGrp="1"/>
          </p:cNvSpPr>
          <p:nvPr/>
        </p:nvSpPr>
        <p:spPr>
          <a:xfrm xmlns:a="http://schemas.openxmlformats.org/drawingml/2006/main">
            <a:off x="914400" y="4526280"/>
            <a:ext cx="310896" cy="310896"/>
          </a:xfrm>
          <a:prstGeom xmlns:a="http://schemas.openxmlformats.org/drawingml/2006/main" prst="ellipse">
            <a:avLst/>
          </a:prstGeom>
          <a:solidFill xmlns:a="http://schemas.openxmlformats.org/drawingml/2006/main">
            <a:srgbClr val="2A6F84"/>
          </a:solidFill>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65872168-0A5F-4FB0-AF7A-F424460B65B2}"/>
              </a:ext>
            </a:extLst>
          </p:cNvPr>
          <p:cNvSpPr>
            <a:spLocks xmlns:a="http://schemas.openxmlformats.org/drawingml/2006/main" noGrp="1"/>
          </p:cNvSpPr>
          <p:nvPr/>
        </p:nvSpPr>
        <p:spPr>
          <a:xfrm xmlns:a="http://schemas.openxmlformats.org/drawingml/2006/main">
            <a:off x="914400" y="45262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04</a:t>
            </a:r>
            <a:endParaRPr sz="1050"/>
          </a:p>
        </p:txBody>
      </p:sp>
      <p:sp>
        <p:nvSpPr>
          <p:cNvPr id="22" name="Text 20">
            <a:extLst xmlns:a="http://schemas.openxmlformats.org/drawingml/2006/main">
              <a:ext uri="{FF2B5EF4-FFF2-40B4-BE49-F238E27FC236}">
                <a16:creationId xmlns:a16="http://schemas.microsoft.com/office/drawing/2014/main" id="{44DB0188-F451-43EC-A141-9B831AB3A848}"/>
              </a:ext>
            </a:extLst>
          </p:cNvPr>
          <p:cNvSpPr>
            <a:spLocks xmlns:a="http://schemas.openxmlformats.org/drawingml/2006/main" noGrp="1"/>
          </p:cNvSpPr>
          <p:nvPr/>
        </p:nvSpPr>
        <p:spPr>
          <a:xfrm xmlns:a="http://schemas.openxmlformats.org/drawingml/2006/main">
            <a:off x="1417320" y="4379976"/>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0E2A38"/>
                </a:solidFill>
                <a:latin typeface="Calibri"/>
                <a:ea typeface="Calibri"/>
                <a:cs typeface="Calibri"/>
              </a:defRPr>
            </a:pPr>
            <a:r>
              <a:rPr sz="1350" b="1">
                <a:solidFill>
                  <a:srgbClr val="0E2A38"/>
                </a:solidFill>
                <a:latin typeface="Calibri"/>
                <a:ea typeface="Calibri"/>
                <a:cs typeface="Calibri"/>
              </a:rPr>
              <a:t>Retest open defects</a:t>
            </a:r>
            <a:endParaRPr sz="1350"/>
          </a:p>
        </p:txBody>
      </p:sp>
      <p:sp>
        <p:nvSpPr>
          <p:cNvPr id="23" name="Text 21">
            <a:extLst xmlns:a="http://schemas.openxmlformats.org/drawingml/2006/main">
              <a:ext uri="{FF2B5EF4-FFF2-40B4-BE49-F238E27FC236}">
                <a16:creationId xmlns:a16="http://schemas.microsoft.com/office/drawing/2014/main" id="{12C7FD57-E130-4C75-B8FF-3164F1733943}"/>
              </a:ext>
            </a:extLst>
          </p:cNvPr>
          <p:cNvSpPr>
            <a:spLocks xmlns:a="http://schemas.openxmlformats.org/drawingml/2006/main" noGrp="1"/>
          </p:cNvSpPr>
          <p:nvPr/>
        </p:nvSpPr>
        <p:spPr>
          <a:xfrm xmlns:a="http://schemas.openxmlformats.org/drawingml/2006/main">
            <a:off x="5074920" y="4379976"/>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00" b="0">
                <a:solidFill>
                  <a:srgbClr val="506473"/>
                </a:solidFill>
                <a:latin typeface="Calibri"/>
                <a:ea typeface="Calibri"/>
                <a:cs typeface="Calibri"/>
              </a:defRPr>
            </a:pPr>
            <a:r>
              <a:rPr sz="1500" b="0">
                <a:solidFill>
                  <a:srgbClr val="506473"/>
                </a:solidFill>
                <a:latin typeface="Calibri"/>
                <a:ea typeface="Calibri"/>
                <a:cs typeface="Calibri"/>
              </a:rPr>
              <a:t>Check PDF export, past dates, Windows setup and admin runtime.</a:t>
            </a:r>
            <a:endParaRPr sz="1200"/>
          </a:p>
        </p:txBody>
      </p:sp>
      <p:sp>
        <p:nvSpPr>
          <p:cNvPr id="24" name="Shape 22">
            <a:extLst xmlns:a="http://schemas.openxmlformats.org/drawingml/2006/main">
              <a:ext uri="{FF2B5EF4-FFF2-40B4-BE49-F238E27FC236}">
                <a16:creationId xmlns:a16="http://schemas.microsoft.com/office/drawing/2014/main" id="{1C6BE08B-7098-482D-ABC3-DBE58A206230}"/>
              </a:ext>
            </a:extLst>
          </p:cNvPr>
          <p:cNvSpPr>
            <a:spLocks xmlns:a="http://schemas.openxmlformats.org/drawingml/2006/main" noGrp="1"/>
          </p:cNvSpPr>
          <p:nvPr/>
        </p:nvSpPr>
        <p:spPr>
          <a:xfrm xmlns:a="http://schemas.openxmlformats.org/drawingml/2006/main">
            <a:off x="640080" y="5193792"/>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664E6CC6-A24C-488F-82B8-70BE212B23F4}"/>
              </a:ext>
            </a:extLst>
          </p:cNvPr>
          <p:cNvSpPr>
            <a:spLocks xmlns:a="http://schemas.openxmlformats.org/drawingml/2006/main" noGrp="1"/>
          </p:cNvSpPr>
          <p:nvPr/>
        </p:nvSpPr>
        <p:spPr>
          <a:xfrm xmlns:a="http://schemas.openxmlformats.org/drawingml/2006/main">
            <a:off x="914400" y="5431536"/>
            <a:ext cx="310896" cy="310896"/>
          </a:xfrm>
          <a:prstGeom xmlns:a="http://schemas.openxmlformats.org/drawingml/2006/main" prst="ellipse">
            <a:avLst/>
          </a:prstGeom>
          <a:solidFill xmlns:a="http://schemas.openxmlformats.org/drawingml/2006/main">
            <a:srgbClr val="2A6F84"/>
          </a:solidFill>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EAD3565-BE56-4DD3-AA8F-23D23272B201}"/>
              </a:ext>
            </a:extLst>
          </p:cNvPr>
          <p:cNvSpPr>
            <a:spLocks xmlns:a="http://schemas.openxmlformats.org/drawingml/2006/main" noGrp="1"/>
          </p:cNvSpPr>
          <p:nvPr/>
        </p:nvSpPr>
        <p:spPr>
          <a:xfrm xmlns:a="http://schemas.openxmlformats.org/drawingml/2006/main">
            <a:off x="914400" y="543153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05</a:t>
            </a:r>
            <a:endParaRPr sz="1050"/>
          </a:p>
        </p:txBody>
      </p:sp>
      <p:sp>
        <p:nvSpPr>
          <p:cNvPr id="27" name="Text 25">
            <a:extLst xmlns:a="http://schemas.openxmlformats.org/drawingml/2006/main">
              <a:ext uri="{FF2B5EF4-FFF2-40B4-BE49-F238E27FC236}">
                <a16:creationId xmlns:a16="http://schemas.microsoft.com/office/drawing/2014/main" id="{365E05C2-D3C2-45B1-9B0C-47AB22BB0E4B}"/>
              </a:ext>
            </a:extLst>
          </p:cNvPr>
          <p:cNvSpPr>
            <a:spLocks xmlns:a="http://schemas.openxmlformats.org/drawingml/2006/main" noGrp="1"/>
          </p:cNvSpPr>
          <p:nvPr/>
        </p:nvSpPr>
        <p:spPr>
          <a:xfrm xmlns:a="http://schemas.openxmlformats.org/drawingml/2006/main">
            <a:off x="1417320" y="5285232"/>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0E2A38"/>
                </a:solidFill>
                <a:latin typeface="Calibri"/>
                <a:ea typeface="Calibri"/>
                <a:cs typeface="Calibri"/>
              </a:defRPr>
            </a:pPr>
            <a:r>
              <a:rPr sz="1350" b="1">
                <a:solidFill>
                  <a:srgbClr val="0E2A38"/>
                </a:solidFill>
                <a:latin typeface="Calibri"/>
                <a:ea typeface="Calibri"/>
                <a:cs typeface="Calibri"/>
              </a:rPr>
              <a:t>Confirm scope and evidence</a:t>
            </a:r>
            <a:endParaRPr sz="1350"/>
          </a:p>
        </p:txBody>
      </p:sp>
      <p:sp>
        <p:nvSpPr>
          <p:cNvPr id="28" name="Text 26">
            <a:extLst xmlns:a="http://schemas.openxmlformats.org/drawingml/2006/main">
              <a:ext uri="{FF2B5EF4-FFF2-40B4-BE49-F238E27FC236}">
                <a16:creationId xmlns:a16="http://schemas.microsoft.com/office/drawing/2014/main" id="{D0EC39E6-A52A-41A9-9611-7A72C571BD72}"/>
              </a:ext>
            </a:extLst>
          </p:cNvPr>
          <p:cNvSpPr>
            <a:spLocks xmlns:a="http://schemas.openxmlformats.org/drawingml/2006/main" noGrp="1"/>
          </p:cNvSpPr>
          <p:nvPr/>
        </p:nvSpPr>
        <p:spPr>
          <a:xfrm xmlns:a="http://schemas.openxmlformats.org/drawingml/2006/main">
            <a:off x="5074920" y="5285232"/>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00" b="0">
                <a:solidFill>
                  <a:srgbClr val="506473"/>
                </a:solidFill>
                <a:latin typeface="Calibri"/>
                <a:ea typeface="Calibri"/>
                <a:cs typeface="Calibri"/>
              </a:defRPr>
            </a:pPr>
            <a:r>
              <a:rPr sz="1500" b="0">
                <a:solidFill>
                  <a:srgbClr val="506473"/>
                </a:solidFill>
                <a:latin typeface="Calibri"/>
                <a:ea typeface="Calibri"/>
                <a:cs typeface="Calibri"/>
              </a:rPr>
              <a:t>Agree quotation record requirement; update RTM after execution.</a:t>
            </a:r>
            <a:endParaRPr sz="1200"/>
          </a:p>
        </p:txBody>
      </p:sp>
    </p:spTree>
    <p:extLst>
      <p:ext uri="{BB962C8B-B14F-4D97-AF65-F5344CB8AC3E}">
        <p14:creationId xmlns:p14="http://schemas.microsoft.com/office/powerpoint/2010/main" val="452884028"/>
      </p:ext>
    </p:extLst>
  </p:cSld>
</p:sld>
</file>

<file path=ppt/slides/slide10.xml><?xml version="1.0" encoding="utf-8"?>
<p:sld xmlns:p="http://schemas.openxmlformats.org/presentationml/2006/main">
  <p:cSld>
    <p:bg>
      <p:bgPr>
        <a:solidFill xmlns:a="http://schemas.openxmlformats.org/drawingml/2006/main">
          <a:srgbClr val="0E2A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475A88-9125-44F5-8FB5-D918374A74A4}"/>
              </a:ext>
            </a:extLst>
          </p:cNvPr>
          <p:cNvSpPr>
            <a:spLocks xmlns:a="http://schemas.openxmlformats.org/drawingml/2006/main" noGrp="1"/>
          </p:cNvSpPr>
          <p:nvPr/>
        </p:nvSpPr>
        <p:spPr>
          <a:xfrm xmlns:a="http://schemas.openxmlformats.org/drawingml/2006/main">
            <a:off x="-1280160" y="3840480"/>
            <a:ext cx="4206240" cy="4206240"/>
          </a:xfrm>
          <a:prstGeom xmlns:a="http://schemas.openxmlformats.org/drawingml/2006/main" prst="ellipse">
            <a:avLst/>
          </a:prstGeom>
          <a:solidFill xmlns:a="http://schemas.openxmlformats.org/drawingml/2006/main">
            <a:srgbClr val="2A6F84">
              <a:alpha val="40000"/>
            </a:srgbClr>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328A480-ECE1-4361-860A-748A840A72A7}"/>
              </a:ext>
            </a:extLst>
          </p:cNvPr>
          <p:cNvSpPr>
            <a:spLocks xmlns:a="http://schemas.openxmlformats.org/drawingml/2006/main" noGrp="1"/>
          </p:cNvSpPr>
          <p:nvPr/>
        </p:nvSpPr>
        <p:spPr>
          <a:xfrm xmlns:a="http://schemas.openxmlformats.org/drawingml/2006/main">
            <a:off x="10881360" y="-822960"/>
            <a:ext cx="2560320" cy="2560320"/>
          </a:xfrm>
          <a:prstGeom xmlns:a="http://schemas.openxmlformats.org/drawingml/2006/main" prst="ellipse">
            <a:avLst/>
          </a:prstGeom>
          <a:solidFill xmlns:a="http://schemas.openxmlformats.org/drawingml/2006/main">
            <a:srgbClr val="CE9136">
              <a:alpha val="35000"/>
            </a:srgbClr>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3D437F1-E5BC-4D00-B88E-DE1A6FB84FF6}"/>
              </a:ext>
            </a:extLst>
          </p:cNvPr>
          <p:cNvSpPr>
            <a:spLocks xmlns:a="http://schemas.openxmlformats.org/drawingml/2006/main" noGrp="1"/>
          </p:cNvSpPr>
          <p:nvPr/>
        </p:nvSpPr>
        <p:spPr>
          <a:xfrm xmlns:a="http://schemas.openxmlformats.org/drawingml/2006/main">
            <a:off x="822960" y="12344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75" b="1">
                <a:solidFill>
                  <a:srgbClr val="F1AC4B"/>
                </a:solidFill>
                <a:latin typeface="Calibri"/>
                <a:ea typeface="Calibri"/>
                <a:cs typeface="Calibri"/>
              </a:defRPr>
            </a:pPr>
            <a:r>
              <a:rPr sz="1275" b="1" spc="200">
                <a:solidFill>
                  <a:srgbClr val="F1AC4B"/>
                </a:solidFill>
                <a:latin typeface="Calibri"/>
                <a:ea typeface="Calibri"/>
                <a:cs typeface="Calibri"/>
              </a:rPr>
              <a:t>ITERATION 2 DECISION</a:t>
            </a:r>
            <a:endParaRPr sz="1200"/>
          </a:p>
        </p:txBody>
      </p:sp>
      <p:sp>
        <p:nvSpPr>
          <p:cNvPr id="5" name="Text 3">
            <a:extLst xmlns:a="http://schemas.openxmlformats.org/drawingml/2006/main">
              <a:ext uri="{FF2B5EF4-FFF2-40B4-BE49-F238E27FC236}">
                <a16:creationId xmlns:a16="http://schemas.microsoft.com/office/drawing/2014/main" id="{78351608-FBDA-42C6-B10C-41BCDDB9CF0A}"/>
              </a:ext>
            </a:extLst>
          </p:cNvPr>
          <p:cNvSpPr>
            <a:spLocks xmlns:a="http://schemas.openxmlformats.org/drawingml/2006/main" noGrp="1"/>
          </p:cNvSpPr>
          <p:nvPr/>
        </p:nvSpPr>
        <p:spPr>
          <a:xfrm xmlns:a="http://schemas.openxmlformats.org/drawingml/2006/main">
            <a:off x="822960" y="1645920"/>
            <a:ext cx="969264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4200"/>
              </a:lnSpc>
              <a:buNone/>
              <a:defRPr sz="2925" b="1">
                <a:solidFill>
                  <a:srgbClr val="FFFFFF"/>
                </a:solidFill>
                <a:latin typeface="Cambria"/>
                <a:ea typeface="Cambria"/>
                <a:cs typeface="Cambria"/>
              </a:defRPr>
            </a:pPr>
            <a:r>
              <a:rPr sz="2925" b="1">
                <a:solidFill>
                  <a:srgbClr val="FFFFFF"/>
                </a:solidFill>
                <a:latin typeface="Cambria"/>
                <a:ea typeface="Cambria"/>
                <a:cs typeface="Cambria"/>
              </a:rPr>
              <a:t>Exit criteria remain unmet.</a:t>
            </a:r>
            <a:endParaRPr sz="3000"/>
          </a:p>
          <a:p xmlns:a="http://schemas.openxmlformats.org/drawingml/2006/main">
            <a:pPr marL="0" indent="0">
              <a:lnSpc>
                <a:spcPts val="4200"/>
              </a:lnSpc>
              <a:buNone/>
              <a:defRPr sz="2925" b="1">
                <a:solidFill>
                  <a:srgbClr val="FFFFFF"/>
                </a:solidFill>
                <a:latin typeface="Cambria"/>
                <a:ea typeface="Cambria"/>
                <a:cs typeface="Cambria"/>
              </a:defRPr>
            </a:pPr>
            <a:r>
              <a:rPr sz="2925" b="1">
                <a:solidFill>
                  <a:srgbClr val="FFFFFF"/>
                </a:solidFill>
                <a:latin typeface="Cambria"/>
                <a:ea typeface="Cambria"/>
                <a:cs typeface="Cambria"/>
              </a:rPr>
              <a:t>The recorded findings need</a:t>
            </a:r>
            <a:endParaRPr sz="3000"/>
          </a:p>
          <a:p xmlns:a="http://schemas.openxmlformats.org/drawingml/2006/main">
            <a:pPr marL="0" indent="0">
              <a:lnSpc>
                <a:spcPts val="4200"/>
              </a:lnSpc>
              <a:buNone/>
              <a:defRPr sz="2925" b="1">
                <a:solidFill>
                  <a:srgbClr val="FFFFFF"/>
                </a:solidFill>
                <a:latin typeface="Cambria"/>
                <a:ea typeface="Cambria"/>
                <a:cs typeface="Cambria"/>
              </a:defRPr>
            </a:pPr>
            <a:r>
              <a:rPr sz="2925" b="1">
                <a:solidFill>
                  <a:srgbClr val="FFFFFF"/>
                </a:solidFill>
                <a:latin typeface="Cambria"/>
                <a:ea typeface="Cambria"/>
                <a:cs typeface="Cambria"/>
              </a:rPr>
              <a:t>fixes and retesting.</a:t>
            </a:r>
            <a:endParaRPr sz="3000"/>
          </a:p>
        </p:txBody>
      </p:sp>
      <p:sp>
        <p:nvSpPr>
          <p:cNvPr id="6" name="Text 4">
            <a:extLst xmlns:a="http://schemas.openxmlformats.org/drawingml/2006/main">
              <a:ext uri="{FF2B5EF4-FFF2-40B4-BE49-F238E27FC236}">
                <a16:creationId xmlns:a16="http://schemas.microsoft.com/office/drawing/2014/main" id="{24791BB9-6524-4911-882E-FFB3DA36675C}"/>
              </a:ext>
            </a:extLst>
          </p:cNvPr>
          <p:cNvSpPr>
            <a:spLocks xmlns:a="http://schemas.openxmlformats.org/drawingml/2006/main" noGrp="1"/>
          </p:cNvSpPr>
          <p:nvPr/>
        </p:nvSpPr>
        <p:spPr>
          <a:xfrm xmlns:a="http://schemas.openxmlformats.org/drawingml/2006/main">
            <a:off x="822960" y="3886200"/>
            <a:ext cx="9692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2200"/>
              </a:lnSpc>
              <a:buNone/>
              <a:defRPr sz="1650" b="0">
                <a:solidFill>
                  <a:srgbClr val="BFD3DD"/>
                </a:solidFill>
                <a:latin typeface="Calibri"/>
                <a:ea typeface="Calibri"/>
                <a:cs typeface="Calibri"/>
              </a:defRPr>
            </a:pPr>
            <a:r>
              <a:rPr sz="1650" b="0">
                <a:solidFill>
                  <a:srgbClr val="BFD3DD"/>
                </a:solidFill>
                <a:latin typeface="Calibri"/>
                <a:ea typeface="Calibri"/>
                <a:cs typeface="Calibri"/>
              </a:rPr>
              <a:t>8 pass, 9 fail, 1 blocked on the tested baseline.</a:t>
            </a:r>
            <a:endParaRPr sz="1400"/>
          </a:p>
          <a:p xmlns:a="http://schemas.openxmlformats.org/drawingml/2006/main">
            <a:pPr marL="0" indent="0">
              <a:lnSpc>
                <a:spcPts val="2200"/>
              </a:lnSpc>
              <a:buNone/>
              <a:defRPr sz="1650" b="0">
                <a:solidFill>
                  <a:srgbClr val="BFD3DD"/>
                </a:solidFill>
                <a:latin typeface="Calibri"/>
                <a:ea typeface="Calibri"/>
                <a:cs typeface="Calibri"/>
              </a:defRPr>
            </a:pPr>
            <a:r>
              <a:rPr sz="1650" b="0">
                <a:solidFill>
                  <a:srgbClr val="BFD3DD"/>
                </a:solidFill>
                <a:latin typeface="Calibri"/>
                <a:ea typeface="Calibri"/>
                <a:cs typeface="Calibri"/>
              </a:rPr>
              <a:t>The 20 September update enters Iteration 3 QA.</a:t>
            </a:r>
            <a:endParaRPr sz="1400"/>
          </a:p>
        </p:txBody>
      </p:sp>
      <p:sp>
        <p:nvSpPr>
          <p:cNvPr id="7" name="Text 5">
            <a:extLst xmlns:a="http://schemas.openxmlformats.org/drawingml/2006/main">
              <a:ext uri="{FF2B5EF4-FFF2-40B4-BE49-F238E27FC236}">
                <a16:creationId xmlns:a16="http://schemas.microsoft.com/office/drawing/2014/main" id="{B980E677-6F5E-4ABA-B5FA-7BFC145AE4BB}"/>
              </a:ext>
            </a:extLst>
          </p:cNvPr>
          <p:cNvSpPr>
            <a:spLocks xmlns:a="http://schemas.openxmlformats.org/drawingml/2006/main" noGrp="1"/>
          </p:cNvSpPr>
          <p:nvPr/>
        </p:nvSpPr>
        <p:spPr>
          <a:xfrm xmlns:a="http://schemas.openxmlformats.org/drawingml/2006/main">
            <a:off x="822960" y="493776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CE9136"/>
                </a:solidFill>
                <a:latin typeface="Cambria"/>
                <a:ea typeface="Cambria"/>
                <a:cs typeface="Cambria"/>
              </a:rPr>
              <a:t>Questions</a:t>
            </a:r>
            <a:endParaRPr sz="2400"/>
          </a:p>
        </p:txBody>
      </p:sp>
    </p:spTree>
    <p:extLst>
      <p:ext uri="{BB962C8B-B14F-4D97-AF65-F5344CB8AC3E}">
        <p14:creationId xmlns:p14="http://schemas.microsoft.com/office/powerpoint/2010/main" val="206061724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2026-09-25T01:19:20.1880000Z</dcterms:created>
  <dcterms:modified xsi:type="dcterms:W3CDTF">2026-09-25T01:19:20.1880000Z</dcterms:modified>
</coreProperties>
</file>