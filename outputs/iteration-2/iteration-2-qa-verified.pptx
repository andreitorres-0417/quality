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e18b2965dfe4cea" /><Relationship Type="http://schemas.openxmlformats.org/officeDocument/2006/relationships/extended-properties" Target="/docProps/app.xml" Id="R251e9281549b4ffa" /><Relationship Type="http://schemas.openxmlformats.org/officeDocument/2006/relationships/officeDocument" Target="/ppt/presentation.xml" Id="Rd5b15f58868c495b" /></Relationships>
</file>

<file path=ppt/presentation.xml><?xml version="1.0" encoding="utf-8"?>
<p:presentation xmlns:p="http://schemas.openxmlformats.org/presentationml/2006/main">
  <p:sldMasterIdLst>
    <p:sldMasterId xmlns:r="http://schemas.openxmlformats.org/officeDocument/2006/relationships" id="2147483648" r:id="R69e02d42fcaa4ee1"/>
  </p:sldMasterIdLst>
  <p:notesMasterIdLst>
    <p:notesMasterId xmlns:r="http://schemas.openxmlformats.org/officeDocument/2006/relationships" r:id="Rccbc47d7b3a3494f"/>
  </p:notesMasterIdLst>
  <p:sldIdLst>
    <p:sldId xmlns:r="http://schemas.openxmlformats.org/officeDocument/2006/relationships" id="256" r:id="Raf36ba6f0ce14dba"/>
    <p:sldId xmlns:r="http://schemas.openxmlformats.org/officeDocument/2006/relationships" id="257" r:id="Rb0fea8befc654da5"/>
    <p:sldId xmlns:r="http://schemas.openxmlformats.org/officeDocument/2006/relationships" id="258" r:id="R39b24e504457436f"/>
    <p:sldId xmlns:r="http://schemas.openxmlformats.org/officeDocument/2006/relationships" id="259" r:id="Rf3098305b5594bfa"/>
    <p:sldId xmlns:r="http://schemas.openxmlformats.org/officeDocument/2006/relationships" id="260" r:id="R7243f4a9769842ff"/>
    <p:sldId xmlns:r="http://schemas.openxmlformats.org/officeDocument/2006/relationships" id="261" r:id="R63dbfab3b152421f"/>
    <p:sldId xmlns:r="http://schemas.openxmlformats.org/officeDocument/2006/relationships" id="262" r:id="R546e088e2ac3456c"/>
    <p:sldId xmlns:r="http://schemas.openxmlformats.org/officeDocument/2006/relationships" id="263" r:id="Rcefaf9af930c43fa"/>
    <p:sldId xmlns:r="http://schemas.openxmlformats.org/officeDocument/2006/relationships" id="264" r:id="R3105115f67f94ed7"/>
    <p:sldId xmlns:r="http://schemas.openxmlformats.org/officeDocument/2006/relationships" id="265" r:id="R3036b0bb05ac47d5"/>
    <p:sldId xmlns:r="http://schemas.openxmlformats.org/officeDocument/2006/relationships" id="266" r:id="Rd4b3e055f52b410e"/>
    <p:sldId xmlns:r="http://schemas.openxmlformats.org/officeDocument/2006/relationships" id="267" r:id="Rbc007b62cfa249d5"/>
    <p:sldId xmlns:r="http://schemas.openxmlformats.org/officeDocument/2006/relationships" id="268" r:id="R4a18edcc74d34647"/>
    <p:sldId xmlns:r="http://schemas.openxmlformats.org/officeDocument/2006/relationships" id="269" r:id="R965f7bfe49e24b4b"/>
    <p:sldId xmlns:r="http://schemas.openxmlformats.org/officeDocument/2006/relationships" id="270" r:id="R4035c3407bce45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fc5c25c0fa84970" /><Relationship Type="http://schemas.openxmlformats.org/officeDocument/2006/relationships/slideMaster" Target="/ppt/slideMasters/slideMaster1.xml" Id="R69e02d42fcaa4ee1" /><Relationship Type="http://schemas.openxmlformats.org/officeDocument/2006/relationships/notesMaster" Target="/ppt/notesMasters/notesMaster1.xml" Id="Rccbc47d7b3a3494f" /><Relationship Type="http://schemas.openxmlformats.org/officeDocument/2006/relationships/presProps" Target="/ppt/presProps.xml" Id="R9f91e7bfadc649c5" /><Relationship Type="http://schemas.openxmlformats.org/officeDocument/2006/relationships/viewProps" Target="/ppt/viewProps.xml" Id="R993a1b2dc1414464" /><Relationship Type="http://schemas.openxmlformats.org/officeDocument/2006/relationships/tableStyles" Target="/ppt/tableStyles.xml" Id="R3dd6ed570d4e4181" /><Relationship Type="http://schemas.openxmlformats.org/officeDocument/2006/relationships/slide" Target="/ppt/slides/slide1.xml" Id="Raf36ba6f0ce14dba" /><Relationship Type="http://schemas.openxmlformats.org/officeDocument/2006/relationships/slide" Target="/ppt/slides/slide2.xml" Id="Rb0fea8befc654da5" /><Relationship Type="http://schemas.openxmlformats.org/officeDocument/2006/relationships/slide" Target="/ppt/slides/slide3.xml" Id="R39b24e504457436f" /><Relationship Type="http://schemas.openxmlformats.org/officeDocument/2006/relationships/slide" Target="/ppt/slides/slide4.xml" Id="Rf3098305b5594bfa" /><Relationship Type="http://schemas.openxmlformats.org/officeDocument/2006/relationships/slide" Target="/ppt/slides/slide5.xml" Id="R7243f4a9769842ff" /><Relationship Type="http://schemas.openxmlformats.org/officeDocument/2006/relationships/slide" Target="/ppt/slides/slide6.xml" Id="R63dbfab3b152421f" /><Relationship Type="http://schemas.openxmlformats.org/officeDocument/2006/relationships/slide" Target="/ppt/slides/slide7.xml" Id="R546e088e2ac3456c" /><Relationship Type="http://schemas.openxmlformats.org/officeDocument/2006/relationships/slide" Target="/ppt/slides/slide8.xml" Id="Rcefaf9af930c43fa" /><Relationship Type="http://schemas.openxmlformats.org/officeDocument/2006/relationships/slide" Target="/ppt/slides/slide9.xml" Id="R3105115f67f94ed7" /><Relationship Type="http://schemas.openxmlformats.org/officeDocument/2006/relationships/slide" Target="/ppt/slides/slide10.xml" Id="R3036b0bb05ac47d5" /><Relationship Type="http://schemas.openxmlformats.org/officeDocument/2006/relationships/slide" Target="/ppt/slides/slide11.xml" Id="Rd4b3e055f52b410e" /><Relationship Type="http://schemas.openxmlformats.org/officeDocument/2006/relationships/slide" Target="/ppt/slides/slide12.xml" Id="Rbc007b62cfa249d5" /><Relationship Type="http://schemas.openxmlformats.org/officeDocument/2006/relationships/slide" Target="/ppt/slides/slide13.xml" Id="R4a18edcc74d34647" /><Relationship Type="http://schemas.openxmlformats.org/officeDocument/2006/relationships/slide" Target="/ppt/slides/slide14.xml" Id="R965f7bfe49e24b4b" /><Relationship Type="http://schemas.openxmlformats.org/officeDocument/2006/relationships/slide" Target="/ppt/slides/slide15.xml" Id="R4035c3407bce45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c9e376a71745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6d334ae34a4ab8" /><Relationship Type="http://schemas.openxmlformats.org/officeDocument/2006/relationships/notesMaster" Target="/ppt/notesMasters/notesMaster1.xml" Id="Rd9ed47976b1d48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c5c52abf46481d" /><Relationship Type="http://schemas.openxmlformats.org/officeDocument/2006/relationships/notesMaster" Target="/ppt/notesMasters/notesMaster1.xml" Id="R0aa9fa6171454d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b4ae2fdfab480a" /><Relationship Type="http://schemas.openxmlformats.org/officeDocument/2006/relationships/notesMaster" Target="/ppt/notesMasters/notesMaster1.xml" Id="R2738d5c5eb0947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ea7fdb99ac4b01" /><Relationship Type="http://schemas.openxmlformats.org/officeDocument/2006/relationships/notesMaster" Target="/ppt/notesMasters/notesMaster1.xml" Id="R453e75301bd742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1318bdcbb9456c" /><Relationship Type="http://schemas.openxmlformats.org/officeDocument/2006/relationships/notesMaster" Target="/ppt/notesMasters/notesMaster1.xml" Id="R56cc5cee640e4c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ca3540dcbf4a51" /><Relationship Type="http://schemas.openxmlformats.org/officeDocument/2006/relationships/notesMaster" Target="/ppt/notesMasters/notesMaster1.xml" Id="R7cd6ded036f544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2a8e489a2d432c" /><Relationship Type="http://schemas.openxmlformats.org/officeDocument/2006/relationships/notesMaster" Target="/ppt/notesMasters/notesMaster1.xml" Id="Re4fcc88dd8b44c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43fba6aee74880" /><Relationship Type="http://schemas.openxmlformats.org/officeDocument/2006/relationships/notesMaster" Target="/ppt/notesMasters/notesMaster1.xml" Id="R8be77eef1e3d43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d2a088746841a0" /><Relationship Type="http://schemas.openxmlformats.org/officeDocument/2006/relationships/notesMaster" Target="/ppt/notesMasters/notesMaster1.xml" Id="R6cd95e9ea98444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987afb4153460a" /><Relationship Type="http://schemas.openxmlformats.org/officeDocument/2006/relationships/notesMaster" Target="/ppt/notesMasters/notesMaster1.xml" Id="Rc4dbd8985d024f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7502b2e9df4a63" /><Relationship Type="http://schemas.openxmlformats.org/officeDocument/2006/relationships/notesMaster" Target="/ppt/notesMasters/notesMaster1.xml" Id="R3e8796d7eb444c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467d783bdb4eaf" /><Relationship Type="http://schemas.openxmlformats.org/officeDocument/2006/relationships/notesMaster" Target="/ppt/notesMasters/notesMaster1.xml" Id="R7d5bce738e714f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4f65dd90024b2c" /><Relationship Type="http://schemas.openxmlformats.org/officeDocument/2006/relationships/notesMaster" Target="/ppt/notesMasters/notesMaster1.xml" Id="R8d2278dd31984a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c23b87c08443ce" /><Relationship Type="http://schemas.openxmlformats.org/officeDocument/2006/relationships/notesMaster" Target="/ppt/notesMasters/notesMaster1.xml" Id="Rb3cb3daa985c48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c665c99bea483e" /><Relationship Type="http://schemas.openxmlformats.org/officeDocument/2006/relationships/notesMaster" Target="/ppt/notesMasters/notesMaster1.xml" Id="Ref8167ff004c4e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is the Iteration 2 QA report for JazGot Tours. The live verification run on 18 September 2026 covered the 18 cases actually listed in the original deck. Results are eight pass, nine fail and one blocked. The original deck said nineteen, but that was a counting error. These are tests of a local prototype with simulated authentication and payment.</a:t>
            </a:r>
          </a:p>
          <a:p xmlns:a="http://schemas.openxmlformats.org/drawingml/2006/main">
            <a:r>
              <a:t/>
            </a:r>
          </a:p>
          <a:p xmlns:a="http://schemas.openxmlformats.org/drawingml/2006/main">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Iteration 1 recorded seven passes and one PDF-download failure among eight customer-flow cases, giving 87.5 percent. Those earlier passes mainly established navigation and the presence of information. They did not establish that the information belonged to the customer. The raw JSON and written report used different labels for the PDF issue; both recorded that the download failed. The historical figures are taken from the supplied records, not a recreation of the old build.</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four objectives were to verify the PDF fix, preserve the working navigation, follow actual customer information between screens, and check invalid inputs. Retesting targets a particular reported bug. Regression testing checks whether previously working behavior still works. Negative testing passes when the app correctly rejects invalid input.</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We covered the customer booking path, checkout, dashboard and PDF export, data continuity, basic admin behavior, invalid inputs, and clean Windows installation. We did not test production payments, security, load, accessibility conformance or a browser matrix. UC identifiers here follow the Iteration 2 deck. Earlier documents used UC-003 for admin, so the workbook makes the current mapping explicit. Requirements are inferred from the implementation and supplied deck where no completed requirements were available.</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tested source is commit 90f5c44aa7eb1fe36d6820a36da27d9110740694. Custom color values use hex, and PDF capture excludes controls, but that does not prove export works. Supabase is present only as an unused client. A clean npm ci on Windows failed with EBADPLATFORM. To continue QA without changing submitted source, we used npm ci --force and built with network access for Google Fonts. Build and TypeScript passed. Lint reported five errors and one warning.</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PDF failure is now reproduced, not merely suspected. Clicking Download PDF Invoice produced no download, and the console reported an unsupported color function named lab. html2canvas renders the invoice region into an image, and jsPDF packages it as a PDF. The image-rendering step failed. BUG-001 remains open. The next case, checking PDF contents, is blocked because no file exists. No one should claim the PDF was opened or visually inspected.</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proposed fixes remain options for the development team. They can constrain capture styles to supported color values, change relevant theme values with visual regression checks, or generate the PDF from structured booking data. None of these proposals has been implemented in this QA run. The acceptance condition is a downloaded, readable and accurate invoice.</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Four confirmed customer-flow findings matter most here. A two-person booking with both add-ons totals 3,900 pesos, but checkout and the dashboard show one person and 1,350 pesos. The dashboard also substitutes a sample name. Payment accepts malformed nonempty card values. We separately tested an alphabetic card number, an impossible expiry format and an alphabetic CVC. All produced simulated success. Empty fields are correctly rejected, so the original claim that no validation exists was wrong. A past tour date was also accepted.</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There are eighteen cases: seven regression, one retest, six new functional cases, three negative cases and one setup case. The table shows the eleven cases beyond the seven regression cases, with their executed status. TC-009 is blocked by the failed PDF export. TC-017 fails the behavior written in the original deck, but its record-creation requirement still needs confirmation. Updated test data uses a future date so the old September 15 date does not accidentally become an invalid-input test.</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Eight tests passed, nine failed, and one was blocked. Seventeen of eighteen cases reached a pass or fail outcome, so execution completion is 94.44 percent. The executed-case pass rate is eight divided by seventeen, or 47.06 percent. Passing cases as a share of the whole planned set are eight divided by eighteen, or 44.44 percent. We report both denominators openly. The first and second iterations cover different sets, so their pass rates alone do not measure a decline in the software.</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We accounted for all eighteen cases. However, exit criteria are not met: the pass rate is below the target, PDF export fails, and high-severity booking-data and validation defects remain open. Entry was also conditional because the clean install failed and a workaround was needed. A completed QA report can report failed exit criteria. It does not certify release readiness. Severity and owner assignments are proposed; actual developer assignment remains pending.</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Additional findings are the Windows installation failure and a React hydration error on the quotation page. Hydration means React connects the server-rendered page to the interactive browser application. Different server and browser text can cause the error. All five admin routes returned HTTP 200 with content, but the quotation page raised error 418. It recovered visibly; it was not a blank-page crash. The quotation case also expected record submission, but only preview actions exist. That is a failed written case with a requirement clarification outstanding. Supabase remains an observation rather than a demonstrated live defect.</a:t>
            </a:r>
          </a:p>
          <a:p xmlns:a="http://schemas.openxmlformats.org/drawingml/2006/main">
            <a:pPr>
              <a:buNone/>
            </a:pPr>
            <a:r>
              <a:t/>
            </a:r>
          </a:p>
          <a:p xmlns:a="http://schemas.openxmlformats.org/drawingml/2006/main">
            <a:pPr>
              <a:buNone/>
            </a:pPr>
            <a:r>
              <a:t>Sources: execution results and evidence in test/iteration-2/evidence; baseline in test/first-iteration-test-cases.md. React error reference: https://react.dev/errors/418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Tests ran against the local production build using Playwright and headless Microsoft Edge, which uses Chromium. We saved screenshots, console output, a browser trace and per-case results. The PDF inspection was blocked because export failed. Authentication and payment are simulated. The app source and package files were not changed. The build required access to Google Fonts, and the install workaround is documented in the report.</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Our recommendations are to carry booking data through the customer journey, validate malformed inputs and past dates, fix PDF export, correct the platform-specific dependency, and resolve the quotation runtime error. Confirm the scope of quotation record creation before calling it a required production feature. Each implemented fix should receive its own retest and relevant regression checks. The QA team documents these actions; it has not implemented them in the submitted app.</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navigation checks pass, but the actual booking details are wrong and PDF export still fails. Eighteen cases are accounted for: eight passed, nine failed and one is blocked. Exit criteria are unmet. The corrected deck is accompanied by the execution workbook, detailed report and evidence. Questions can be answered from those records rather than from assumptions about a completed production booking.</a:t>
            </a:r>
          </a:p>
          <a:p xmlns:a="http://schemas.openxmlformats.org/drawingml/2006/main">
            <a:pPr>
              <a:buNone/>
            </a:pPr>
            <a:r>
              <a:t/>
            </a:r>
          </a:p>
          <a:p xmlns:a="http://schemas.openxmlformats.org/drawingml/2006/main">
            <a:pPr>
              <a:buNone/>
            </a:pPr>
            <a:r>
              <a:t>Sources: execution results and evidence in test/iteration-2/evidence; baseline in test/first-iteration-test-cases.md.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9684bfc83c41d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f163cd0a7c4714" /><Relationship Type="http://schemas.openxmlformats.org/officeDocument/2006/relationships/slideLayout" Target="/ppt/slideLayouts/slideLayout1.xml" Id="R2c633b1c47e242a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633b1c47e242a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598fd7a1374aa0" /><Relationship Type="http://schemas.openxmlformats.org/officeDocument/2006/relationships/notesSlide" Target="/ppt/notesSlides/notesSlide1.xml" Id="R898ead1ba0ef4d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71ca27f32f4d27" /><Relationship Type="http://schemas.openxmlformats.org/officeDocument/2006/relationships/notesSlide" Target="/ppt/notesSlides/notesSlide2.xml" Id="Rf2ace765c2114f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102e71c9df4b4e" /><Relationship Type="http://schemas.openxmlformats.org/officeDocument/2006/relationships/notesSlide" Target="/ppt/notesSlides/notesSlide3.xml" Id="R248177f83ad041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e3de95421746f7" /><Relationship Type="http://schemas.openxmlformats.org/officeDocument/2006/relationships/notesSlide" Target="/ppt/notesSlides/notesSlide4.xml" Id="R5393763f25174c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e7de1770514526" /><Relationship Type="http://schemas.openxmlformats.org/officeDocument/2006/relationships/notesSlide" Target="/ppt/notesSlides/notesSlide5.xml" Id="R79b5970a11b240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1e32609e874c1c" /><Relationship Type="http://schemas.openxmlformats.org/officeDocument/2006/relationships/notesSlide" Target="/ppt/notesSlides/notesSlide6.xml" Id="Rab5ae62de25641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b2048e029a4a3d" /><Relationship Type="http://schemas.openxmlformats.org/officeDocument/2006/relationships/notesSlide" Target="/ppt/notesSlides/notesSlide7.xml" Id="Rc32084120f3844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0068f208744889" /><Relationship Type="http://schemas.openxmlformats.org/officeDocument/2006/relationships/notesSlide" Target="/ppt/notesSlides/notesSlide8.xml" Id="R625c0fa904c641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482a5b332b4169" /><Relationship Type="http://schemas.openxmlformats.org/officeDocument/2006/relationships/notesSlide" Target="/ppt/notesSlides/notesSlide9.xml" Id="R13154bdb43c94d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e298e9de5f344bd" /><Relationship Type="http://schemas.openxmlformats.org/officeDocument/2006/relationships/chart" Target="/ppt/slides/charts/chart1.xml" Id="Rd01792b3c761493f" /><Relationship Type="http://schemas.openxmlformats.org/officeDocument/2006/relationships/notesSlide" Target="/ppt/notesSlides/notesSlide10.xml" Id="R996c48a1fd6542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5165b732854f40" /><Relationship Type="http://schemas.openxmlformats.org/officeDocument/2006/relationships/notesSlide" Target="/ppt/notesSlides/notesSlide11.xml" Id="Rc2c58a1c018145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f6e5b5defe4e9c" /><Relationship Type="http://schemas.openxmlformats.org/officeDocument/2006/relationships/notesSlide" Target="/ppt/notesSlides/notesSlide12.xml" Id="R9cd51834df2942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1a5ccf27fc48bb" /><Relationship Type="http://schemas.openxmlformats.org/officeDocument/2006/relationships/notesSlide" Target="/ppt/notesSlides/notesSlide13.xml" Id="Rfbd7b627089249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1ec51b2691f4d4e" /><Relationship Type="http://schemas.openxmlformats.org/officeDocument/2006/relationships/notesSlide" Target="/ppt/notesSlides/notesSlide14.xml" Id="Rc33c88b78e7d48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0ff5bb681ec42bf" /><Relationship Type="http://schemas.openxmlformats.org/officeDocument/2006/relationships/notesSlide" Target="/ppt/notesSlides/notesSlide15.xml" Id="R75a1b2036d7a4fc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solidFill>
                  <a:srgbClr val="0E2A38"/>
                </a:solidFill>
                <a:latin typeface="Calibri"/>
                <a:ea typeface="Calibri"/>
                <a:cs typeface="Calibri"/>
              </a:rPr>
              <a:t>Recorded case outcomes</a:t>
            </a:r>
          </a:p>
        </c:rich>
      </c:tx>
      <c:overlay val="0"/>
      <c:txPr>
        <a:bodyPr xmlns:a="http://schemas.openxmlformats.org/drawingml/2006/main" anchorCtr="1"/>
        <a:lstStyle xmlns:a="http://schemas.openxmlformats.org/drawingml/2006/main"/>
        <a:p xmlns:a="http://schemas.openxmlformats.org/drawingml/2006/main">
          <a:pPr>
            <a:defRPr sz="1350">
              <a:solidFill>
                <a:srgbClr val="0E2A38"/>
              </a:solidFill>
              <a:latin typeface="Calibri"/>
              <a:ea typeface="Calibri"/>
              <a:cs typeface="Calibri"/>
            </a:defRPr>
          </a:pPr>
        </a:p>
      </c:txPr>
    </c:title>
    <c:plotArea>
      <c:barChart>
        <c:barDir val="col"/>
        <c:grouping val="clustered"/>
        <c:varyColors val="0"/>
        <c:ser>
          <c:idx val="0"/>
          <c:order val="0"/>
          <c:tx>
            <c:v>Iteration 1</c:v>
          </c:tx>
          <c:spPr>
            <a:solidFill xmlns:a="http://schemas.openxmlformats.org/drawingml/2006/main">
              <a:srgbClr val="2A6F84"/>
            </a:solidFill>
          </c:spPr>
          <c:cat>
            <c:strRef>
              <c:f>'Chart Data'!$A$2:$A$5</c:f>
              <c:strCache>
                <c:ptCount val="4"/>
                <c:pt idx="0">
                  <c:v>Pass</c:v>
                </c:pt>
                <c:pt idx="1">
                  <c:v>Fail</c:v>
                </c:pt>
                <c:pt idx="2">
                  <c:v>Blocked</c:v>
                </c:pt>
                <c:pt idx="3">
                  <c:v>Not run</c:v>
                </c:pt>
              </c:strCache>
            </c:strRef>
          </c:cat>
          <c:val>
            <c:numRef>
              <c:f>'Chart Data'!$B$2:$B$5</c:f>
              <c:numCache>
                <c:formatCode>0</c:formatCode>
                <c:ptCount val="4"/>
                <c:pt idx="0">
                  <c:v>7</c:v>
                </c:pt>
                <c:pt idx="1">
                  <c:v>1</c:v>
                </c:pt>
                <c:pt idx="2">
                  <c:v>0</c:v>
                </c:pt>
                <c:pt idx="3">
                  <c:v>0</c:v>
                </c:pt>
              </c:numCache>
            </c:numRef>
          </c:val>
        </c:ser>
        <c:ser>
          <c:idx val="1"/>
          <c:order val="1"/>
          <c:tx>
            <c:v>Iteration 2</c:v>
          </c:tx>
          <c:spPr>
            <a:solidFill xmlns:a="http://schemas.openxmlformats.org/drawingml/2006/main">
              <a:srgbClr val="CE9136"/>
            </a:solidFill>
          </c:spPr>
          <c:cat>
            <c:strRef>
              <c:f>'Chart Data'!$C$2:$C$5</c:f>
              <c:strCache>
                <c:ptCount val="4"/>
                <c:pt idx="0">
                  <c:v>Pass</c:v>
                </c:pt>
                <c:pt idx="1">
                  <c:v>Fail</c:v>
                </c:pt>
                <c:pt idx="2">
                  <c:v>Blocked</c:v>
                </c:pt>
                <c:pt idx="3">
                  <c:v>Not run</c:v>
                </c:pt>
              </c:strCache>
            </c:strRef>
          </c:cat>
          <c:val>
            <c:numRef>
              <c:f>'Chart Data'!$D$2:$D$5</c:f>
              <c:numCache>
                <c:formatCode>0</c:formatCode>
                <c:ptCount val="4"/>
                <c:pt idx="0">
                  <c:v>8</c:v>
                </c:pt>
                <c:pt idx="1">
                  <c:v>9</c:v>
                </c:pt>
                <c:pt idx="2">
                  <c:v>1</c:v>
                </c:pt>
                <c:pt idx="3">
                  <c:v>0</c:v>
                </c:pt>
              </c:numCache>
            </c:numRef>
          </c:val>
        </c:ser>
        <c:dLbls>
          <c:txPr>
            <a:bodyPr xmlns:a="http://schemas.openxmlformats.org/drawingml/2006/main" anchorCtr="1"/>
            <a:lstStyle xmlns:a="http://schemas.openxmlformats.org/drawingml/2006/main"/>
            <a:p xmlns:a="http://schemas.openxmlformats.org/drawingml/2006/main">
              <a:pPr>
                <a:defRPr sz="1050">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Calibri"/>
                <a:ea typeface="Calibri"/>
                <a:cs typeface="Calibri"/>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Calibri"/>
                <a:ea typeface="Calibri"/>
                <a:cs typeface="Calibri"/>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latin typeface="Calibri"/>
              <a:ea typeface="Calibri"/>
              <a:cs typeface="Calibri"/>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2FD5A4C-A2BC-4108-BF77-AE284F556CCC}"/>
              </a:ext>
            </a:extLst>
          </p:cNvPr>
          <p:cNvSpPr>
            <a:spLocks xmlns:a="http://schemas.openxmlformats.org/drawingml/2006/main" noGrp="1"/>
          </p:cNvSpPr>
          <p:nvPr/>
        </p:nvSpPr>
        <p:spPr>
          <a:xfrm xmlns:a="http://schemas.openxmlformats.org/drawingml/2006/main">
            <a:off x="9326880" y="-1463040"/>
            <a:ext cx="4754880" cy="4754880"/>
          </a:xfrm>
          <a:prstGeom xmlns:a="http://schemas.openxmlformats.org/drawingml/2006/main" prst="ellipse">
            <a:avLst/>
          </a:prstGeom>
          <a:solidFill xmlns:a="http://schemas.openxmlformats.org/drawingml/2006/main">
            <a:srgbClr val="2A6F84">
              <a:alpha val="45000"/>
            </a:srgbClr>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379C3360-9E44-496D-89D3-6BA076F039C1}"/>
              </a:ext>
            </a:extLst>
          </p:cNvPr>
          <p:cNvSpPr>
            <a:spLocks xmlns:a="http://schemas.openxmlformats.org/drawingml/2006/main" noGrp="1"/>
          </p:cNvSpPr>
          <p:nvPr/>
        </p:nvSpPr>
        <p:spPr>
          <a:xfrm xmlns:a="http://schemas.openxmlformats.org/drawingml/2006/main">
            <a:off x="10607040" y="4206240"/>
            <a:ext cx="2377440" cy="2377440"/>
          </a:xfrm>
          <a:prstGeom xmlns:a="http://schemas.openxmlformats.org/drawingml/2006/main" prst="ellipse">
            <a:avLst/>
          </a:prstGeom>
          <a:solidFill xmlns:a="http://schemas.openxmlformats.org/drawingml/2006/main">
            <a:srgbClr val="CE9136">
              <a:alpha val="35000"/>
            </a:srgbClr>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4B72F48D-D76F-4C22-912A-8023D5E6E6D4}"/>
              </a:ext>
            </a:extLst>
          </p:cNvPr>
          <p:cNvSpPr>
            <a:spLocks xmlns:a="http://schemas.openxmlformats.org/drawingml/2006/main" noGrp="1"/>
          </p:cNvSpPr>
          <p:nvPr/>
        </p:nvSpPr>
        <p:spPr>
          <a:xfrm xmlns:a="http://schemas.openxmlformats.org/drawingml/2006/main">
            <a:off x="777240" y="132588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SOFTWARE QUALITY ASSURANCE  |  GROUP 02 - WASD</a:t>
            </a:r>
            <a:endParaRPr sz="1200"/>
          </a:p>
        </p:txBody>
      </p:sp>
      <p:sp>
        <p:nvSpPr>
          <p:cNvPr id="5" name="Text 3">
            <a:extLst xmlns:a="http://schemas.openxmlformats.org/drawingml/2006/main">
              <a:ext uri="{FF2B5EF4-FFF2-40B4-BE49-F238E27FC236}">
                <a16:creationId xmlns:a16="http://schemas.microsoft.com/office/drawing/2014/main" id="{06306A79-7B5E-409B-A46D-A2E3D85252BE}"/>
              </a:ext>
            </a:extLst>
          </p:cNvPr>
          <p:cNvSpPr>
            <a:spLocks xmlns:a="http://schemas.openxmlformats.org/drawingml/2006/main" noGrp="1"/>
          </p:cNvSpPr>
          <p:nvPr/>
        </p:nvSpPr>
        <p:spPr>
          <a:xfrm xmlns:a="http://schemas.openxmlformats.org/drawingml/2006/main">
            <a:off x="777240" y="1737360"/>
            <a:ext cx="877824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FFFFF"/>
                </a:solidFill>
                <a:latin typeface="Cambria"/>
                <a:ea typeface="Cambria"/>
                <a:cs typeface="Cambria"/>
              </a:rPr>
              <a:t>Iteration 2 Test Report</a:t>
            </a:r>
            <a:endParaRPr sz="4800"/>
          </a:p>
        </p:txBody>
      </p:sp>
      <p:sp>
        <p:nvSpPr>
          <p:cNvPr id="6" name="Text 4">
            <a:extLst xmlns:a="http://schemas.openxmlformats.org/drawingml/2006/main">
              <a:ext uri="{FF2B5EF4-FFF2-40B4-BE49-F238E27FC236}">
                <a16:creationId xmlns:a16="http://schemas.microsoft.com/office/drawing/2014/main" id="{D7F1E1D7-F98E-4882-B1CB-55A52715FBB7}"/>
              </a:ext>
            </a:extLst>
          </p:cNvPr>
          <p:cNvSpPr>
            <a:spLocks xmlns:a="http://schemas.openxmlformats.org/drawingml/2006/main" noGrp="1"/>
          </p:cNvSpPr>
          <p:nvPr/>
        </p:nvSpPr>
        <p:spPr>
          <a:xfrm xmlns:a="http://schemas.openxmlformats.org/drawingml/2006/main">
            <a:off x="777240" y="2743200"/>
            <a:ext cx="8778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BFD3DD"/>
                </a:solidFill>
                <a:latin typeface="Calibri"/>
                <a:ea typeface="Calibri"/>
                <a:cs typeface="Calibri"/>
              </a:rPr>
              <a:t>JazGot Tours — Booking, Payment and Invoice Flow</a:t>
            </a:r>
            <a:endParaRPr sz="1900"/>
          </a:p>
        </p:txBody>
      </p:sp>
      <p:sp>
        <p:nvSpPr>
          <p:cNvPr id="7" name="Shape 5">
            <a:extLst xmlns:a="http://schemas.openxmlformats.org/drawingml/2006/main">
              <a:ext uri="{FF2B5EF4-FFF2-40B4-BE49-F238E27FC236}">
                <a16:creationId xmlns:a16="http://schemas.microsoft.com/office/drawing/2014/main" id="{00426173-2627-4361-A117-5D05823920C3}"/>
              </a:ext>
            </a:extLst>
          </p:cNvPr>
          <p:cNvSpPr>
            <a:spLocks xmlns:a="http://schemas.openxmlformats.org/drawingml/2006/main" noGrp="1"/>
          </p:cNvSpPr>
          <p:nvPr/>
        </p:nvSpPr>
        <p:spPr>
          <a:xfrm xmlns:a="http://schemas.openxmlformats.org/drawingml/2006/main">
            <a:off x="777240" y="3429000"/>
            <a:ext cx="1005840" cy="32004"/>
          </a:xfrm>
          <a:prstGeom xmlns:a="http://schemas.openxmlformats.org/drawingml/2006/main" prst="rect">
            <a:avLst/>
          </a:prstGeom>
          <a:solidFill xmlns:a="http://schemas.openxmlformats.org/drawingml/2006/main">
            <a:srgbClr val="CE9136"/>
          </a:solidFill>
          <a:ln xmlns:a="http://schemas.openxmlformats.org/drawingml/2006/main" w="12700">
            <a:solidFill>
              <a:srgbClr val="CE913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B8A24879-82CD-492E-A342-89E3BCE06C92}"/>
              </a:ext>
            </a:extLst>
          </p:cNvPr>
          <p:cNvSpPr>
            <a:spLocks xmlns:a="http://schemas.openxmlformats.org/drawingml/2006/main" noGrp="1"/>
          </p:cNvSpPr>
          <p:nvPr/>
        </p:nvSpPr>
        <p:spPr>
          <a:xfrm xmlns:a="http://schemas.openxmlformats.org/drawingml/2006/main">
            <a:off x="777240" y="3703320"/>
            <a:ext cx="8778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2200"/>
              </a:lnSpc>
              <a:buNone/>
              <a:defRPr sz="1400" b="0">
                <a:solidFill>
                  <a:srgbClr val="9FB8C4"/>
                </a:solidFill>
                <a:latin typeface="Calibri"/>
                <a:ea typeface="Calibri"/>
                <a:cs typeface="Calibri"/>
              </a:defRPr>
            </a:pPr>
            <a:r>
              <a:rPr sz="1400" b="0">
                <a:solidFill>
                  <a:srgbClr val="9FB8C4"/>
                </a:solidFill>
                <a:latin typeface="Calibri"/>
                <a:ea typeface="Calibri"/>
                <a:cs typeface="Calibri"/>
              </a:rPr>
              <a:t>Executed QA: booking data, invoice export and invalid inputs</a:t>
            </a:r>
            <a:endParaRPr sz="1400"/>
          </a:p>
          <a:p xmlns:a="http://schemas.openxmlformats.org/drawingml/2006/main">
            <a:pPr marL="0" indent="0">
              <a:lnSpc>
                <a:spcPts val="2200"/>
              </a:lnSpc>
              <a:buNone/>
              <a:defRPr sz="1400" b="0">
                <a:solidFill>
                  <a:srgbClr val="9FB8C4"/>
                </a:solidFill>
                <a:latin typeface="Calibri"/>
                <a:ea typeface="Calibri"/>
                <a:cs typeface="Calibri"/>
              </a:defRPr>
            </a:pPr>
            <a:r>
              <a:rPr sz="1400" b="0">
                <a:solidFill>
                  <a:srgbClr val="9FB8C4"/>
                </a:solidFill>
                <a:latin typeface="Calibri"/>
                <a:ea typeface="Calibri"/>
                <a:cs typeface="Calibri"/>
              </a:rPr>
              <a:t>Verified 18 September 2026</a:t>
            </a:r>
            <a:endParaRPr sz="1400"/>
          </a:p>
        </p:txBody>
      </p:sp>
    </p:spTree>
    <p:extLst>
      <p:ext uri="{BB962C8B-B14F-4D97-AF65-F5344CB8AC3E}">
        <p14:creationId xmlns:p14="http://schemas.microsoft.com/office/powerpoint/2010/main" val="1656843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161157-7C6F-4739-8561-613B8291D405}"/>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RECAP</a:t>
            </a:r>
            <a:endParaRPr sz="1200"/>
          </a:p>
        </p:txBody>
      </p:sp>
      <p:sp>
        <p:nvSpPr>
          <p:cNvPr id="3" name="Text 1">
            <a:extLst xmlns:a="http://schemas.openxmlformats.org/drawingml/2006/main">
              <a:ext uri="{FF2B5EF4-FFF2-40B4-BE49-F238E27FC236}">
                <a16:creationId xmlns:a16="http://schemas.microsoft.com/office/drawing/2014/main" id="{FFF46A68-7D11-4609-82A3-118DA28838A6}"/>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Where Iteration 1 left off</a:t>
            </a:r>
            <a:endParaRPr sz="3400"/>
          </a:p>
        </p:txBody>
      </p:sp>
      <p:sp>
        <p:nvSpPr>
          <p:cNvPr id="4" name="Shape 2">
            <a:extLst xmlns:a="http://schemas.openxmlformats.org/drawingml/2006/main">
              <a:ext uri="{FF2B5EF4-FFF2-40B4-BE49-F238E27FC236}">
                <a16:creationId xmlns:a16="http://schemas.microsoft.com/office/drawing/2014/main" id="{C112FC1C-CF4B-42F9-B1B0-9598A1D4C899}"/>
              </a:ext>
            </a:extLst>
          </p:cNvPr>
          <p:cNvSpPr>
            <a:spLocks xmlns:a="http://schemas.openxmlformats.org/drawingml/2006/main" noGrp="1"/>
          </p:cNvSpPr>
          <p:nvPr/>
        </p:nvSpPr>
        <p:spPr>
          <a:xfrm xmlns:a="http://schemas.openxmlformats.org/drawingml/2006/main">
            <a:off x="640080"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63348FC-E818-4D29-8CD4-CE5C7F883C54}"/>
              </a:ext>
            </a:extLst>
          </p:cNvPr>
          <p:cNvSpPr>
            <a:spLocks xmlns:a="http://schemas.openxmlformats.org/drawingml/2006/main" noGrp="1"/>
          </p:cNvSpPr>
          <p:nvPr/>
        </p:nvSpPr>
        <p:spPr>
          <a:xfrm xmlns:a="http://schemas.openxmlformats.org/drawingml/2006/main">
            <a:off x="640080"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0E2A38"/>
                </a:solidFill>
                <a:latin typeface="Cambria"/>
                <a:ea typeface="Cambria"/>
                <a:cs typeface="Cambria"/>
              </a:rPr>
              <a:t>8</a:t>
            </a:r>
            <a:endParaRPr sz="5200"/>
          </a:p>
        </p:txBody>
      </p:sp>
      <p:sp>
        <p:nvSpPr>
          <p:cNvPr id="6" name="Text 4">
            <a:extLst xmlns:a="http://schemas.openxmlformats.org/drawingml/2006/main">
              <a:ext uri="{FF2B5EF4-FFF2-40B4-BE49-F238E27FC236}">
                <a16:creationId xmlns:a16="http://schemas.microsoft.com/office/drawing/2014/main" id="{FF179394-4E95-47E4-9C86-DB6DD70340A1}"/>
              </a:ext>
            </a:extLst>
          </p:cNvPr>
          <p:cNvSpPr>
            <a:spLocks xmlns:a="http://schemas.openxmlformats.org/drawingml/2006/main" noGrp="1"/>
          </p:cNvSpPr>
          <p:nvPr/>
        </p:nvSpPr>
        <p:spPr>
          <a:xfrm xmlns:a="http://schemas.openxmlformats.org/drawingml/2006/main">
            <a:off x="640080"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Test cases executed</a:t>
            </a:r>
            <a:endParaRPr sz="1200"/>
          </a:p>
        </p:txBody>
      </p:sp>
      <p:sp>
        <p:nvSpPr>
          <p:cNvPr id="7" name="Shape 5">
            <a:extLst xmlns:a="http://schemas.openxmlformats.org/drawingml/2006/main">
              <a:ext uri="{FF2B5EF4-FFF2-40B4-BE49-F238E27FC236}">
                <a16:creationId xmlns:a16="http://schemas.microsoft.com/office/drawing/2014/main" id="{B7608CF4-56AA-444F-9BF3-144E2DBC32A9}"/>
              </a:ext>
            </a:extLst>
          </p:cNvPr>
          <p:cNvSpPr>
            <a:spLocks xmlns:a="http://schemas.openxmlformats.org/drawingml/2006/main" noGrp="1"/>
          </p:cNvSpPr>
          <p:nvPr/>
        </p:nvSpPr>
        <p:spPr>
          <a:xfrm xmlns:a="http://schemas.openxmlformats.org/drawingml/2006/main">
            <a:off x="3438144"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0B7735E-78C0-4540-8E7D-768428F45A18}"/>
              </a:ext>
            </a:extLst>
          </p:cNvPr>
          <p:cNvSpPr>
            <a:spLocks xmlns:a="http://schemas.openxmlformats.org/drawingml/2006/main" noGrp="1"/>
          </p:cNvSpPr>
          <p:nvPr/>
        </p:nvSpPr>
        <p:spPr>
          <a:xfrm xmlns:a="http://schemas.openxmlformats.org/drawingml/2006/main">
            <a:off x="3438144"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2E7D5B"/>
                </a:solidFill>
                <a:latin typeface="Cambria"/>
                <a:ea typeface="Cambria"/>
                <a:cs typeface="Cambria"/>
              </a:rPr>
              <a:t>7</a:t>
            </a:r>
            <a:endParaRPr sz="5200"/>
          </a:p>
        </p:txBody>
      </p:sp>
      <p:sp>
        <p:nvSpPr>
          <p:cNvPr id="9" name="Text 7">
            <a:extLst xmlns:a="http://schemas.openxmlformats.org/drawingml/2006/main">
              <a:ext uri="{FF2B5EF4-FFF2-40B4-BE49-F238E27FC236}">
                <a16:creationId xmlns:a16="http://schemas.microsoft.com/office/drawing/2014/main" id="{BC6A682D-042D-4219-8507-A288AD6DFE05}"/>
              </a:ext>
            </a:extLst>
          </p:cNvPr>
          <p:cNvSpPr>
            <a:spLocks xmlns:a="http://schemas.openxmlformats.org/drawingml/2006/main" noGrp="1"/>
          </p:cNvSpPr>
          <p:nvPr/>
        </p:nvSpPr>
        <p:spPr>
          <a:xfrm xmlns:a="http://schemas.openxmlformats.org/drawingml/2006/main">
            <a:off x="3438144"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Passed</a:t>
            </a:r>
            <a:endParaRPr sz="1200"/>
          </a:p>
        </p:txBody>
      </p:sp>
      <p:sp>
        <p:nvSpPr>
          <p:cNvPr id="10" name="Shape 8">
            <a:extLst xmlns:a="http://schemas.openxmlformats.org/drawingml/2006/main">
              <a:ext uri="{FF2B5EF4-FFF2-40B4-BE49-F238E27FC236}">
                <a16:creationId xmlns:a16="http://schemas.microsoft.com/office/drawing/2014/main" id="{2EB31892-2B75-45BF-9E29-6555467225F7}"/>
              </a:ext>
            </a:extLst>
          </p:cNvPr>
          <p:cNvSpPr>
            <a:spLocks xmlns:a="http://schemas.openxmlformats.org/drawingml/2006/main" noGrp="1"/>
          </p:cNvSpPr>
          <p:nvPr/>
        </p:nvSpPr>
        <p:spPr>
          <a:xfrm xmlns:a="http://schemas.openxmlformats.org/drawingml/2006/main">
            <a:off x="6236208"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6D9BB555-6745-4854-9F91-6CD71582DD38}"/>
              </a:ext>
            </a:extLst>
          </p:cNvPr>
          <p:cNvSpPr>
            <a:spLocks xmlns:a="http://schemas.openxmlformats.org/drawingml/2006/main" noGrp="1"/>
          </p:cNvSpPr>
          <p:nvPr/>
        </p:nvSpPr>
        <p:spPr>
          <a:xfrm xmlns:a="http://schemas.openxmlformats.org/drawingml/2006/main">
            <a:off x="6236208"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B4432F"/>
                </a:solidFill>
                <a:latin typeface="Cambria"/>
                <a:ea typeface="Cambria"/>
                <a:cs typeface="Cambria"/>
              </a:rPr>
              <a:t>1</a:t>
            </a:r>
            <a:endParaRPr sz="5200"/>
          </a:p>
        </p:txBody>
      </p:sp>
      <p:sp>
        <p:nvSpPr>
          <p:cNvPr id="12" name="Text 10">
            <a:extLst xmlns:a="http://schemas.openxmlformats.org/drawingml/2006/main">
              <a:ext uri="{FF2B5EF4-FFF2-40B4-BE49-F238E27FC236}">
                <a16:creationId xmlns:a16="http://schemas.microsoft.com/office/drawing/2014/main" id="{39FDB320-BA38-47B3-8921-1784228DA336}"/>
              </a:ext>
            </a:extLst>
          </p:cNvPr>
          <p:cNvSpPr>
            <a:spLocks xmlns:a="http://schemas.openxmlformats.org/drawingml/2006/main" noGrp="1"/>
          </p:cNvSpPr>
          <p:nvPr/>
        </p:nvSpPr>
        <p:spPr>
          <a:xfrm xmlns:a="http://schemas.openxmlformats.org/drawingml/2006/main">
            <a:off x="6236208"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Failed</a:t>
            </a:r>
            <a:endParaRPr sz="1200"/>
          </a:p>
        </p:txBody>
      </p:sp>
      <p:sp>
        <p:nvSpPr>
          <p:cNvPr id="13" name="Shape 11">
            <a:extLst xmlns:a="http://schemas.openxmlformats.org/drawingml/2006/main">
              <a:ext uri="{FF2B5EF4-FFF2-40B4-BE49-F238E27FC236}">
                <a16:creationId xmlns:a16="http://schemas.microsoft.com/office/drawing/2014/main" id="{A2E9F460-68A6-4AFF-BA1A-88B28006EEFB}"/>
              </a:ext>
            </a:extLst>
          </p:cNvPr>
          <p:cNvSpPr>
            <a:spLocks xmlns:a="http://schemas.openxmlformats.org/drawingml/2006/main" noGrp="1"/>
          </p:cNvSpPr>
          <p:nvPr/>
        </p:nvSpPr>
        <p:spPr>
          <a:xfrm xmlns:a="http://schemas.openxmlformats.org/drawingml/2006/main">
            <a:off x="9034272"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73372DE6-FD54-4537-9094-39DEF4664C3E}"/>
              </a:ext>
            </a:extLst>
          </p:cNvPr>
          <p:cNvSpPr>
            <a:spLocks xmlns:a="http://schemas.openxmlformats.org/drawingml/2006/main" noGrp="1"/>
          </p:cNvSpPr>
          <p:nvPr/>
        </p:nvSpPr>
        <p:spPr>
          <a:xfrm xmlns:a="http://schemas.openxmlformats.org/drawingml/2006/main">
            <a:off x="9034272"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C08321"/>
                </a:solidFill>
                <a:latin typeface="Cambria"/>
                <a:ea typeface="Cambria"/>
                <a:cs typeface="Cambria"/>
              </a:rPr>
              <a:t>87.5%</a:t>
            </a:r>
            <a:endParaRPr sz="5200"/>
          </a:p>
        </p:txBody>
      </p:sp>
      <p:sp>
        <p:nvSpPr>
          <p:cNvPr id="15" name="Text 13">
            <a:extLst xmlns:a="http://schemas.openxmlformats.org/drawingml/2006/main">
              <a:ext uri="{FF2B5EF4-FFF2-40B4-BE49-F238E27FC236}">
                <a16:creationId xmlns:a16="http://schemas.microsoft.com/office/drawing/2014/main" id="{45E1E83E-055F-4E74-9E16-ADA348A6E96F}"/>
              </a:ext>
            </a:extLst>
          </p:cNvPr>
          <p:cNvSpPr>
            <a:spLocks xmlns:a="http://schemas.openxmlformats.org/drawingml/2006/main" noGrp="1"/>
          </p:cNvSpPr>
          <p:nvPr/>
        </p:nvSpPr>
        <p:spPr>
          <a:xfrm xmlns:a="http://schemas.openxmlformats.org/drawingml/2006/main">
            <a:off x="9034272"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Pass rate</a:t>
            </a:r>
            <a:endParaRPr sz="1200"/>
          </a:p>
        </p:txBody>
      </p:sp>
      <p:sp>
        <p:nvSpPr>
          <p:cNvPr id="16" name="Shape 14">
            <a:extLst xmlns:a="http://schemas.openxmlformats.org/drawingml/2006/main">
              <a:ext uri="{FF2B5EF4-FFF2-40B4-BE49-F238E27FC236}">
                <a16:creationId xmlns:a16="http://schemas.microsoft.com/office/drawing/2014/main" id="{70D3620C-D55E-4B24-8CF3-709D5CACBCE5}"/>
              </a:ext>
            </a:extLst>
          </p:cNvPr>
          <p:cNvSpPr>
            <a:spLocks xmlns:a="http://schemas.openxmlformats.org/drawingml/2006/main" noGrp="1"/>
          </p:cNvSpPr>
          <p:nvPr/>
        </p:nvSpPr>
        <p:spPr>
          <a:xfrm xmlns:a="http://schemas.openxmlformats.org/drawingml/2006/main">
            <a:off x="640080" y="3657600"/>
            <a:ext cx="5394960" cy="233172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78707FA-5963-4903-A223-56648C5F3A0A}"/>
              </a:ext>
            </a:extLst>
          </p:cNvPr>
          <p:cNvSpPr>
            <a:spLocks xmlns:a="http://schemas.openxmlformats.org/drawingml/2006/main" noGrp="1"/>
          </p:cNvSpPr>
          <p:nvPr/>
        </p:nvSpPr>
        <p:spPr>
          <a:xfrm xmlns:a="http://schemas.openxmlformats.org/drawingml/2006/main">
            <a:off x="868680" y="3840480"/>
            <a:ext cx="49377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E7D5B"/>
                </a:solidFill>
                <a:latin typeface="Calibri"/>
                <a:ea typeface="Calibri"/>
                <a:cs typeface="Calibri"/>
              </a:rPr>
              <a:t>What passed</a:t>
            </a:r>
            <a:endParaRPr sz="1500"/>
          </a:p>
        </p:txBody>
      </p:sp>
      <p:sp>
        <p:nvSpPr>
          <p:cNvPr id="18" name="Text 16">
            <a:extLst xmlns:a="http://schemas.openxmlformats.org/drawingml/2006/main">
              <a:ext uri="{FF2B5EF4-FFF2-40B4-BE49-F238E27FC236}">
                <a16:creationId xmlns:a16="http://schemas.microsoft.com/office/drawing/2014/main" id="{7B045378-7EEF-4059-9494-F153992ED875}"/>
              </a:ext>
            </a:extLst>
          </p:cNvPr>
          <p:cNvSpPr>
            <a:spLocks xmlns:a="http://schemas.openxmlformats.org/drawingml/2006/main" noGrp="1"/>
          </p:cNvSpPr>
          <p:nvPr/>
        </p:nvSpPr>
        <p:spPr>
          <a:xfrm xmlns:a="http://schemas.openxmlformats.org/drawingml/2006/main">
            <a:off x="868680" y="4224528"/>
            <a:ext cx="493776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spcAft>
                <a:spcPts val="700"/>
              </a:spcAft>
              <a:buSzPct val="100000"/>
              <a:buChar char="•"/>
            </a:pPr>
            <a:r>
              <a:rPr sz="1250">
                <a:solidFill>
                  <a:srgbClr val="0E2A38"/>
                </a:solidFill>
                <a:latin typeface="Calibri"/>
                <a:ea typeface="Calibri"/>
                <a:cs typeface="Calibri"/>
              </a:rPr>
              <a:t>UC-001 Browse and Book a Tour Package — TC-001 to TC-005, all passed</a:t>
            </a:r>
            <a:endParaRPr sz="1250"/>
          </a:p>
          <a:p xmlns:a="http://schemas.openxmlformats.org/drawingml/2006/main">
            <a:pPr marL="342900" indent="-342900">
              <a:spcAft>
                <a:spcPts val="700"/>
              </a:spcAft>
              <a:buSzPct val="100000"/>
              <a:buChar char="•"/>
            </a:pPr>
            <a:r>
              <a:rPr sz="1250">
                <a:solidFill>
                  <a:srgbClr val="0E2A38"/>
                </a:solidFill>
                <a:latin typeface="Calibri"/>
                <a:ea typeface="Calibri"/>
                <a:cs typeface="Calibri"/>
              </a:rPr>
              <a:t>UC-002 checkout payment and dashboard display — TC-006, TC-007 passed</a:t>
            </a:r>
            <a:endParaRPr sz="1250"/>
          </a:p>
          <a:p xmlns:a="http://schemas.openxmlformats.org/drawingml/2006/main">
            <a:pPr marL="342900" indent="-342900">
              <a:spcAft>
                <a:spcPts val="700"/>
              </a:spcAft>
              <a:buSzPct val="100000"/>
              <a:buChar char="•"/>
            </a:pPr>
            <a:r>
              <a:rPr sz="1250">
                <a:solidFill>
                  <a:srgbClr val="0E2A38"/>
                </a:solidFill>
                <a:latin typeface="Calibri"/>
                <a:ea typeface="Calibri"/>
                <a:cs typeface="Calibri"/>
              </a:rPr>
              <a:t>Production build and all primary routes reachable</a:t>
            </a:r>
            <a:endParaRPr sz="1250"/>
          </a:p>
        </p:txBody>
      </p:sp>
      <p:sp>
        <p:nvSpPr>
          <p:cNvPr id="19" name="Shape 17">
            <a:extLst xmlns:a="http://schemas.openxmlformats.org/drawingml/2006/main">
              <a:ext uri="{FF2B5EF4-FFF2-40B4-BE49-F238E27FC236}">
                <a16:creationId xmlns:a16="http://schemas.microsoft.com/office/drawing/2014/main" id="{C948A71F-4F6D-4878-9AAB-649959CD9524}"/>
              </a:ext>
            </a:extLst>
          </p:cNvPr>
          <p:cNvSpPr>
            <a:spLocks xmlns:a="http://schemas.openxmlformats.org/drawingml/2006/main" noGrp="1"/>
          </p:cNvSpPr>
          <p:nvPr/>
        </p:nvSpPr>
        <p:spPr>
          <a:xfrm xmlns:a="http://schemas.openxmlformats.org/drawingml/2006/main">
            <a:off x="6309360" y="3657600"/>
            <a:ext cx="5212080" cy="233172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D34E68A9-B77B-455D-A21E-0213123A1A79}"/>
              </a:ext>
            </a:extLst>
          </p:cNvPr>
          <p:cNvSpPr>
            <a:spLocks xmlns:a="http://schemas.openxmlformats.org/drawingml/2006/main" noGrp="1"/>
          </p:cNvSpPr>
          <p:nvPr/>
        </p:nvSpPr>
        <p:spPr>
          <a:xfrm xmlns:a="http://schemas.openxmlformats.org/drawingml/2006/main">
            <a:off x="6537960" y="3840480"/>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B4432F"/>
                </a:solidFill>
                <a:latin typeface="Calibri"/>
                <a:ea typeface="Calibri"/>
                <a:cs typeface="Calibri"/>
              </a:rPr>
              <a:t>What failed — BUG-001</a:t>
            </a:r>
            <a:endParaRPr sz="1500"/>
          </a:p>
        </p:txBody>
      </p:sp>
      <p:sp>
        <p:nvSpPr>
          <p:cNvPr id="21" name="Text 19">
            <a:extLst xmlns:a="http://schemas.openxmlformats.org/drawingml/2006/main">
              <a:ext uri="{FF2B5EF4-FFF2-40B4-BE49-F238E27FC236}">
                <a16:creationId xmlns:a16="http://schemas.microsoft.com/office/drawing/2014/main" id="{448E6F47-1699-4B73-BFC2-63682FF037F6}"/>
              </a:ext>
            </a:extLst>
          </p:cNvPr>
          <p:cNvSpPr>
            <a:spLocks xmlns:a="http://schemas.openxmlformats.org/drawingml/2006/main" noGrp="1"/>
          </p:cNvSpPr>
          <p:nvPr/>
        </p:nvSpPr>
        <p:spPr>
          <a:xfrm xmlns:a="http://schemas.openxmlformats.org/drawingml/2006/main">
            <a:off x="6537960" y="4224528"/>
            <a:ext cx="475488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spcAft>
                <a:spcPts val="700"/>
              </a:spcAft>
              <a:buSzPct val="100000"/>
              <a:buChar char="•"/>
            </a:pPr>
            <a:r>
              <a:rPr sz="1250">
                <a:solidFill>
                  <a:srgbClr val="0E2A38"/>
                </a:solidFill>
                <a:latin typeface="Calibri"/>
                <a:ea typeface="Calibri"/>
                <a:cs typeface="Calibri"/>
              </a:rPr>
              <a:t>TC-008 Download invoice PDF — no file produced</a:t>
            </a:r>
            <a:endParaRPr sz="1250"/>
          </a:p>
          <a:p xmlns:a="http://schemas.openxmlformats.org/drawingml/2006/main">
            <a:pPr marL="342900" indent="-342900">
              <a:spcAft>
                <a:spcPts val="700"/>
              </a:spcAft>
              <a:buSzPct val="100000"/>
              <a:buChar char="•"/>
            </a:pPr>
            <a:r>
              <a:rPr sz="1250">
                <a:solidFill>
                  <a:srgbClr val="0E2A38"/>
                </a:solidFill>
                <a:latin typeface="Calibri"/>
                <a:ea typeface="Calibri"/>
                <a:cs typeface="Calibri"/>
              </a:rPr>
              <a:t>Console error: unsupported color function "lab" from html2canvas</a:t>
            </a:r>
            <a:endParaRPr sz="1250"/>
          </a:p>
          <a:p xmlns:a="http://schemas.openxmlformats.org/drawingml/2006/main">
            <a:pPr marL="342900" indent="-342900">
              <a:spcAft>
                <a:spcPts val="700"/>
              </a:spcAft>
              <a:buSzPct val="100000"/>
              <a:buChar char="•"/>
            </a:pPr>
            <a:r>
              <a:rPr sz="1250">
                <a:solidFill>
                  <a:srgbClr val="0E2A38"/>
                </a:solidFill>
                <a:latin typeface="Calibri"/>
                <a:ea typeface="Calibri"/>
                <a:cs typeface="Calibri"/>
              </a:rPr>
              <a:t>Severity Medium, left Open at the close of Iteration 1</a:t>
            </a:r>
            <a:endParaRPr sz="1250"/>
          </a:p>
        </p:txBody>
      </p:sp>
    </p:spTree>
    <p:extLst>
      <p:ext uri="{BB962C8B-B14F-4D97-AF65-F5344CB8AC3E}">
        <p14:creationId xmlns:p14="http://schemas.microsoft.com/office/powerpoint/2010/main" val="16589304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367B6EC-3AAA-4D59-8D86-EF315B271B3B}"/>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OBJECTIVES</a:t>
            </a:r>
            <a:endParaRPr sz="1200"/>
          </a:p>
        </p:txBody>
      </p:sp>
      <p:sp>
        <p:nvSpPr>
          <p:cNvPr id="3" name="Text 1">
            <a:extLst xmlns:a="http://schemas.openxmlformats.org/drawingml/2006/main">
              <a:ext uri="{FF2B5EF4-FFF2-40B4-BE49-F238E27FC236}">
                <a16:creationId xmlns:a16="http://schemas.microsoft.com/office/drawing/2014/main" id="{D6426CC9-8ABA-4E66-B380-2097020DC35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What Iteration 2 checked</a:t>
            </a:r>
            <a:endParaRPr sz="3400"/>
          </a:p>
        </p:txBody>
      </p:sp>
      <p:sp>
        <p:nvSpPr>
          <p:cNvPr id="4" name="Shape 2">
            <a:extLst xmlns:a="http://schemas.openxmlformats.org/drawingml/2006/main">
              <a:ext uri="{FF2B5EF4-FFF2-40B4-BE49-F238E27FC236}">
                <a16:creationId xmlns:a16="http://schemas.microsoft.com/office/drawing/2014/main" id="{5BEA6A19-0760-4293-AEB1-41A2F2996A88}"/>
              </a:ext>
            </a:extLst>
          </p:cNvPr>
          <p:cNvSpPr>
            <a:spLocks xmlns:a="http://schemas.openxmlformats.org/drawingml/2006/main" noGrp="1"/>
          </p:cNvSpPr>
          <p:nvPr/>
        </p:nvSpPr>
        <p:spPr>
          <a:xfrm xmlns:a="http://schemas.openxmlformats.org/drawingml/2006/main">
            <a:off x="640080" y="1572768"/>
            <a:ext cx="10881360" cy="987552"/>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030673B2-2BAA-464B-B6BE-4ACAB38929DC}"/>
              </a:ext>
            </a:extLst>
          </p:cNvPr>
          <p:cNvSpPr>
            <a:spLocks xmlns:a="http://schemas.openxmlformats.org/drawingml/2006/main" noGrp="1"/>
          </p:cNvSpPr>
          <p:nvPr/>
        </p:nvSpPr>
        <p:spPr>
          <a:xfrm xmlns:a="http://schemas.openxmlformats.org/drawingml/2006/main">
            <a:off x="914400" y="1874520"/>
            <a:ext cx="384048" cy="384048"/>
          </a:xfrm>
          <a:prstGeom xmlns:a="http://schemas.openxmlformats.org/drawingml/2006/main" prst="ellipse">
            <a:avLst/>
          </a:prstGeom>
          <a:solidFill xmlns:a="http://schemas.openxmlformats.org/drawingml/2006/main">
            <a:srgbClr val="CE9136"/>
          </a:solidFill>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B324895-9D35-4AD9-AA60-E6B3AD7C01AF}"/>
              </a:ext>
            </a:extLst>
          </p:cNvPr>
          <p:cNvSpPr>
            <a:spLocks xmlns:a="http://schemas.openxmlformats.org/drawingml/2006/main" noGrp="1"/>
          </p:cNvSpPr>
          <p:nvPr/>
        </p:nvSpPr>
        <p:spPr>
          <a:xfrm xmlns:a="http://schemas.openxmlformats.org/drawingml/2006/main">
            <a:off x="914400" y="187452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01</a:t>
            </a:r>
            <a:endParaRPr sz="1300"/>
          </a:p>
        </p:txBody>
      </p:sp>
      <p:sp>
        <p:nvSpPr>
          <p:cNvPr id="7" name="Text 5">
            <a:extLst xmlns:a="http://schemas.openxmlformats.org/drawingml/2006/main">
              <a:ext uri="{FF2B5EF4-FFF2-40B4-BE49-F238E27FC236}">
                <a16:creationId xmlns:a16="http://schemas.microsoft.com/office/drawing/2014/main" id="{A2114712-A3B0-4D8A-A1EA-81A3A8A8E55C}"/>
              </a:ext>
            </a:extLst>
          </p:cNvPr>
          <p:cNvSpPr>
            <a:spLocks xmlns:a="http://schemas.openxmlformats.org/drawingml/2006/main" noGrp="1"/>
          </p:cNvSpPr>
          <p:nvPr/>
        </p:nvSpPr>
        <p:spPr>
          <a:xfrm xmlns:a="http://schemas.openxmlformats.org/drawingml/2006/main">
            <a:off x="1481328" y="1719072"/>
            <a:ext cx="3017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2A38"/>
                </a:solidFill>
                <a:latin typeface="Calibri"/>
                <a:ea typeface="Calibri"/>
                <a:cs typeface="Calibri"/>
              </a:rPr>
              <a:t>Close BUG-001</a:t>
            </a:r>
            <a:endParaRPr sz="1500"/>
          </a:p>
        </p:txBody>
      </p:sp>
      <p:sp>
        <p:nvSpPr>
          <p:cNvPr id="8" name="Text 6">
            <a:extLst xmlns:a="http://schemas.openxmlformats.org/drawingml/2006/main">
              <a:ext uri="{FF2B5EF4-FFF2-40B4-BE49-F238E27FC236}">
                <a16:creationId xmlns:a16="http://schemas.microsoft.com/office/drawing/2014/main" id="{1231434B-E30C-4818-9A5C-1EC4D6089048}"/>
              </a:ext>
            </a:extLst>
          </p:cNvPr>
          <p:cNvSpPr>
            <a:spLocks xmlns:a="http://schemas.openxmlformats.org/drawingml/2006/main" noGrp="1"/>
          </p:cNvSpPr>
          <p:nvPr/>
        </p:nvSpPr>
        <p:spPr>
          <a:xfrm xmlns:a="http://schemas.openxmlformats.org/drawingml/2006/main">
            <a:off x="4572000" y="1719072"/>
            <a:ext cx="672084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A7383"/>
                </a:solidFill>
                <a:latin typeface="Calibri"/>
                <a:ea typeface="Calibri"/>
                <a:cs typeface="Calibri"/>
              </a:rPr>
              <a:t>Retest TC-008 against the current build and confirm a real PDF is produced and readable, not just that the click stops erroring.</a:t>
            </a:r>
            <a:endParaRPr sz="1250"/>
          </a:p>
        </p:txBody>
      </p:sp>
      <p:sp>
        <p:nvSpPr>
          <p:cNvPr id="9" name="Shape 7">
            <a:extLst xmlns:a="http://schemas.openxmlformats.org/drawingml/2006/main">
              <a:ext uri="{FF2B5EF4-FFF2-40B4-BE49-F238E27FC236}">
                <a16:creationId xmlns:a16="http://schemas.microsoft.com/office/drawing/2014/main" id="{8C4C514C-1CB1-456A-AC67-B7B35E867EB2}"/>
              </a:ext>
            </a:extLst>
          </p:cNvPr>
          <p:cNvSpPr>
            <a:spLocks xmlns:a="http://schemas.openxmlformats.org/drawingml/2006/main" noGrp="1"/>
          </p:cNvSpPr>
          <p:nvPr/>
        </p:nvSpPr>
        <p:spPr>
          <a:xfrm xmlns:a="http://schemas.openxmlformats.org/drawingml/2006/main">
            <a:off x="640080" y="2715768"/>
            <a:ext cx="10881360" cy="987552"/>
          </a:xfrm>
          <a:prstGeom xmlns:a="http://schemas.openxmlformats.org/drawingml/2006/main" prst="roundRect">
            <a:avLst>
              <a:gd name="adj" fmla="val 8333"/>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BE229C89-610D-4388-8C2D-C2A84F824CB0}"/>
              </a:ext>
            </a:extLst>
          </p:cNvPr>
          <p:cNvSpPr>
            <a:spLocks xmlns:a="http://schemas.openxmlformats.org/drawingml/2006/main" noGrp="1"/>
          </p:cNvSpPr>
          <p:nvPr/>
        </p:nvSpPr>
        <p:spPr>
          <a:xfrm xmlns:a="http://schemas.openxmlformats.org/drawingml/2006/main">
            <a:off x="914400" y="3017520"/>
            <a:ext cx="384048" cy="384048"/>
          </a:xfrm>
          <a:prstGeom xmlns:a="http://schemas.openxmlformats.org/drawingml/2006/main" prst="ellipse">
            <a:avLst/>
          </a:prstGeom>
          <a:solidFill xmlns:a="http://schemas.openxmlformats.org/drawingml/2006/main">
            <a:srgbClr val="CE9136"/>
          </a:solidFill>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0DD8D5E-A4EE-438D-A9AA-2C75F902BED4}"/>
              </a:ext>
            </a:extLst>
          </p:cNvPr>
          <p:cNvSpPr>
            <a:spLocks xmlns:a="http://schemas.openxmlformats.org/drawingml/2006/main" noGrp="1"/>
          </p:cNvSpPr>
          <p:nvPr/>
        </p:nvSpPr>
        <p:spPr>
          <a:xfrm xmlns:a="http://schemas.openxmlformats.org/drawingml/2006/main">
            <a:off x="914400" y="301752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02</a:t>
            </a:r>
            <a:endParaRPr sz="1300"/>
          </a:p>
        </p:txBody>
      </p:sp>
      <p:sp>
        <p:nvSpPr>
          <p:cNvPr id="12" name="Text 10">
            <a:extLst xmlns:a="http://schemas.openxmlformats.org/drawingml/2006/main">
              <a:ext uri="{FF2B5EF4-FFF2-40B4-BE49-F238E27FC236}">
                <a16:creationId xmlns:a16="http://schemas.microsoft.com/office/drawing/2014/main" id="{F3A94D8B-65B9-4DA0-9C19-F8023405ACFD}"/>
              </a:ext>
            </a:extLst>
          </p:cNvPr>
          <p:cNvSpPr>
            <a:spLocks xmlns:a="http://schemas.openxmlformats.org/drawingml/2006/main" noGrp="1"/>
          </p:cNvSpPr>
          <p:nvPr/>
        </p:nvSpPr>
        <p:spPr>
          <a:xfrm xmlns:a="http://schemas.openxmlformats.org/drawingml/2006/main">
            <a:off x="1481328" y="2862072"/>
            <a:ext cx="3017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2A38"/>
                </a:solidFill>
                <a:latin typeface="Calibri"/>
                <a:ea typeface="Calibri"/>
                <a:cs typeface="Calibri"/>
              </a:rPr>
              <a:t>Protect what already works</a:t>
            </a:r>
            <a:endParaRPr sz="1500"/>
          </a:p>
        </p:txBody>
      </p:sp>
      <p:sp>
        <p:nvSpPr>
          <p:cNvPr id="13" name="Text 11">
            <a:extLst xmlns:a="http://schemas.openxmlformats.org/drawingml/2006/main">
              <a:ext uri="{FF2B5EF4-FFF2-40B4-BE49-F238E27FC236}">
                <a16:creationId xmlns:a16="http://schemas.microsoft.com/office/drawing/2014/main" id="{E905B072-1FCF-4895-B44E-33F0D1319EF2}"/>
              </a:ext>
            </a:extLst>
          </p:cNvPr>
          <p:cNvSpPr>
            <a:spLocks xmlns:a="http://schemas.openxmlformats.org/drawingml/2006/main" noGrp="1"/>
          </p:cNvSpPr>
          <p:nvPr/>
        </p:nvSpPr>
        <p:spPr>
          <a:xfrm xmlns:a="http://schemas.openxmlformats.org/drawingml/2006/main">
            <a:off x="4572000" y="2862072"/>
            <a:ext cx="672084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A7383"/>
                </a:solidFill>
                <a:latin typeface="Calibri"/>
                <a:ea typeface="Calibri"/>
                <a:cs typeface="Calibri"/>
              </a:rPr>
              <a:t>Run UC-001 and UC-002 as a regression set so the fix did not break the booking and payment path around it.</a:t>
            </a:r>
            <a:endParaRPr sz="1250"/>
          </a:p>
        </p:txBody>
      </p:sp>
      <p:sp>
        <p:nvSpPr>
          <p:cNvPr id="14" name="Shape 12">
            <a:extLst xmlns:a="http://schemas.openxmlformats.org/drawingml/2006/main">
              <a:ext uri="{FF2B5EF4-FFF2-40B4-BE49-F238E27FC236}">
                <a16:creationId xmlns:a16="http://schemas.microsoft.com/office/drawing/2014/main" id="{8104C15C-96D9-49D6-BAC1-5E9887BC19D0}"/>
              </a:ext>
            </a:extLst>
          </p:cNvPr>
          <p:cNvSpPr>
            <a:spLocks xmlns:a="http://schemas.openxmlformats.org/drawingml/2006/main" noGrp="1"/>
          </p:cNvSpPr>
          <p:nvPr/>
        </p:nvSpPr>
        <p:spPr>
          <a:xfrm xmlns:a="http://schemas.openxmlformats.org/drawingml/2006/main">
            <a:off x="640080" y="3858768"/>
            <a:ext cx="10881360" cy="987552"/>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650763AB-7C52-46D5-AF34-2ACF820EFAF2}"/>
              </a:ext>
            </a:extLst>
          </p:cNvPr>
          <p:cNvSpPr>
            <a:spLocks xmlns:a="http://schemas.openxmlformats.org/drawingml/2006/main" noGrp="1"/>
          </p:cNvSpPr>
          <p:nvPr/>
        </p:nvSpPr>
        <p:spPr>
          <a:xfrm xmlns:a="http://schemas.openxmlformats.org/drawingml/2006/main">
            <a:off x="914400" y="4160520"/>
            <a:ext cx="384048" cy="384048"/>
          </a:xfrm>
          <a:prstGeom xmlns:a="http://schemas.openxmlformats.org/drawingml/2006/main" prst="ellipse">
            <a:avLst/>
          </a:prstGeom>
          <a:solidFill xmlns:a="http://schemas.openxmlformats.org/drawingml/2006/main">
            <a:srgbClr val="CE9136"/>
          </a:solidFill>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64BF64B8-98C3-4237-A83E-2FB37E19FAAA}"/>
              </a:ext>
            </a:extLst>
          </p:cNvPr>
          <p:cNvSpPr>
            <a:spLocks xmlns:a="http://schemas.openxmlformats.org/drawingml/2006/main" noGrp="1"/>
          </p:cNvSpPr>
          <p:nvPr/>
        </p:nvSpPr>
        <p:spPr>
          <a:xfrm xmlns:a="http://schemas.openxmlformats.org/drawingml/2006/main">
            <a:off x="914400" y="416052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03</a:t>
            </a:r>
            <a:endParaRPr sz="1300"/>
          </a:p>
        </p:txBody>
      </p:sp>
      <p:sp>
        <p:nvSpPr>
          <p:cNvPr id="17" name="Text 15">
            <a:extLst xmlns:a="http://schemas.openxmlformats.org/drawingml/2006/main">
              <a:ext uri="{FF2B5EF4-FFF2-40B4-BE49-F238E27FC236}">
                <a16:creationId xmlns:a16="http://schemas.microsoft.com/office/drawing/2014/main" id="{5B95BA81-643B-49BA-9B5C-3A4CE6EFB69D}"/>
              </a:ext>
            </a:extLst>
          </p:cNvPr>
          <p:cNvSpPr>
            <a:spLocks xmlns:a="http://schemas.openxmlformats.org/drawingml/2006/main" noGrp="1"/>
          </p:cNvSpPr>
          <p:nvPr/>
        </p:nvSpPr>
        <p:spPr>
          <a:xfrm xmlns:a="http://schemas.openxmlformats.org/drawingml/2006/main">
            <a:off x="1481328" y="4005072"/>
            <a:ext cx="3017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2A38"/>
                </a:solidFill>
                <a:latin typeface="Calibri"/>
                <a:ea typeface="Calibri"/>
                <a:cs typeface="Calibri"/>
              </a:rPr>
              <a:t>Test what we only assumed</a:t>
            </a:r>
            <a:endParaRPr sz="1500"/>
          </a:p>
        </p:txBody>
      </p:sp>
      <p:sp>
        <p:nvSpPr>
          <p:cNvPr id="18" name="Text 16">
            <a:extLst xmlns:a="http://schemas.openxmlformats.org/drawingml/2006/main">
              <a:ext uri="{FF2B5EF4-FFF2-40B4-BE49-F238E27FC236}">
                <a16:creationId xmlns:a16="http://schemas.microsoft.com/office/drawing/2014/main" id="{1517B2F1-195F-4530-A9B9-E5B801F39F3C}"/>
              </a:ext>
            </a:extLst>
          </p:cNvPr>
          <p:cNvSpPr>
            <a:spLocks xmlns:a="http://schemas.openxmlformats.org/drawingml/2006/main" noGrp="1"/>
          </p:cNvSpPr>
          <p:nvPr/>
        </p:nvSpPr>
        <p:spPr>
          <a:xfrm xmlns:a="http://schemas.openxmlformats.org/drawingml/2006/main">
            <a:off x="4572000" y="4005072"/>
            <a:ext cx="672084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A7383"/>
                </a:solidFill>
                <a:latin typeface="Calibri"/>
                <a:ea typeface="Calibri"/>
                <a:cs typeface="Calibri"/>
              </a:rPr>
              <a:t>Iteration 1 checked that screens appear. Iteration 2 checks that the data on them is the data the customer entered.</a:t>
            </a:r>
            <a:endParaRPr sz="1250"/>
          </a:p>
        </p:txBody>
      </p:sp>
      <p:sp>
        <p:nvSpPr>
          <p:cNvPr id="19" name="Shape 17">
            <a:extLst xmlns:a="http://schemas.openxmlformats.org/drawingml/2006/main">
              <a:ext uri="{FF2B5EF4-FFF2-40B4-BE49-F238E27FC236}">
                <a16:creationId xmlns:a16="http://schemas.microsoft.com/office/drawing/2014/main" id="{E5E27AA0-6720-495F-8AF7-2690ACAA3F57}"/>
              </a:ext>
            </a:extLst>
          </p:cNvPr>
          <p:cNvSpPr>
            <a:spLocks xmlns:a="http://schemas.openxmlformats.org/drawingml/2006/main" noGrp="1"/>
          </p:cNvSpPr>
          <p:nvPr/>
        </p:nvSpPr>
        <p:spPr>
          <a:xfrm xmlns:a="http://schemas.openxmlformats.org/drawingml/2006/main">
            <a:off x="640080" y="5001768"/>
            <a:ext cx="10881360" cy="987552"/>
          </a:xfrm>
          <a:prstGeom xmlns:a="http://schemas.openxmlformats.org/drawingml/2006/main" prst="roundRect">
            <a:avLst>
              <a:gd name="adj" fmla="val 8333"/>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5DB5229C-C7C4-438B-9152-87B6F5D0CC9E}"/>
              </a:ext>
            </a:extLst>
          </p:cNvPr>
          <p:cNvSpPr>
            <a:spLocks xmlns:a="http://schemas.openxmlformats.org/drawingml/2006/main" noGrp="1"/>
          </p:cNvSpPr>
          <p:nvPr/>
        </p:nvSpPr>
        <p:spPr>
          <a:xfrm xmlns:a="http://schemas.openxmlformats.org/drawingml/2006/main">
            <a:off x="914400" y="5303520"/>
            <a:ext cx="384048" cy="384048"/>
          </a:xfrm>
          <a:prstGeom xmlns:a="http://schemas.openxmlformats.org/drawingml/2006/main" prst="ellipse">
            <a:avLst/>
          </a:prstGeom>
          <a:solidFill xmlns:a="http://schemas.openxmlformats.org/drawingml/2006/main">
            <a:srgbClr val="CE9136"/>
          </a:solidFill>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8390A903-AAA4-4E16-A097-BEB450546A80}"/>
              </a:ext>
            </a:extLst>
          </p:cNvPr>
          <p:cNvSpPr>
            <a:spLocks xmlns:a="http://schemas.openxmlformats.org/drawingml/2006/main" noGrp="1"/>
          </p:cNvSpPr>
          <p:nvPr/>
        </p:nvSpPr>
        <p:spPr>
          <a:xfrm xmlns:a="http://schemas.openxmlformats.org/drawingml/2006/main">
            <a:off x="914400" y="530352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04</a:t>
            </a:r>
            <a:endParaRPr sz="1300"/>
          </a:p>
        </p:txBody>
      </p:sp>
      <p:sp>
        <p:nvSpPr>
          <p:cNvPr id="22" name="Text 20">
            <a:extLst xmlns:a="http://schemas.openxmlformats.org/drawingml/2006/main">
              <a:ext uri="{FF2B5EF4-FFF2-40B4-BE49-F238E27FC236}">
                <a16:creationId xmlns:a16="http://schemas.microsoft.com/office/drawing/2014/main" id="{8117EB09-380E-4C79-A41D-67298A58D7F2}"/>
              </a:ext>
            </a:extLst>
          </p:cNvPr>
          <p:cNvSpPr>
            <a:spLocks xmlns:a="http://schemas.openxmlformats.org/drawingml/2006/main" noGrp="1"/>
          </p:cNvSpPr>
          <p:nvPr/>
        </p:nvSpPr>
        <p:spPr>
          <a:xfrm xmlns:a="http://schemas.openxmlformats.org/drawingml/2006/main">
            <a:off x="1481328" y="5148072"/>
            <a:ext cx="3017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2A38"/>
                </a:solidFill>
                <a:latin typeface="Calibri"/>
                <a:ea typeface="Calibri"/>
                <a:cs typeface="Calibri"/>
              </a:rPr>
              <a:t>Start testing failure paths</a:t>
            </a:r>
            <a:endParaRPr sz="1500"/>
          </a:p>
        </p:txBody>
      </p:sp>
      <p:sp>
        <p:nvSpPr>
          <p:cNvPr id="23" name="Text 21">
            <a:extLst xmlns:a="http://schemas.openxmlformats.org/drawingml/2006/main">
              <a:ext uri="{FF2B5EF4-FFF2-40B4-BE49-F238E27FC236}">
                <a16:creationId xmlns:a16="http://schemas.microsoft.com/office/drawing/2014/main" id="{2D0EC855-0223-4461-9968-987EB8741261}"/>
              </a:ext>
            </a:extLst>
          </p:cNvPr>
          <p:cNvSpPr>
            <a:spLocks xmlns:a="http://schemas.openxmlformats.org/drawingml/2006/main" noGrp="1"/>
          </p:cNvSpPr>
          <p:nvPr/>
        </p:nvSpPr>
        <p:spPr>
          <a:xfrm xmlns:a="http://schemas.openxmlformats.org/drawingml/2006/main">
            <a:off x="4572000" y="5148072"/>
            <a:ext cx="672084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A7383"/>
                </a:solidFill>
                <a:latin typeface="Calibri"/>
                <a:ea typeface="Calibri"/>
                <a:cs typeface="Calibri"/>
              </a:rPr>
              <a:t>Add negative cases — invalid card, empty fields, wrong date — instead of only the happy path.</a:t>
            </a:r>
            <a:endParaRPr sz="1250"/>
          </a:p>
        </p:txBody>
      </p:sp>
    </p:spTree>
    <p:extLst>
      <p:ext uri="{BB962C8B-B14F-4D97-AF65-F5344CB8AC3E}">
        <p14:creationId xmlns:p14="http://schemas.microsoft.com/office/powerpoint/2010/main" val="1594828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2AB074-1A78-4768-9907-0AAE18481A66}"/>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SCOPE</a:t>
            </a:r>
            <a:endParaRPr sz="1200"/>
          </a:p>
        </p:txBody>
      </p:sp>
      <p:sp>
        <p:nvSpPr>
          <p:cNvPr id="3" name="Text 1">
            <a:extLst xmlns:a="http://schemas.openxmlformats.org/drawingml/2006/main">
              <a:ext uri="{FF2B5EF4-FFF2-40B4-BE49-F238E27FC236}">
                <a16:creationId xmlns:a16="http://schemas.microsoft.com/office/drawing/2014/main" id="{78F29BEC-D474-40F9-A5F0-42054EE0F622}"/>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In scope and out of scope</a:t>
            </a:r>
            <a:endParaRPr sz="3400"/>
          </a:p>
        </p:txBody>
      </p:sp>
      <p:sp>
        <p:nvSpPr>
          <p:cNvPr id="4" name="Shape 2">
            <a:extLst xmlns:a="http://schemas.openxmlformats.org/drawingml/2006/main">
              <a:ext uri="{FF2B5EF4-FFF2-40B4-BE49-F238E27FC236}">
                <a16:creationId xmlns:a16="http://schemas.microsoft.com/office/drawing/2014/main" id="{A83C4CBB-09D9-4088-BFA0-4D5AE3FADC5C}"/>
              </a:ext>
            </a:extLst>
          </p:cNvPr>
          <p:cNvSpPr>
            <a:spLocks xmlns:a="http://schemas.openxmlformats.org/drawingml/2006/main" noGrp="1"/>
          </p:cNvSpPr>
          <p:nvPr/>
        </p:nvSpPr>
        <p:spPr>
          <a:xfrm xmlns:a="http://schemas.openxmlformats.org/drawingml/2006/main">
            <a:off x="640080" y="1600200"/>
            <a:ext cx="5394960" cy="41148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1B301E3E-7121-49AD-93C3-75568B8E71FC}"/>
              </a:ext>
            </a:extLst>
          </p:cNvPr>
          <p:cNvSpPr>
            <a:spLocks xmlns:a="http://schemas.openxmlformats.org/drawingml/2006/main" noGrp="1"/>
          </p:cNvSpPr>
          <p:nvPr/>
        </p:nvSpPr>
        <p:spPr>
          <a:xfrm xmlns:a="http://schemas.openxmlformats.org/drawingml/2006/main">
            <a:off x="896112" y="1810512"/>
            <a:ext cx="310896" cy="310896"/>
          </a:xfrm>
          <a:prstGeom xmlns:a="http://schemas.openxmlformats.org/drawingml/2006/main" prst="ellipse">
            <a:avLst/>
          </a:prstGeom>
          <a:solidFill xmlns:a="http://schemas.openxmlformats.org/drawingml/2006/main">
            <a:srgbClr val="2E7D5B"/>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0BF4F96-EC32-4A1C-AF9F-186525A50453}"/>
              </a:ext>
            </a:extLst>
          </p:cNvPr>
          <p:cNvSpPr>
            <a:spLocks xmlns:a="http://schemas.openxmlformats.org/drawingml/2006/main" noGrp="1"/>
          </p:cNvSpPr>
          <p:nvPr/>
        </p:nvSpPr>
        <p:spPr>
          <a:xfrm xmlns:a="http://schemas.openxmlformats.org/drawingml/2006/main">
            <a:off x="1316736" y="1810512"/>
            <a:ext cx="4480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2A38"/>
                </a:solidFill>
                <a:latin typeface="Calibri"/>
                <a:ea typeface="Calibri"/>
                <a:cs typeface="Calibri"/>
              </a:rPr>
              <a:t>In scope</a:t>
            </a:r>
            <a:endParaRPr sz="1600"/>
          </a:p>
        </p:txBody>
      </p:sp>
      <p:sp>
        <p:nvSpPr>
          <p:cNvPr id="7" name="Text 5">
            <a:extLst xmlns:a="http://schemas.openxmlformats.org/drawingml/2006/main">
              <a:ext uri="{FF2B5EF4-FFF2-40B4-BE49-F238E27FC236}">
                <a16:creationId xmlns:a16="http://schemas.microsoft.com/office/drawing/2014/main" id="{5F11B498-4C2B-4CB0-B6DB-D132BBD67964}"/>
              </a:ext>
            </a:extLst>
          </p:cNvPr>
          <p:cNvSpPr>
            <a:spLocks xmlns:a="http://schemas.openxmlformats.org/drawingml/2006/main" noGrp="1"/>
          </p:cNvSpPr>
          <p:nvPr/>
        </p:nvSpPr>
        <p:spPr>
          <a:xfrm xmlns:a="http://schemas.openxmlformats.org/drawingml/2006/main">
            <a:off x="914400" y="2286000"/>
            <a:ext cx="4892040" cy="3246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spcAft>
                <a:spcPts val="900"/>
              </a:spcAft>
              <a:buSzPct val="100000"/>
              <a:buChar char="•"/>
            </a:pPr>
            <a:r>
              <a:rPr sz="1250">
                <a:solidFill>
                  <a:srgbClr val="0E2A38"/>
                </a:solidFill>
                <a:latin typeface="Calibri"/>
                <a:ea typeface="Calibri"/>
                <a:cs typeface="Calibri"/>
              </a:rPr>
              <a:t>UC-001 Browse and Book a Tour Package (regression)</a:t>
            </a:r>
            <a:endParaRPr sz="1250"/>
          </a:p>
          <a:p xmlns:a="http://schemas.openxmlformats.org/drawingml/2006/main">
            <a:pPr marL="342900" indent="-342900">
              <a:spcAft>
                <a:spcPts val="900"/>
              </a:spcAft>
              <a:buSzPct val="100000"/>
              <a:buChar char="•"/>
            </a:pPr>
            <a:r>
              <a:rPr sz="1250">
                <a:solidFill>
                  <a:srgbClr val="0E2A38"/>
                </a:solidFill>
                <a:latin typeface="Calibri"/>
                <a:ea typeface="Calibri"/>
                <a:cs typeface="Calibri"/>
              </a:rPr>
              <a:t>UC-002 Pay for Booking and View Invoice (regression + fix verification)</a:t>
            </a:r>
            <a:endParaRPr sz="1250"/>
          </a:p>
          <a:p xmlns:a="http://schemas.openxmlformats.org/drawingml/2006/main">
            <a:pPr marL="342900" indent="-342900">
              <a:spcAft>
                <a:spcPts val="900"/>
              </a:spcAft>
              <a:buSzPct val="100000"/>
              <a:buChar char="•"/>
            </a:pPr>
            <a:r>
              <a:rPr sz="1250">
                <a:solidFill>
                  <a:srgbClr val="0E2A38"/>
                </a:solidFill>
                <a:latin typeface="Calibri"/>
                <a:ea typeface="Calibri"/>
                <a:cs typeface="Calibri"/>
              </a:rPr>
              <a:t>UC-003 Data continuity from booking modal to checkout to dashboard</a:t>
            </a:r>
            <a:endParaRPr sz="1250"/>
          </a:p>
          <a:p xmlns:a="http://schemas.openxmlformats.org/drawingml/2006/main">
            <a:pPr marL="342900" indent="-342900">
              <a:spcAft>
                <a:spcPts val="900"/>
              </a:spcAft>
              <a:buSzPct val="100000"/>
              <a:buChar char="•"/>
            </a:pPr>
            <a:r>
              <a:rPr sz="1250">
                <a:solidFill>
                  <a:srgbClr val="0E2A38"/>
                </a:solidFill>
                <a:latin typeface="Calibri"/>
                <a:ea typeface="Calibri"/>
                <a:cs typeface="Calibri"/>
              </a:rPr>
              <a:t>UC-004 Admin module smoke tests: quotation, clients, products, invoices</a:t>
            </a:r>
            <a:endParaRPr sz="1250"/>
          </a:p>
          <a:p xmlns:a="http://schemas.openxmlformats.org/drawingml/2006/main">
            <a:pPr marL="342900" indent="-342900">
              <a:spcAft>
                <a:spcPts val="900"/>
              </a:spcAft>
              <a:buSzPct val="100000"/>
              <a:buChar char="•"/>
            </a:pPr>
            <a:r>
              <a:rPr sz="1250">
                <a:solidFill>
                  <a:srgbClr val="0E2A38"/>
                </a:solidFill>
                <a:latin typeface="Calibri"/>
                <a:ea typeface="Calibri"/>
                <a:cs typeface="Calibri"/>
              </a:rPr>
              <a:t>Negative and field validation cases on the checkout form</a:t>
            </a:r>
            <a:endParaRPr sz="1250"/>
          </a:p>
          <a:p xmlns:a="http://schemas.openxmlformats.org/drawingml/2006/main">
            <a:pPr marL="342900" indent="-342900">
              <a:spcAft>
                <a:spcPts val="900"/>
              </a:spcAft>
              <a:buSzPct val="100000"/>
              <a:buChar char="•"/>
            </a:pPr>
            <a:r>
              <a:rPr sz="1250">
                <a:solidFill>
                  <a:srgbClr val="0E2A38"/>
                </a:solidFill>
                <a:latin typeface="Calibri"/>
                <a:ea typeface="Calibri"/>
                <a:cs typeface="Calibri"/>
              </a:rPr>
              <a:t>Clean dependency install on a Windows machine</a:t>
            </a:r>
            <a:endParaRPr sz="1250"/>
          </a:p>
        </p:txBody>
      </p:sp>
      <p:sp>
        <p:nvSpPr>
          <p:cNvPr id="8" name="Shape 6">
            <a:extLst xmlns:a="http://schemas.openxmlformats.org/drawingml/2006/main">
              <a:ext uri="{FF2B5EF4-FFF2-40B4-BE49-F238E27FC236}">
                <a16:creationId xmlns:a16="http://schemas.microsoft.com/office/drawing/2014/main" id="{59DD09FC-BAA8-4DCB-A435-F223CAA210BB}"/>
              </a:ext>
            </a:extLst>
          </p:cNvPr>
          <p:cNvSpPr>
            <a:spLocks xmlns:a="http://schemas.openxmlformats.org/drawingml/2006/main" noGrp="1"/>
          </p:cNvSpPr>
          <p:nvPr/>
        </p:nvSpPr>
        <p:spPr>
          <a:xfrm xmlns:a="http://schemas.openxmlformats.org/drawingml/2006/main">
            <a:off x="6309360" y="1600200"/>
            <a:ext cx="5212080" cy="4114800"/>
          </a:xfrm>
          <a:prstGeom xmlns:a="http://schemas.openxmlformats.org/drawingml/2006/main" prst="roundRect">
            <a:avLst>
              <a:gd name="adj" fmla="val 2000"/>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592C999B-04ED-42E8-8F26-17A8BF1FCEF6}"/>
              </a:ext>
            </a:extLst>
          </p:cNvPr>
          <p:cNvSpPr>
            <a:spLocks xmlns:a="http://schemas.openxmlformats.org/drawingml/2006/main" noGrp="1"/>
          </p:cNvSpPr>
          <p:nvPr/>
        </p:nvSpPr>
        <p:spPr>
          <a:xfrm xmlns:a="http://schemas.openxmlformats.org/drawingml/2006/main">
            <a:off x="6565392" y="1810512"/>
            <a:ext cx="310896" cy="310896"/>
          </a:xfrm>
          <a:prstGeom xmlns:a="http://schemas.openxmlformats.org/drawingml/2006/main" prst="ellipse">
            <a:avLst/>
          </a:prstGeom>
          <a:solidFill xmlns:a="http://schemas.openxmlformats.org/drawingml/2006/main">
            <a:srgbClr val="5A7383"/>
          </a:solidFill>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B5CE98B4-A8C2-4148-AAB8-5A4BB2A280CE}"/>
              </a:ext>
            </a:extLst>
          </p:cNvPr>
          <p:cNvSpPr>
            <a:spLocks xmlns:a="http://schemas.openxmlformats.org/drawingml/2006/main" noGrp="1"/>
          </p:cNvSpPr>
          <p:nvPr/>
        </p:nvSpPr>
        <p:spPr>
          <a:xfrm xmlns:a="http://schemas.openxmlformats.org/drawingml/2006/main">
            <a:off x="6986016" y="1810512"/>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2A38"/>
                </a:solidFill>
                <a:latin typeface="Calibri"/>
                <a:ea typeface="Calibri"/>
                <a:cs typeface="Calibri"/>
              </a:rPr>
              <a:t>Out of scope</a:t>
            </a:r>
            <a:endParaRPr sz="1600"/>
          </a:p>
        </p:txBody>
      </p:sp>
      <p:sp>
        <p:nvSpPr>
          <p:cNvPr id="11" name="Text 9">
            <a:extLst xmlns:a="http://schemas.openxmlformats.org/drawingml/2006/main">
              <a:ext uri="{FF2B5EF4-FFF2-40B4-BE49-F238E27FC236}">
                <a16:creationId xmlns:a16="http://schemas.microsoft.com/office/drawing/2014/main" id="{9BC59E66-904F-424E-A4D4-14CD9A00388D}"/>
              </a:ext>
            </a:extLst>
          </p:cNvPr>
          <p:cNvSpPr>
            <a:spLocks xmlns:a="http://schemas.openxmlformats.org/drawingml/2006/main" noGrp="1"/>
          </p:cNvSpPr>
          <p:nvPr/>
        </p:nvSpPr>
        <p:spPr>
          <a:xfrm xmlns:a="http://schemas.openxmlformats.org/drawingml/2006/main">
            <a:off x="6583680" y="2286000"/>
            <a:ext cx="4709160" cy="3246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spcAft>
                <a:spcPts val="900"/>
              </a:spcAft>
              <a:buSzPct val="100000"/>
              <a:buChar char="•"/>
            </a:pPr>
            <a:r>
              <a:rPr sz="1250">
                <a:solidFill>
                  <a:srgbClr val="5A7383"/>
                </a:solidFill>
                <a:latin typeface="Calibri"/>
                <a:ea typeface="Calibri"/>
                <a:cs typeface="Calibri"/>
              </a:rPr>
              <a:t>Load and performance testing</a:t>
            </a:r>
            <a:endParaRPr sz="1250"/>
          </a:p>
          <a:p xmlns:a="http://schemas.openxmlformats.org/drawingml/2006/main">
            <a:pPr marL="342900" indent="-342900">
              <a:spcAft>
                <a:spcPts val="900"/>
              </a:spcAft>
              <a:buSzPct val="100000"/>
              <a:buChar char="•"/>
            </a:pPr>
            <a:r>
              <a:rPr sz="1250">
                <a:solidFill>
                  <a:srgbClr val="5A7383"/>
                </a:solidFill>
                <a:latin typeface="Calibri"/>
                <a:ea typeface="Calibri"/>
                <a:cs typeface="Calibri"/>
              </a:rPr>
              <a:t>Security penetration testing</a:t>
            </a:r>
            <a:endParaRPr sz="1250"/>
          </a:p>
          <a:p xmlns:a="http://schemas.openxmlformats.org/drawingml/2006/main">
            <a:pPr marL="342900" indent="-342900">
              <a:spcAft>
                <a:spcPts val="900"/>
              </a:spcAft>
              <a:buSzPct val="100000"/>
              <a:buChar char="•"/>
            </a:pPr>
            <a:r>
              <a:rPr sz="1250">
                <a:solidFill>
                  <a:srgbClr val="5A7383"/>
                </a:solidFill>
                <a:latin typeface="Calibri"/>
                <a:ea typeface="Calibri"/>
                <a:cs typeface="Calibri"/>
              </a:rPr>
              <a:t>Accessibility and screen reader conformance</a:t>
            </a:r>
            <a:endParaRPr sz="1250"/>
          </a:p>
          <a:p xmlns:a="http://schemas.openxmlformats.org/drawingml/2006/main">
            <a:pPr marL="342900" indent="-342900">
              <a:spcAft>
                <a:spcPts val="900"/>
              </a:spcAft>
              <a:buSzPct val="100000"/>
              <a:buChar char="•"/>
            </a:pPr>
            <a:r>
              <a:rPr sz="1250">
                <a:solidFill>
                  <a:srgbClr val="5A7383"/>
                </a:solidFill>
                <a:latin typeface="Calibri"/>
                <a:ea typeface="Calibri"/>
                <a:cs typeface="Calibri"/>
              </a:rPr>
              <a:t>Cross-browser matrix beyond Chromium</a:t>
            </a:r>
            <a:endParaRPr sz="1250"/>
          </a:p>
          <a:p xmlns:a="http://schemas.openxmlformats.org/drawingml/2006/main">
            <a:pPr marL="342900" indent="-342900">
              <a:spcAft>
                <a:spcPts val="900"/>
              </a:spcAft>
              <a:buSzPct val="100000"/>
              <a:buChar char="•"/>
            </a:pPr>
            <a:r>
              <a:rPr sz="1250">
                <a:solidFill>
                  <a:srgbClr val="5A7383"/>
                </a:solidFill>
                <a:latin typeface="Calibri"/>
                <a:ea typeface="Calibri"/>
                <a:cs typeface="Calibri"/>
              </a:rPr>
              <a:t>Live payment gateway integration — payment remains simulated</a:t>
            </a:r>
            <a:endParaRPr sz="1250"/>
          </a:p>
          <a:p xmlns:a="http://schemas.openxmlformats.org/drawingml/2006/main">
            <a:pPr marL="342900" indent="-342900">
              <a:spcAft>
                <a:spcPts val="900"/>
              </a:spcAft>
              <a:buSzPct val="100000"/>
              <a:buChar char="•"/>
            </a:pPr>
            <a:r>
              <a:rPr sz="1250">
                <a:solidFill>
                  <a:srgbClr val="5A7383"/>
                </a:solidFill>
                <a:latin typeface="Calibri"/>
                <a:ea typeface="Calibri"/>
                <a:cs typeface="Calibri"/>
              </a:rPr>
              <a:t>Database persistence — no backend is wired up yet</a:t>
            </a:r>
            <a:endParaRPr sz="1250"/>
          </a:p>
        </p:txBody>
      </p:sp>
    </p:spTree>
    <p:extLst>
      <p:ext uri="{BB962C8B-B14F-4D97-AF65-F5344CB8AC3E}">
        <p14:creationId xmlns:p14="http://schemas.microsoft.com/office/powerpoint/2010/main" val="19901701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4207C25-AC01-436F-926F-F8C6573DEC4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BUILD UNDER TEST</a:t>
            </a:r>
            <a:endParaRPr sz="1200"/>
          </a:p>
        </p:txBody>
      </p:sp>
      <p:sp>
        <p:nvSpPr>
          <p:cNvPr id="3" name="Text 1">
            <a:extLst xmlns:a="http://schemas.openxmlformats.org/drawingml/2006/main">
              <a:ext uri="{FF2B5EF4-FFF2-40B4-BE49-F238E27FC236}">
                <a16:creationId xmlns:a16="http://schemas.microsoft.com/office/drawing/2014/main" id="{EE648F66-0A87-4873-A98D-FE6DC322CB8C}"/>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Current build and setup results</a:t>
            </a:r>
            <a:endParaRPr sz="3400"/>
          </a:p>
        </p:txBody>
      </p:sp>
      <p:sp>
        <p:nvSpPr>
          <p:cNvPr id="4" name="Shape 2">
            <a:extLst xmlns:a="http://schemas.openxmlformats.org/drawingml/2006/main">
              <a:ext uri="{FF2B5EF4-FFF2-40B4-BE49-F238E27FC236}">
                <a16:creationId xmlns:a16="http://schemas.microsoft.com/office/drawing/2014/main" id="{8E78C014-F410-4071-BED6-BCA7B8DAD639}"/>
              </a:ext>
            </a:extLst>
          </p:cNvPr>
          <p:cNvSpPr>
            <a:spLocks xmlns:a="http://schemas.openxmlformats.org/drawingml/2006/main" noGrp="1"/>
          </p:cNvSpPr>
          <p:nvPr/>
        </p:nvSpPr>
        <p:spPr>
          <a:xfrm xmlns:a="http://schemas.openxmlformats.org/drawingml/2006/main">
            <a:off x="640080" y="1645920"/>
            <a:ext cx="10881360" cy="9144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F43DB9BF-0867-40B6-9445-BCBFBA8077AF}"/>
              </a:ext>
            </a:extLst>
          </p:cNvPr>
          <p:cNvSpPr>
            <a:spLocks xmlns:a="http://schemas.openxmlformats.org/drawingml/2006/main" noGrp="1"/>
          </p:cNvSpPr>
          <p:nvPr/>
        </p:nvSpPr>
        <p:spPr>
          <a:xfrm xmlns:a="http://schemas.openxmlformats.org/drawingml/2006/main">
            <a:off x="914400" y="1947672"/>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0394416-726D-4DDB-87AA-3F89A5117342}"/>
              </a:ext>
            </a:extLst>
          </p:cNvPr>
          <p:cNvSpPr>
            <a:spLocks xmlns:a="http://schemas.openxmlformats.org/drawingml/2006/main" noGrp="1"/>
          </p:cNvSpPr>
          <p:nvPr/>
        </p:nvSpPr>
        <p:spPr>
          <a:xfrm xmlns:a="http://schemas.openxmlformats.org/drawingml/2006/main">
            <a:off x="1417320" y="1773936"/>
            <a:ext cx="34290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2A38"/>
                </a:solidFill>
                <a:latin typeface="Calibri"/>
                <a:ea typeface="Calibri"/>
                <a:cs typeface="Calibri"/>
              </a:rPr>
              <a:t>Custom colours use hex</a:t>
            </a:r>
            <a:endParaRPr sz="1400"/>
          </a:p>
        </p:txBody>
      </p:sp>
      <p:sp>
        <p:nvSpPr>
          <p:cNvPr id="7" name="Text 5">
            <a:extLst xmlns:a="http://schemas.openxmlformats.org/drawingml/2006/main">
              <a:ext uri="{FF2B5EF4-FFF2-40B4-BE49-F238E27FC236}">
                <a16:creationId xmlns:a16="http://schemas.microsoft.com/office/drawing/2014/main" id="{EE7448F9-25FA-4469-A0DF-519651145BF9}"/>
              </a:ext>
            </a:extLst>
          </p:cNvPr>
          <p:cNvSpPr>
            <a:spLocks xmlns:a="http://schemas.openxmlformats.org/drawingml/2006/main" noGrp="1"/>
          </p:cNvSpPr>
          <p:nvPr/>
        </p:nvSpPr>
        <p:spPr>
          <a:xfrm xmlns:a="http://schemas.openxmlformats.org/drawingml/2006/main">
            <a:off x="4937760" y="1773936"/>
            <a:ext cx="63550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A7383"/>
                </a:solidFill>
                <a:latin typeface="Calibri"/>
                <a:ea typeface="Calibri"/>
                <a:cs typeface="Calibri"/>
              </a:rPr>
              <a:t>The project theme uses hex values. The live PDF retest still fails with an unsupported colour error.</a:t>
            </a:r>
            <a:endParaRPr sz="1250"/>
          </a:p>
        </p:txBody>
      </p:sp>
      <p:sp>
        <p:nvSpPr>
          <p:cNvPr id="8" name="Shape 6">
            <a:extLst xmlns:a="http://schemas.openxmlformats.org/drawingml/2006/main">
              <a:ext uri="{FF2B5EF4-FFF2-40B4-BE49-F238E27FC236}">
                <a16:creationId xmlns:a16="http://schemas.microsoft.com/office/drawing/2014/main" id="{4B2033C2-BFE2-4EB2-ACEC-ABAEFD244F65}"/>
              </a:ext>
            </a:extLst>
          </p:cNvPr>
          <p:cNvSpPr>
            <a:spLocks xmlns:a="http://schemas.openxmlformats.org/drawingml/2006/main" noGrp="1"/>
          </p:cNvSpPr>
          <p:nvPr/>
        </p:nvSpPr>
        <p:spPr>
          <a:xfrm xmlns:a="http://schemas.openxmlformats.org/drawingml/2006/main">
            <a:off x="640080" y="2715768"/>
            <a:ext cx="10881360" cy="9144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89EBB07D-8A29-4F66-978A-B1D69FA66F10}"/>
              </a:ext>
            </a:extLst>
          </p:cNvPr>
          <p:cNvSpPr>
            <a:spLocks xmlns:a="http://schemas.openxmlformats.org/drawingml/2006/main" noGrp="1"/>
          </p:cNvSpPr>
          <p:nvPr/>
        </p:nvSpPr>
        <p:spPr>
          <a:xfrm xmlns:a="http://schemas.openxmlformats.org/drawingml/2006/main">
            <a:off x="914400" y="3017520"/>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44A8AC26-F3DB-44E3-A50F-62E55FB4E65A}"/>
              </a:ext>
            </a:extLst>
          </p:cNvPr>
          <p:cNvSpPr>
            <a:spLocks xmlns:a="http://schemas.openxmlformats.org/drawingml/2006/main" noGrp="1"/>
          </p:cNvSpPr>
          <p:nvPr/>
        </p:nvSpPr>
        <p:spPr>
          <a:xfrm xmlns:a="http://schemas.openxmlformats.org/drawingml/2006/main">
            <a:off x="1417320" y="2843784"/>
            <a:ext cx="34290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2A38"/>
                </a:solidFill>
                <a:latin typeface="Calibri"/>
                <a:ea typeface="Calibri"/>
                <a:cs typeface="Calibri"/>
              </a:rPr>
              <a:t>PDF controls excluded</a:t>
            </a:r>
            <a:endParaRPr sz="1400"/>
          </a:p>
        </p:txBody>
      </p:sp>
      <p:sp>
        <p:nvSpPr>
          <p:cNvPr id="11" name="Text 9">
            <a:extLst xmlns:a="http://schemas.openxmlformats.org/drawingml/2006/main">
              <a:ext uri="{FF2B5EF4-FFF2-40B4-BE49-F238E27FC236}">
                <a16:creationId xmlns:a16="http://schemas.microsoft.com/office/drawing/2014/main" id="{4F2379CD-C2A3-40A8-BE51-A858D68769E1}"/>
              </a:ext>
            </a:extLst>
          </p:cNvPr>
          <p:cNvSpPr>
            <a:spLocks xmlns:a="http://schemas.openxmlformats.org/drawingml/2006/main" noGrp="1"/>
          </p:cNvSpPr>
          <p:nvPr/>
        </p:nvSpPr>
        <p:spPr>
          <a:xfrm xmlns:a="http://schemas.openxmlformats.org/drawingml/2006/main">
            <a:off x="4937760" y="2843784"/>
            <a:ext cx="63550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A7383"/>
                </a:solidFill>
                <a:latin typeface="Calibri"/>
                <a:ea typeface="Calibri"/>
                <a:cs typeface="Calibri"/>
              </a:rPr>
              <a:t>The dashboard now marks the toggle arrow and download button with data-html2canvas-ignore so they stay out of the capture.</a:t>
            </a:r>
            <a:endParaRPr sz="1250"/>
          </a:p>
        </p:txBody>
      </p:sp>
      <p:sp>
        <p:nvSpPr>
          <p:cNvPr id="12" name="Shape 10">
            <a:extLst xmlns:a="http://schemas.openxmlformats.org/drawingml/2006/main">
              <a:ext uri="{FF2B5EF4-FFF2-40B4-BE49-F238E27FC236}">
                <a16:creationId xmlns:a16="http://schemas.microsoft.com/office/drawing/2014/main" id="{7E7A2E2C-AB28-4CD7-A600-7CF7E7D81BB5}"/>
              </a:ext>
            </a:extLst>
          </p:cNvPr>
          <p:cNvSpPr>
            <a:spLocks xmlns:a="http://schemas.openxmlformats.org/drawingml/2006/main" noGrp="1"/>
          </p:cNvSpPr>
          <p:nvPr/>
        </p:nvSpPr>
        <p:spPr>
          <a:xfrm xmlns:a="http://schemas.openxmlformats.org/drawingml/2006/main">
            <a:off x="640080" y="3785616"/>
            <a:ext cx="10881360" cy="9144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438A9AFE-1BF2-4861-B228-333DC9784AF8}"/>
              </a:ext>
            </a:extLst>
          </p:cNvPr>
          <p:cNvSpPr>
            <a:spLocks xmlns:a="http://schemas.openxmlformats.org/drawingml/2006/main" noGrp="1"/>
          </p:cNvSpPr>
          <p:nvPr/>
        </p:nvSpPr>
        <p:spPr>
          <a:xfrm xmlns:a="http://schemas.openxmlformats.org/drawingml/2006/main">
            <a:off x="914400" y="4087368"/>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E6318A4-E2DD-464F-BCF6-A51DB0E7380B}"/>
              </a:ext>
            </a:extLst>
          </p:cNvPr>
          <p:cNvSpPr>
            <a:spLocks xmlns:a="http://schemas.openxmlformats.org/drawingml/2006/main" noGrp="1"/>
          </p:cNvSpPr>
          <p:nvPr/>
        </p:nvSpPr>
        <p:spPr>
          <a:xfrm xmlns:a="http://schemas.openxmlformats.org/drawingml/2006/main">
            <a:off x="1417320" y="3913632"/>
            <a:ext cx="34290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2A38"/>
                </a:solidFill>
                <a:latin typeface="Calibri"/>
                <a:ea typeface="Calibri"/>
                <a:cs typeface="Calibri"/>
              </a:rPr>
              <a:t>Supabase remains unused</a:t>
            </a:r>
            <a:endParaRPr sz="1400"/>
          </a:p>
        </p:txBody>
      </p:sp>
      <p:sp>
        <p:nvSpPr>
          <p:cNvPr id="15" name="Text 13">
            <a:extLst xmlns:a="http://schemas.openxmlformats.org/drawingml/2006/main">
              <a:ext uri="{FF2B5EF4-FFF2-40B4-BE49-F238E27FC236}">
                <a16:creationId xmlns:a16="http://schemas.microsoft.com/office/drawing/2014/main" id="{5BF36D9F-A7DD-498E-9B22-EBC2EBDD8C9B}"/>
              </a:ext>
            </a:extLst>
          </p:cNvPr>
          <p:cNvSpPr>
            <a:spLocks xmlns:a="http://schemas.openxmlformats.org/drawingml/2006/main" noGrp="1"/>
          </p:cNvSpPr>
          <p:nvPr/>
        </p:nvSpPr>
        <p:spPr>
          <a:xfrm xmlns:a="http://schemas.openxmlformats.org/drawingml/2006/main">
            <a:off x="4937760" y="3913632"/>
            <a:ext cx="63550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A7383"/>
                </a:solidFill>
                <a:latin typeface="Calibri"/>
                <a:ea typeface="Calibri"/>
                <a:cs typeface="Calibri"/>
              </a:rPr>
              <a:t>A Supabase client is scaffolded in lib/supabase.ts, but nothing imports it yet — no persistence is live.</a:t>
            </a:r>
            <a:endParaRPr sz="1250"/>
          </a:p>
        </p:txBody>
      </p:sp>
      <p:sp>
        <p:nvSpPr>
          <p:cNvPr id="16" name="Shape 14">
            <a:extLst xmlns:a="http://schemas.openxmlformats.org/drawingml/2006/main">
              <a:ext uri="{FF2B5EF4-FFF2-40B4-BE49-F238E27FC236}">
                <a16:creationId xmlns:a16="http://schemas.microsoft.com/office/drawing/2014/main" id="{7238DFA1-D5BF-4D21-A846-9164C2951551}"/>
              </a:ext>
            </a:extLst>
          </p:cNvPr>
          <p:cNvSpPr>
            <a:spLocks xmlns:a="http://schemas.openxmlformats.org/drawingml/2006/main" noGrp="1"/>
          </p:cNvSpPr>
          <p:nvPr/>
        </p:nvSpPr>
        <p:spPr>
          <a:xfrm xmlns:a="http://schemas.openxmlformats.org/drawingml/2006/main">
            <a:off x="640080" y="4855464"/>
            <a:ext cx="10881360" cy="9144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DEA2EF43-ABED-4805-AF61-0D23CECDE1FF}"/>
              </a:ext>
            </a:extLst>
          </p:cNvPr>
          <p:cNvSpPr>
            <a:spLocks xmlns:a="http://schemas.openxmlformats.org/drawingml/2006/main" noGrp="1"/>
          </p:cNvSpPr>
          <p:nvPr/>
        </p:nvSpPr>
        <p:spPr>
          <a:xfrm xmlns:a="http://schemas.openxmlformats.org/drawingml/2006/main">
            <a:off x="914400" y="5157216"/>
            <a:ext cx="310896" cy="310896"/>
          </a:xfrm>
          <a:prstGeom xmlns:a="http://schemas.openxmlformats.org/drawingml/2006/main" prst="ellipse">
            <a:avLst/>
          </a:prstGeom>
          <a:solidFill xmlns:a="http://schemas.openxmlformats.org/drawingml/2006/main">
            <a:srgbClr val="B4432F"/>
          </a:solidFill>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739C67EA-1DD6-4080-818F-2D891F644CF6}"/>
              </a:ext>
            </a:extLst>
          </p:cNvPr>
          <p:cNvSpPr>
            <a:spLocks xmlns:a="http://schemas.openxmlformats.org/drawingml/2006/main" noGrp="1"/>
          </p:cNvSpPr>
          <p:nvPr/>
        </p:nvSpPr>
        <p:spPr>
          <a:xfrm xmlns:a="http://schemas.openxmlformats.org/drawingml/2006/main">
            <a:off x="1417320" y="4983480"/>
            <a:ext cx="34290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2A38"/>
                </a:solidFill>
                <a:latin typeface="Calibri"/>
                <a:ea typeface="Calibri"/>
                <a:cs typeface="Calibri"/>
              </a:rPr>
              <a:t>Windows install failed</a:t>
            </a:r>
            <a:endParaRPr sz="1400"/>
          </a:p>
        </p:txBody>
      </p:sp>
      <p:sp>
        <p:nvSpPr>
          <p:cNvPr id="19" name="Text 17">
            <a:extLst xmlns:a="http://schemas.openxmlformats.org/drawingml/2006/main">
              <a:ext uri="{FF2B5EF4-FFF2-40B4-BE49-F238E27FC236}">
                <a16:creationId xmlns:a16="http://schemas.microsoft.com/office/drawing/2014/main" id="{3B3C38FE-8BF2-4D8B-9DBD-365DBA5AC698}"/>
              </a:ext>
            </a:extLst>
          </p:cNvPr>
          <p:cNvSpPr>
            <a:spLocks xmlns:a="http://schemas.openxmlformats.org/drawingml/2006/main" noGrp="1"/>
          </p:cNvSpPr>
          <p:nvPr/>
        </p:nvSpPr>
        <p:spPr>
          <a:xfrm xmlns:a="http://schemas.openxmlformats.org/drawingml/2006/main">
            <a:off x="4937760" y="4983480"/>
            <a:ext cx="63550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A7383"/>
                </a:solidFill>
                <a:latin typeface="Calibri"/>
                <a:ea typeface="Calibri"/>
                <a:cs typeface="Calibri"/>
              </a:rPr>
              <a:t>Clean npm ci failed with EBADPLATFORM for the Linux Tailwind package. A forced install allowed QA to continue.</a:t>
            </a:r>
            <a:endParaRPr sz="1250"/>
          </a:p>
        </p:txBody>
      </p:sp>
      <p:sp>
        <p:nvSpPr>
          <p:cNvPr id="20" name="Text 18">
            <a:extLst xmlns:a="http://schemas.openxmlformats.org/drawingml/2006/main">
              <a:ext uri="{FF2B5EF4-FFF2-40B4-BE49-F238E27FC236}">
                <a16:creationId xmlns:a16="http://schemas.microsoft.com/office/drawing/2014/main" id="{7B76B1AE-2757-47A2-841D-E076494661C0}"/>
              </a:ext>
            </a:extLst>
          </p:cNvPr>
          <p:cNvSpPr>
            <a:spLocks xmlns:a="http://schemas.openxmlformats.org/drawingml/2006/main" noGrp="1"/>
          </p:cNvSpPr>
          <p:nvPr/>
        </p:nvSpPr>
        <p:spPr>
          <a:xfrm xmlns:a="http://schemas.openxmlformats.org/drawingml/2006/main">
            <a:off x="640080" y="6053328"/>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5A7383"/>
                </a:solidFill>
                <a:latin typeface="Calibri"/>
                <a:ea typeface="Calibri"/>
                <a:cs typeface="Calibri"/>
              </a:rPr>
              <a:t>Commit 90f5c44. Production build and typecheck passed. Lint: 5 errors, 1 warning. Application source unchanged.</a:t>
            </a:r>
            <a:endParaRPr sz="1050"/>
          </a:p>
        </p:txBody>
      </p:sp>
    </p:spTree>
    <p:extLst>
      <p:ext uri="{BB962C8B-B14F-4D97-AF65-F5344CB8AC3E}">
        <p14:creationId xmlns:p14="http://schemas.microsoft.com/office/powerpoint/2010/main" val="2073514248"/>
      </p:ext>
    </p:extLst>
  </p:cSld>
</p:sld>
</file>

<file path=ppt/slides/slide6.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D35351-7579-42BC-88B0-788139438C1C}"/>
              </a:ext>
            </a:extLst>
          </p:cNvPr>
          <p:cNvSpPr>
            <a:spLocks xmlns:a="http://schemas.openxmlformats.org/drawingml/2006/main" noGrp="1"/>
          </p:cNvSpPr>
          <p:nvPr/>
        </p:nvSpPr>
        <p:spPr>
          <a:xfrm xmlns:a="http://schemas.openxmlformats.org/drawingml/2006/main">
            <a:off x="10332720" y="-1188720"/>
            <a:ext cx="3474720" cy="3474720"/>
          </a:xfrm>
          <a:prstGeom xmlns:a="http://schemas.openxmlformats.org/drawingml/2006/main" prst="ellipse">
            <a:avLst/>
          </a:prstGeom>
          <a:solidFill xmlns:a="http://schemas.openxmlformats.org/drawingml/2006/main">
            <a:srgbClr val="2A6F84">
              <a:alpha val="40000"/>
            </a:srgbClr>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902282A-0E23-4DDF-9E60-1DEBF8FCCCF7}"/>
              </a:ext>
            </a:extLst>
          </p:cNvPr>
          <p:cNvSpPr>
            <a:spLocks xmlns:a="http://schemas.openxmlformats.org/drawingml/2006/main" noGrp="1"/>
          </p:cNvSpPr>
          <p:nvPr/>
        </p:nvSpPr>
        <p:spPr>
          <a:xfrm xmlns:a="http://schemas.openxmlformats.org/drawingml/2006/main">
            <a:off x="64008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HEADLINE FINDING</a:t>
            </a:r>
            <a:endParaRPr sz="1200"/>
          </a:p>
        </p:txBody>
      </p:sp>
      <p:sp>
        <p:nvSpPr>
          <p:cNvPr id="4" name="Text 2">
            <a:extLst xmlns:a="http://schemas.openxmlformats.org/drawingml/2006/main">
              <a:ext uri="{FF2B5EF4-FFF2-40B4-BE49-F238E27FC236}">
                <a16:creationId xmlns:a16="http://schemas.microsoft.com/office/drawing/2014/main" id="{5B488544-1181-4F62-96DF-78A18D384F3F}"/>
              </a:ext>
            </a:extLst>
          </p:cNvPr>
          <p:cNvSpPr>
            <a:spLocks xmlns:a="http://schemas.openxmlformats.org/drawingml/2006/main" noGrp="1"/>
          </p:cNvSpPr>
          <p:nvPr/>
        </p:nvSpPr>
        <p:spPr>
          <a:xfrm xmlns:a="http://schemas.openxmlformats.org/drawingml/2006/main">
            <a:off x="640080" y="777240"/>
            <a:ext cx="102412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BUG-001 failed the live retest</a:t>
            </a:r>
            <a:endParaRPr sz="3400"/>
          </a:p>
        </p:txBody>
      </p:sp>
      <p:sp>
        <p:nvSpPr>
          <p:cNvPr id="5" name="Text 3">
            <a:extLst xmlns:a="http://schemas.openxmlformats.org/drawingml/2006/main">
              <a:ext uri="{FF2B5EF4-FFF2-40B4-BE49-F238E27FC236}">
                <a16:creationId xmlns:a16="http://schemas.microsoft.com/office/drawing/2014/main" id="{C5BC04DB-FD4A-4769-B1B4-5B965809E17A}"/>
              </a:ext>
            </a:extLst>
          </p:cNvPr>
          <p:cNvSpPr>
            <a:spLocks xmlns:a="http://schemas.openxmlformats.org/drawingml/2006/main" noGrp="1"/>
          </p:cNvSpPr>
          <p:nvPr/>
        </p:nvSpPr>
        <p:spPr>
          <a:xfrm xmlns:a="http://schemas.openxmlformats.org/drawingml/2006/main">
            <a:off x="640080" y="1463040"/>
            <a:ext cx="10241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BFD3DD"/>
                </a:solidFill>
                <a:latin typeface="Calibri"/>
                <a:ea typeface="Calibri"/>
                <a:cs typeface="Calibri"/>
              </a:rPr>
              <a:t>Clicking Download PDF Invoice produced no file. The console reported an unsupported colour function.</a:t>
            </a:r>
            <a:endParaRPr sz="1500"/>
          </a:p>
        </p:txBody>
      </p:sp>
      <p:sp>
        <p:nvSpPr>
          <p:cNvPr id="6" name="Shape 4">
            <a:extLst xmlns:a="http://schemas.openxmlformats.org/drawingml/2006/main">
              <a:ext uri="{FF2B5EF4-FFF2-40B4-BE49-F238E27FC236}">
                <a16:creationId xmlns:a16="http://schemas.microsoft.com/office/drawing/2014/main" id="{81909978-27AC-437F-889C-0AF28E308AFD}"/>
              </a:ext>
            </a:extLst>
          </p:cNvPr>
          <p:cNvSpPr>
            <a:spLocks xmlns:a="http://schemas.openxmlformats.org/drawingml/2006/main" noGrp="1"/>
          </p:cNvSpPr>
          <p:nvPr/>
        </p:nvSpPr>
        <p:spPr>
          <a:xfrm xmlns:a="http://schemas.openxmlformats.org/drawingml/2006/main">
            <a:off x="640080" y="2057400"/>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B6DD4F82-4436-4C23-AFD5-B3605691820C}"/>
              </a:ext>
            </a:extLst>
          </p:cNvPr>
          <p:cNvSpPr>
            <a:spLocks xmlns:a="http://schemas.openxmlformats.org/drawingml/2006/main" noGrp="1"/>
          </p:cNvSpPr>
          <p:nvPr/>
        </p:nvSpPr>
        <p:spPr>
          <a:xfrm xmlns:a="http://schemas.openxmlformats.org/drawingml/2006/main">
            <a:off x="914400" y="2167128"/>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E9136"/>
                </a:solidFill>
                <a:latin typeface="Calibri"/>
                <a:ea typeface="Calibri"/>
                <a:cs typeface="Calibri"/>
              </a:rPr>
              <a:t>Observed result</a:t>
            </a:r>
            <a:endParaRPr sz="1400"/>
          </a:p>
        </p:txBody>
      </p:sp>
      <p:sp>
        <p:nvSpPr>
          <p:cNvPr id="8" name="Text 6">
            <a:extLst xmlns:a="http://schemas.openxmlformats.org/drawingml/2006/main">
              <a:ext uri="{FF2B5EF4-FFF2-40B4-BE49-F238E27FC236}">
                <a16:creationId xmlns:a16="http://schemas.microsoft.com/office/drawing/2014/main" id="{AC7B56FE-628D-4587-A105-3D0B6A900887}"/>
              </a:ext>
            </a:extLst>
          </p:cNvPr>
          <p:cNvSpPr>
            <a:spLocks xmlns:a="http://schemas.openxmlformats.org/drawingml/2006/main" noGrp="1"/>
          </p:cNvSpPr>
          <p:nvPr/>
        </p:nvSpPr>
        <p:spPr>
          <a:xfrm xmlns:a="http://schemas.openxmlformats.org/drawingml/2006/main">
            <a:off x="3657600" y="2167128"/>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DCE8EE"/>
                </a:solidFill>
                <a:latin typeface="Calibri"/>
                <a:ea typeface="Calibri"/>
                <a:cs typeface="Calibri"/>
              </a:rPr>
              <a:t>No download event occurred. The application displayed its PDF-generation failure message.</a:t>
            </a:r>
            <a:endParaRPr sz="1250"/>
          </a:p>
        </p:txBody>
      </p:sp>
      <p:sp>
        <p:nvSpPr>
          <p:cNvPr id="9" name="Shape 7">
            <a:extLst xmlns:a="http://schemas.openxmlformats.org/drawingml/2006/main">
              <a:ext uri="{FF2B5EF4-FFF2-40B4-BE49-F238E27FC236}">
                <a16:creationId xmlns:a16="http://schemas.microsoft.com/office/drawing/2014/main" id="{9FB9FB28-4309-4295-A714-8BF1EEA8F368}"/>
              </a:ext>
            </a:extLst>
          </p:cNvPr>
          <p:cNvSpPr>
            <a:spLocks xmlns:a="http://schemas.openxmlformats.org/drawingml/2006/main" noGrp="1"/>
          </p:cNvSpPr>
          <p:nvPr/>
        </p:nvSpPr>
        <p:spPr>
          <a:xfrm xmlns:a="http://schemas.openxmlformats.org/drawingml/2006/main">
            <a:off x="640080" y="3090672"/>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3050D0DF-3A88-4F94-9772-5BE61E8A4CB9}"/>
              </a:ext>
            </a:extLst>
          </p:cNvPr>
          <p:cNvSpPr>
            <a:spLocks xmlns:a="http://schemas.openxmlformats.org/drawingml/2006/main" noGrp="1"/>
          </p:cNvSpPr>
          <p:nvPr/>
        </p:nvSpPr>
        <p:spPr>
          <a:xfrm xmlns:a="http://schemas.openxmlformats.org/drawingml/2006/main">
            <a:off x="914400" y="320040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E9136"/>
                </a:solidFill>
                <a:latin typeface="Calibri"/>
                <a:ea typeface="Calibri"/>
                <a:cs typeface="Calibri"/>
              </a:rPr>
              <a:t>Console evidence</a:t>
            </a:r>
            <a:endParaRPr sz="1400"/>
          </a:p>
        </p:txBody>
      </p:sp>
      <p:sp>
        <p:nvSpPr>
          <p:cNvPr id="11" name="Text 9">
            <a:extLst xmlns:a="http://schemas.openxmlformats.org/drawingml/2006/main">
              <a:ext uri="{FF2B5EF4-FFF2-40B4-BE49-F238E27FC236}">
                <a16:creationId xmlns:a16="http://schemas.microsoft.com/office/drawing/2014/main" id="{C0ABE549-04C0-414D-85B3-BF99F984B235}"/>
              </a:ext>
            </a:extLst>
          </p:cNvPr>
          <p:cNvSpPr>
            <a:spLocks xmlns:a="http://schemas.openxmlformats.org/drawingml/2006/main" noGrp="1"/>
          </p:cNvSpPr>
          <p:nvPr/>
        </p:nvSpPr>
        <p:spPr>
          <a:xfrm xmlns:a="http://schemas.openxmlformats.org/drawingml/2006/main">
            <a:off x="3657600" y="3200400"/>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DCE8EE"/>
                </a:solidFill>
                <a:latin typeface="Calibri"/>
                <a:ea typeface="Calibri"/>
                <a:cs typeface="Calibri"/>
              </a:rPr>
              <a:t>PDF Generation Error: Attempting to parse an unsupported color function "lab".</a:t>
            </a:r>
            <a:endParaRPr sz="1250"/>
          </a:p>
        </p:txBody>
      </p:sp>
      <p:sp>
        <p:nvSpPr>
          <p:cNvPr id="12" name="Shape 10">
            <a:extLst xmlns:a="http://schemas.openxmlformats.org/drawingml/2006/main">
              <a:ext uri="{FF2B5EF4-FFF2-40B4-BE49-F238E27FC236}">
                <a16:creationId xmlns:a16="http://schemas.microsoft.com/office/drawing/2014/main" id="{A91BDAD1-5F1A-4C29-A823-FDC617DBBE96}"/>
              </a:ext>
            </a:extLst>
          </p:cNvPr>
          <p:cNvSpPr>
            <a:spLocks xmlns:a="http://schemas.openxmlformats.org/drawingml/2006/main" noGrp="1"/>
          </p:cNvSpPr>
          <p:nvPr/>
        </p:nvSpPr>
        <p:spPr>
          <a:xfrm xmlns:a="http://schemas.openxmlformats.org/drawingml/2006/main">
            <a:off x="640080" y="4123944"/>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9BD2119B-47CE-4AB7-8BF6-4D7D73920584}"/>
              </a:ext>
            </a:extLst>
          </p:cNvPr>
          <p:cNvSpPr>
            <a:spLocks xmlns:a="http://schemas.openxmlformats.org/drawingml/2006/main" noGrp="1"/>
          </p:cNvSpPr>
          <p:nvPr/>
        </p:nvSpPr>
        <p:spPr>
          <a:xfrm xmlns:a="http://schemas.openxmlformats.org/drawingml/2006/main">
            <a:off x="914400" y="4233672"/>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E9136"/>
                </a:solidFill>
                <a:latin typeface="Calibri"/>
                <a:ea typeface="Calibri"/>
                <a:cs typeface="Calibri"/>
              </a:rPr>
              <a:t>Impact</a:t>
            </a:r>
            <a:endParaRPr sz="1400"/>
          </a:p>
        </p:txBody>
      </p:sp>
      <p:sp>
        <p:nvSpPr>
          <p:cNvPr id="14" name="Text 12">
            <a:extLst xmlns:a="http://schemas.openxmlformats.org/drawingml/2006/main">
              <a:ext uri="{FF2B5EF4-FFF2-40B4-BE49-F238E27FC236}">
                <a16:creationId xmlns:a16="http://schemas.microsoft.com/office/drawing/2014/main" id="{95CCC2D6-117D-4C85-91E0-80B93877CBF4}"/>
              </a:ext>
            </a:extLst>
          </p:cNvPr>
          <p:cNvSpPr>
            <a:spLocks xmlns:a="http://schemas.openxmlformats.org/drawingml/2006/main" noGrp="1"/>
          </p:cNvSpPr>
          <p:nvPr/>
        </p:nvSpPr>
        <p:spPr>
          <a:xfrm xmlns:a="http://schemas.openxmlformats.org/drawingml/2006/main">
            <a:off x="3657600" y="4233672"/>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DCE8EE"/>
                </a:solidFill>
                <a:latin typeface="Calibri"/>
                <a:ea typeface="Calibri"/>
                <a:cs typeface="Calibri"/>
              </a:rPr>
              <a:t>The customer cannot obtain the invoice PDF. TC-009 cannot compare PDF contents because no file exists.</a:t>
            </a:r>
            <a:endParaRPr sz="1250"/>
          </a:p>
        </p:txBody>
      </p:sp>
      <p:sp>
        <p:nvSpPr>
          <p:cNvPr id="15" name="Shape 13">
            <a:extLst xmlns:a="http://schemas.openxmlformats.org/drawingml/2006/main">
              <a:ext uri="{FF2B5EF4-FFF2-40B4-BE49-F238E27FC236}">
                <a16:creationId xmlns:a16="http://schemas.microsoft.com/office/drawing/2014/main" id="{9ED98BE4-6CAF-45B5-BEED-A2581DBBC6EE}"/>
              </a:ext>
            </a:extLst>
          </p:cNvPr>
          <p:cNvSpPr>
            <a:spLocks xmlns:a="http://schemas.openxmlformats.org/drawingml/2006/main" noGrp="1"/>
          </p:cNvSpPr>
          <p:nvPr/>
        </p:nvSpPr>
        <p:spPr>
          <a:xfrm xmlns:a="http://schemas.openxmlformats.org/drawingml/2006/main">
            <a:off x="640080" y="5157216"/>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E6745D0-2E95-4438-A167-E17B7CF3A8D3}"/>
              </a:ext>
            </a:extLst>
          </p:cNvPr>
          <p:cNvSpPr>
            <a:spLocks xmlns:a="http://schemas.openxmlformats.org/drawingml/2006/main" noGrp="1"/>
          </p:cNvSpPr>
          <p:nvPr/>
        </p:nvSpPr>
        <p:spPr>
          <a:xfrm xmlns:a="http://schemas.openxmlformats.org/drawingml/2006/main">
            <a:off x="914400" y="5266944"/>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E9136"/>
                </a:solidFill>
                <a:latin typeface="Calibri"/>
                <a:ea typeface="Calibri"/>
                <a:cs typeface="Calibri"/>
              </a:rPr>
              <a:t>QA disposition</a:t>
            </a:r>
            <a:endParaRPr sz="1400"/>
          </a:p>
        </p:txBody>
      </p:sp>
      <p:sp>
        <p:nvSpPr>
          <p:cNvPr id="17" name="Text 15">
            <a:extLst xmlns:a="http://schemas.openxmlformats.org/drawingml/2006/main">
              <a:ext uri="{FF2B5EF4-FFF2-40B4-BE49-F238E27FC236}">
                <a16:creationId xmlns:a16="http://schemas.microsoft.com/office/drawing/2014/main" id="{E08630FA-D9EC-4F05-8386-15E498C6B2A6}"/>
              </a:ext>
            </a:extLst>
          </p:cNvPr>
          <p:cNvSpPr>
            <a:spLocks xmlns:a="http://schemas.openxmlformats.org/drawingml/2006/main" noGrp="1"/>
          </p:cNvSpPr>
          <p:nvPr/>
        </p:nvSpPr>
        <p:spPr>
          <a:xfrm xmlns:a="http://schemas.openxmlformats.org/drawingml/2006/main">
            <a:off x="3657600" y="5266944"/>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DCE8EE"/>
                </a:solidFill>
                <a:latin typeface="Calibri"/>
                <a:ea typeface="Calibri"/>
                <a:cs typeface="Calibri"/>
              </a:rPr>
              <a:t>TC-008R: Fail. BUG-001: Open, Medium. TC-009: Blocked. Retest after a verified export change.</a:t>
            </a:r>
            <a:endParaRPr sz="1250"/>
          </a:p>
        </p:txBody>
      </p:sp>
    </p:spTree>
    <p:extLst>
      <p:ext uri="{BB962C8B-B14F-4D97-AF65-F5344CB8AC3E}">
        <p14:creationId xmlns:p14="http://schemas.microsoft.com/office/powerpoint/2010/main" val="6486994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238DAA-9C5B-459D-96AF-BD80BBF5332E}"/>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BUG-001</a:t>
            </a:r>
            <a:endParaRPr sz="1200"/>
          </a:p>
        </p:txBody>
      </p:sp>
      <p:sp>
        <p:nvSpPr>
          <p:cNvPr id="3" name="Text 1">
            <a:extLst xmlns:a="http://schemas.openxmlformats.org/drawingml/2006/main">
              <a:ext uri="{FF2B5EF4-FFF2-40B4-BE49-F238E27FC236}">
                <a16:creationId xmlns:a16="http://schemas.microsoft.com/office/drawing/2014/main" id="{95B13F22-D9F5-4F0F-A533-38274C99795E}"/>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PDF repair options for development</a:t>
            </a:r>
            <a:endParaRPr sz="3400"/>
          </a:p>
        </p:txBody>
      </p:sp>
      <p:sp>
        <p:nvSpPr>
          <p:cNvPr id="4" name="Shape 2">
            <a:extLst xmlns:a="http://schemas.openxmlformats.org/drawingml/2006/main">
              <a:ext uri="{FF2B5EF4-FFF2-40B4-BE49-F238E27FC236}">
                <a16:creationId xmlns:a16="http://schemas.microsoft.com/office/drawing/2014/main" id="{10240AAB-F8BD-4DB9-9DE7-DE40BD080073}"/>
              </a:ext>
            </a:extLst>
          </p:cNvPr>
          <p:cNvSpPr>
            <a:spLocks xmlns:a="http://schemas.openxmlformats.org/drawingml/2006/main" noGrp="1"/>
          </p:cNvSpPr>
          <p:nvPr/>
        </p:nvSpPr>
        <p:spPr>
          <a:xfrm xmlns:a="http://schemas.openxmlformats.org/drawingml/2006/main">
            <a:off x="640080" y="1600200"/>
            <a:ext cx="3474720" cy="4114800"/>
          </a:xfrm>
          <a:prstGeom xmlns:a="http://schemas.openxmlformats.org/drawingml/2006/main" prst="roundRect">
            <a:avLst>
              <a:gd name="adj" fmla="val 2368"/>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ACE054A-2E98-4906-A3B4-5BBB082AA0CB}"/>
              </a:ext>
            </a:extLst>
          </p:cNvPr>
          <p:cNvSpPr>
            <a:spLocks xmlns:a="http://schemas.openxmlformats.org/drawingml/2006/main" noGrp="1"/>
          </p:cNvSpPr>
          <p:nvPr/>
        </p:nvSpPr>
        <p:spPr>
          <a:xfrm xmlns:a="http://schemas.openxmlformats.org/drawingml/2006/main">
            <a:off x="914400" y="1810512"/>
            <a:ext cx="384048" cy="384048"/>
          </a:xfrm>
          <a:prstGeom xmlns:a="http://schemas.openxmlformats.org/drawingml/2006/main" prst="ellipse">
            <a:avLst/>
          </a:prstGeom>
          <a:solidFill xmlns:a="http://schemas.openxmlformats.org/drawingml/2006/main">
            <a:srgbClr val="CE9136"/>
          </a:solidFill>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A04F51F2-E6D8-464C-882D-6816F3A2A811}"/>
              </a:ext>
            </a:extLst>
          </p:cNvPr>
          <p:cNvSpPr>
            <a:spLocks xmlns:a="http://schemas.openxmlformats.org/drawingml/2006/main" noGrp="1"/>
          </p:cNvSpPr>
          <p:nvPr/>
        </p:nvSpPr>
        <p:spPr>
          <a:xfrm xmlns:a="http://schemas.openxmlformats.org/drawingml/2006/main">
            <a:off x="914400" y="181051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a:t>
            </a:r>
            <a:endParaRPr sz="1300"/>
          </a:p>
        </p:txBody>
      </p:sp>
      <p:sp>
        <p:nvSpPr>
          <p:cNvPr id="7" name="Text 5">
            <a:extLst xmlns:a="http://schemas.openxmlformats.org/drawingml/2006/main">
              <a:ext uri="{FF2B5EF4-FFF2-40B4-BE49-F238E27FC236}">
                <a16:creationId xmlns:a16="http://schemas.microsoft.com/office/drawing/2014/main" id="{1E335B8C-B149-417D-B022-1417A6CC8F4C}"/>
              </a:ext>
            </a:extLst>
          </p:cNvPr>
          <p:cNvSpPr>
            <a:spLocks xmlns:a="http://schemas.openxmlformats.org/drawingml/2006/main" noGrp="1"/>
          </p:cNvSpPr>
          <p:nvPr/>
        </p:nvSpPr>
        <p:spPr>
          <a:xfrm xmlns:a="http://schemas.openxmlformats.org/drawingml/2006/main">
            <a:off x="914400" y="2331720"/>
            <a:ext cx="2971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0E2A38"/>
                </a:solidFill>
                <a:latin typeface="Calibri"/>
                <a:ea typeface="Calibri"/>
                <a:cs typeface="Calibri"/>
              </a:rPr>
              <a:t>Pin the invoice styling</a:t>
            </a:r>
            <a:endParaRPr sz="1550"/>
          </a:p>
        </p:txBody>
      </p:sp>
      <p:sp>
        <p:nvSpPr>
          <p:cNvPr id="8" name="Text 6">
            <a:extLst xmlns:a="http://schemas.openxmlformats.org/drawingml/2006/main">
              <a:ext uri="{FF2B5EF4-FFF2-40B4-BE49-F238E27FC236}">
                <a16:creationId xmlns:a16="http://schemas.microsoft.com/office/drawing/2014/main" id="{00C4297E-3F37-40F7-92CD-32CADCF73E20}"/>
              </a:ext>
            </a:extLst>
          </p:cNvPr>
          <p:cNvSpPr>
            <a:spLocks xmlns:a="http://schemas.openxmlformats.org/drawingml/2006/main" noGrp="1"/>
          </p:cNvSpPr>
          <p:nvPr/>
        </p:nvSpPr>
        <p:spPr>
          <a:xfrm xmlns:a="http://schemas.openxmlformats.org/drawingml/2006/main">
            <a:off x="914400" y="2926080"/>
            <a:ext cx="29718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Style everything inside the captured element with explicit hex or rgb values, so nothing resolves to an unsupported colour function.</a:t>
            </a:r>
            <a:endParaRPr sz="1200"/>
          </a:p>
        </p:txBody>
      </p:sp>
      <p:sp>
        <p:nvSpPr>
          <p:cNvPr id="9" name="Text 7">
            <a:extLst xmlns:a="http://schemas.openxmlformats.org/drawingml/2006/main">
              <a:ext uri="{FF2B5EF4-FFF2-40B4-BE49-F238E27FC236}">
                <a16:creationId xmlns:a16="http://schemas.microsoft.com/office/drawing/2014/main" id="{4CF57283-3881-41C6-86EF-9AD6EA415BCD}"/>
              </a:ext>
            </a:extLst>
          </p:cNvPr>
          <p:cNvSpPr>
            <a:spLocks xmlns:a="http://schemas.openxmlformats.org/drawingml/2006/main" noGrp="1"/>
          </p:cNvSpPr>
          <p:nvPr/>
        </p:nvSpPr>
        <p:spPr>
          <a:xfrm xmlns:a="http://schemas.openxmlformats.org/drawingml/2006/main">
            <a:off x="914400" y="4160520"/>
            <a:ext cx="29718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E7D5B"/>
                </a:solidFill>
                <a:latin typeface="Calibri"/>
                <a:ea typeface="Calibri"/>
                <a:cs typeface="Calibri"/>
              </a:rPr>
              <a:t>+  Fast. Touches only the invoice markup.</a:t>
            </a:r>
            <a:endParaRPr sz="1150"/>
          </a:p>
        </p:txBody>
      </p:sp>
      <p:sp>
        <p:nvSpPr>
          <p:cNvPr id="10" name="Text 8">
            <a:extLst xmlns:a="http://schemas.openxmlformats.org/drawingml/2006/main">
              <a:ext uri="{FF2B5EF4-FFF2-40B4-BE49-F238E27FC236}">
                <a16:creationId xmlns:a16="http://schemas.microsoft.com/office/drawing/2014/main" id="{44BA1326-E00E-49BA-99B6-3F68422282A4}"/>
              </a:ext>
            </a:extLst>
          </p:cNvPr>
          <p:cNvSpPr>
            <a:spLocks xmlns:a="http://schemas.openxmlformats.org/drawingml/2006/main" noGrp="1"/>
          </p:cNvSpPr>
          <p:nvPr/>
        </p:nvSpPr>
        <p:spPr>
          <a:xfrm xmlns:a="http://schemas.openxmlformats.org/drawingml/2006/main">
            <a:off x="914400" y="4892040"/>
            <a:ext cx="29718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4432F"/>
                </a:solidFill>
                <a:latin typeface="Calibri"/>
                <a:ea typeface="Calibri"/>
                <a:cs typeface="Calibri"/>
              </a:rPr>
              <a:t>–  Leaves the rest of the app on the same fragile pattern.</a:t>
            </a:r>
            <a:endParaRPr sz="1150"/>
          </a:p>
        </p:txBody>
      </p:sp>
      <p:sp>
        <p:nvSpPr>
          <p:cNvPr id="11" name="Shape 9">
            <a:extLst xmlns:a="http://schemas.openxmlformats.org/drawingml/2006/main">
              <a:ext uri="{FF2B5EF4-FFF2-40B4-BE49-F238E27FC236}">
                <a16:creationId xmlns:a16="http://schemas.microsoft.com/office/drawing/2014/main" id="{889049D6-CB0C-48B4-9A57-9812F3EC1544}"/>
              </a:ext>
            </a:extLst>
          </p:cNvPr>
          <p:cNvSpPr>
            <a:spLocks xmlns:a="http://schemas.openxmlformats.org/drawingml/2006/main" noGrp="1"/>
          </p:cNvSpPr>
          <p:nvPr/>
        </p:nvSpPr>
        <p:spPr>
          <a:xfrm xmlns:a="http://schemas.openxmlformats.org/drawingml/2006/main">
            <a:off x="4361688" y="1600200"/>
            <a:ext cx="3474720" cy="4114800"/>
          </a:xfrm>
          <a:prstGeom xmlns:a="http://schemas.openxmlformats.org/drawingml/2006/main" prst="roundRect">
            <a:avLst>
              <a:gd name="adj" fmla="val 2368"/>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60BF0665-6506-489F-A562-81D636EBFA3A}"/>
              </a:ext>
            </a:extLst>
          </p:cNvPr>
          <p:cNvSpPr>
            <a:spLocks xmlns:a="http://schemas.openxmlformats.org/drawingml/2006/main" noGrp="1"/>
          </p:cNvSpPr>
          <p:nvPr/>
        </p:nvSpPr>
        <p:spPr>
          <a:xfrm xmlns:a="http://schemas.openxmlformats.org/drawingml/2006/main">
            <a:off x="4636008" y="1810512"/>
            <a:ext cx="384048" cy="384048"/>
          </a:xfrm>
          <a:prstGeom xmlns:a="http://schemas.openxmlformats.org/drawingml/2006/main" prst="ellipse">
            <a:avLst/>
          </a:prstGeom>
          <a:solidFill xmlns:a="http://schemas.openxmlformats.org/drawingml/2006/main">
            <a:srgbClr val="CE9136"/>
          </a:solidFill>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E1802642-03DF-49F9-A429-6C160D5D2773}"/>
              </a:ext>
            </a:extLst>
          </p:cNvPr>
          <p:cNvSpPr>
            <a:spLocks xmlns:a="http://schemas.openxmlformats.org/drawingml/2006/main" noGrp="1"/>
          </p:cNvSpPr>
          <p:nvPr/>
        </p:nvSpPr>
        <p:spPr>
          <a:xfrm xmlns:a="http://schemas.openxmlformats.org/drawingml/2006/main">
            <a:off x="4636008" y="181051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B</a:t>
            </a:r>
            <a:endParaRPr sz="1300"/>
          </a:p>
        </p:txBody>
      </p:sp>
      <p:sp>
        <p:nvSpPr>
          <p:cNvPr id="14" name="Text 12">
            <a:extLst xmlns:a="http://schemas.openxmlformats.org/drawingml/2006/main">
              <a:ext uri="{FF2B5EF4-FFF2-40B4-BE49-F238E27FC236}">
                <a16:creationId xmlns:a16="http://schemas.microsoft.com/office/drawing/2014/main" id="{9B80EDE2-6B33-4885-AC26-CAA243EA54CB}"/>
              </a:ext>
            </a:extLst>
          </p:cNvPr>
          <p:cNvSpPr>
            <a:spLocks xmlns:a="http://schemas.openxmlformats.org/drawingml/2006/main" noGrp="1"/>
          </p:cNvSpPr>
          <p:nvPr/>
        </p:nvSpPr>
        <p:spPr>
          <a:xfrm xmlns:a="http://schemas.openxmlformats.org/drawingml/2006/main">
            <a:off x="4636008" y="2331720"/>
            <a:ext cx="2971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0E2A38"/>
                </a:solidFill>
                <a:latin typeface="Calibri"/>
                <a:ea typeface="Calibri"/>
                <a:cs typeface="Calibri"/>
              </a:rPr>
              <a:t>Override the palette tokens</a:t>
            </a:r>
            <a:endParaRPr sz="1550"/>
          </a:p>
        </p:txBody>
      </p:sp>
      <p:sp>
        <p:nvSpPr>
          <p:cNvPr id="15" name="Text 13">
            <a:extLst xmlns:a="http://schemas.openxmlformats.org/drawingml/2006/main">
              <a:ext uri="{FF2B5EF4-FFF2-40B4-BE49-F238E27FC236}">
                <a16:creationId xmlns:a16="http://schemas.microsoft.com/office/drawing/2014/main" id="{9BA692F0-BAEB-4C56-9A26-0F74EB0E7F5C}"/>
              </a:ext>
            </a:extLst>
          </p:cNvPr>
          <p:cNvSpPr>
            <a:spLocks xmlns:a="http://schemas.openxmlformats.org/drawingml/2006/main" noGrp="1"/>
          </p:cNvSpPr>
          <p:nvPr/>
        </p:nvSpPr>
        <p:spPr>
          <a:xfrm xmlns:a="http://schemas.openxmlformats.org/drawingml/2006/main">
            <a:off x="4636008" y="2926080"/>
            <a:ext cx="29718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Override relevant framework colour tokens with supported values, then verify the full capture region.</a:t>
            </a:r>
            <a:endParaRPr sz="1200"/>
          </a:p>
        </p:txBody>
      </p:sp>
      <p:sp>
        <p:nvSpPr>
          <p:cNvPr id="16" name="Text 14">
            <a:extLst xmlns:a="http://schemas.openxmlformats.org/drawingml/2006/main">
              <a:ext uri="{FF2B5EF4-FFF2-40B4-BE49-F238E27FC236}">
                <a16:creationId xmlns:a16="http://schemas.microsoft.com/office/drawing/2014/main" id="{6D977435-A690-4769-BC3F-BB7EBAEE349B}"/>
              </a:ext>
            </a:extLst>
          </p:cNvPr>
          <p:cNvSpPr>
            <a:spLocks xmlns:a="http://schemas.openxmlformats.org/drawingml/2006/main" noGrp="1"/>
          </p:cNvSpPr>
          <p:nvPr/>
        </p:nvSpPr>
        <p:spPr>
          <a:xfrm xmlns:a="http://schemas.openxmlformats.org/drawingml/2006/main">
            <a:off x="4636008" y="4160520"/>
            <a:ext cx="29718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E7D5B"/>
                </a:solidFill>
                <a:latin typeface="Calibri"/>
                <a:ea typeface="Calibri"/>
                <a:cs typeface="Calibri"/>
              </a:rPr>
              <a:t>+  Can address shared palette incompatibilities.</a:t>
            </a:r>
            <a:endParaRPr sz="1150"/>
          </a:p>
        </p:txBody>
      </p:sp>
      <p:sp>
        <p:nvSpPr>
          <p:cNvPr id="17" name="Text 15">
            <a:extLst xmlns:a="http://schemas.openxmlformats.org/drawingml/2006/main">
              <a:ext uri="{FF2B5EF4-FFF2-40B4-BE49-F238E27FC236}">
                <a16:creationId xmlns:a16="http://schemas.microsoft.com/office/drawing/2014/main" id="{834C30C7-7D24-4424-A4D2-B256C0C47368}"/>
              </a:ext>
            </a:extLst>
          </p:cNvPr>
          <p:cNvSpPr>
            <a:spLocks xmlns:a="http://schemas.openxmlformats.org/drawingml/2006/main" noGrp="1"/>
          </p:cNvSpPr>
          <p:nvPr/>
        </p:nvSpPr>
        <p:spPr>
          <a:xfrm xmlns:a="http://schemas.openxmlformats.org/drawingml/2006/main">
            <a:off x="4636008" y="4892040"/>
            <a:ext cx="29718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4432F"/>
                </a:solidFill>
                <a:latin typeface="Calibri"/>
                <a:ea typeface="Calibri"/>
                <a:cs typeface="Calibri"/>
              </a:rPr>
              <a:t>–  Larger change; needs a visual regression pass.</a:t>
            </a:r>
            <a:endParaRPr sz="1150"/>
          </a:p>
        </p:txBody>
      </p:sp>
      <p:sp>
        <p:nvSpPr>
          <p:cNvPr id="18" name="Shape 16">
            <a:extLst xmlns:a="http://schemas.openxmlformats.org/drawingml/2006/main">
              <a:ext uri="{FF2B5EF4-FFF2-40B4-BE49-F238E27FC236}">
                <a16:creationId xmlns:a16="http://schemas.microsoft.com/office/drawing/2014/main" id="{92FCD68E-D303-40B5-9D7F-ABDCA861EE3B}"/>
              </a:ext>
            </a:extLst>
          </p:cNvPr>
          <p:cNvSpPr>
            <a:spLocks xmlns:a="http://schemas.openxmlformats.org/drawingml/2006/main" noGrp="1"/>
          </p:cNvSpPr>
          <p:nvPr/>
        </p:nvSpPr>
        <p:spPr>
          <a:xfrm xmlns:a="http://schemas.openxmlformats.org/drawingml/2006/main">
            <a:off x="8083296" y="1600200"/>
            <a:ext cx="3474720" cy="4114800"/>
          </a:xfrm>
          <a:prstGeom xmlns:a="http://schemas.openxmlformats.org/drawingml/2006/main" prst="roundRect">
            <a:avLst>
              <a:gd name="adj" fmla="val 2368"/>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D71D211E-536E-4632-8594-7ED6544104CC}"/>
              </a:ext>
            </a:extLst>
          </p:cNvPr>
          <p:cNvSpPr>
            <a:spLocks xmlns:a="http://schemas.openxmlformats.org/drawingml/2006/main" noGrp="1"/>
          </p:cNvSpPr>
          <p:nvPr/>
        </p:nvSpPr>
        <p:spPr>
          <a:xfrm xmlns:a="http://schemas.openxmlformats.org/drawingml/2006/main">
            <a:off x="8357616" y="1810512"/>
            <a:ext cx="384048" cy="384048"/>
          </a:xfrm>
          <a:prstGeom xmlns:a="http://schemas.openxmlformats.org/drawingml/2006/main" prst="ellipse">
            <a:avLst/>
          </a:prstGeom>
          <a:solidFill xmlns:a="http://schemas.openxmlformats.org/drawingml/2006/main">
            <a:srgbClr val="CE9136"/>
          </a:solidFill>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78C029E-C0EE-4B04-B755-08B9BC5A8F5A}"/>
              </a:ext>
            </a:extLst>
          </p:cNvPr>
          <p:cNvSpPr>
            <a:spLocks xmlns:a="http://schemas.openxmlformats.org/drawingml/2006/main" noGrp="1"/>
          </p:cNvSpPr>
          <p:nvPr/>
        </p:nvSpPr>
        <p:spPr>
          <a:xfrm xmlns:a="http://schemas.openxmlformats.org/drawingml/2006/main">
            <a:off x="8357616" y="181051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C</a:t>
            </a:r>
            <a:endParaRPr sz="1300"/>
          </a:p>
        </p:txBody>
      </p:sp>
      <p:sp>
        <p:nvSpPr>
          <p:cNvPr id="21" name="Text 19">
            <a:extLst xmlns:a="http://schemas.openxmlformats.org/drawingml/2006/main">
              <a:ext uri="{FF2B5EF4-FFF2-40B4-BE49-F238E27FC236}">
                <a16:creationId xmlns:a16="http://schemas.microsoft.com/office/drawing/2014/main" id="{F87709A1-CE97-4388-9AD2-EA8146DECEB7}"/>
              </a:ext>
            </a:extLst>
          </p:cNvPr>
          <p:cNvSpPr>
            <a:spLocks xmlns:a="http://schemas.openxmlformats.org/drawingml/2006/main" noGrp="1"/>
          </p:cNvSpPr>
          <p:nvPr/>
        </p:nvSpPr>
        <p:spPr>
          <a:xfrm xmlns:a="http://schemas.openxmlformats.org/drawingml/2006/main">
            <a:off x="8357616" y="2331720"/>
            <a:ext cx="2971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0E2A38"/>
                </a:solidFill>
                <a:latin typeface="Calibri"/>
                <a:ea typeface="Calibri"/>
                <a:cs typeface="Calibri"/>
              </a:rPr>
              <a:t>Change the export method</a:t>
            </a:r>
            <a:endParaRPr sz="1550"/>
          </a:p>
        </p:txBody>
      </p:sp>
      <p:sp>
        <p:nvSpPr>
          <p:cNvPr id="22" name="Text 20">
            <a:extLst xmlns:a="http://schemas.openxmlformats.org/drawingml/2006/main">
              <a:ext uri="{FF2B5EF4-FFF2-40B4-BE49-F238E27FC236}">
                <a16:creationId xmlns:a16="http://schemas.microsoft.com/office/drawing/2014/main" id="{F5D5A9DD-4DB5-48E3-9E55-3B27F35ECA35}"/>
              </a:ext>
            </a:extLst>
          </p:cNvPr>
          <p:cNvSpPr>
            <a:spLocks xmlns:a="http://schemas.openxmlformats.org/drawingml/2006/main" noGrp="1"/>
          </p:cNvSpPr>
          <p:nvPr/>
        </p:nvSpPr>
        <p:spPr>
          <a:xfrm xmlns:a="http://schemas.openxmlformats.org/drawingml/2006/main">
            <a:off x="8357616" y="2926080"/>
            <a:ext cx="29718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Generate the PDF from structured invoice data instead of screenshotting the DOM.</a:t>
            </a:r>
            <a:endParaRPr sz="1200"/>
          </a:p>
        </p:txBody>
      </p:sp>
      <p:sp>
        <p:nvSpPr>
          <p:cNvPr id="23" name="Text 21">
            <a:extLst xmlns:a="http://schemas.openxmlformats.org/drawingml/2006/main">
              <a:ext uri="{FF2B5EF4-FFF2-40B4-BE49-F238E27FC236}">
                <a16:creationId xmlns:a16="http://schemas.microsoft.com/office/drawing/2014/main" id="{07FF2256-5896-405F-B292-FF4355360581}"/>
              </a:ext>
            </a:extLst>
          </p:cNvPr>
          <p:cNvSpPr>
            <a:spLocks xmlns:a="http://schemas.openxmlformats.org/drawingml/2006/main" noGrp="1"/>
          </p:cNvSpPr>
          <p:nvPr/>
        </p:nvSpPr>
        <p:spPr>
          <a:xfrm xmlns:a="http://schemas.openxmlformats.org/drawingml/2006/main">
            <a:off x="8357616" y="4160520"/>
            <a:ext cx="29718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E7D5B"/>
                </a:solidFill>
                <a:latin typeface="Calibri"/>
                <a:ea typeface="Calibri"/>
                <a:cs typeface="Calibri"/>
              </a:rPr>
              <a:t>+  Avoids screenshot colour parsing. Can provide selectable text.</a:t>
            </a:r>
            <a:endParaRPr sz="1150"/>
          </a:p>
        </p:txBody>
      </p:sp>
      <p:sp>
        <p:nvSpPr>
          <p:cNvPr id="24" name="Text 22">
            <a:extLst xmlns:a="http://schemas.openxmlformats.org/drawingml/2006/main">
              <a:ext uri="{FF2B5EF4-FFF2-40B4-BE49-F238E27FC236}">
                <a16:creationId xmlns:a16="http://schemas.microsoft.com/office/drawing/2014/main" id="{4DC1D59A-51F0-4C26-833A-5157E590A5C2}"/>
              </a:ext>
            </a:extLst>
          </p:cNvPr>
          <p:cNvSpPr>
            <a:spLocks xmlns:a="http://schemas.openxmlformats.org/drawingml/2006/main" noGrp="1"/>
          </p:cNvSpPr>
          <p:nvPr/>
        </p:nvSpPr>
        <p:spPr>
          <a:xfrm xmlns:a="http://schemas.openxmlformats.org/drawingml/2006/main">
            <a:off x="8357616" y="4892040"/>
            <a:ext cx="29718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4432F"/>
                </a:solidFill>
                <a:latin typeface="Calibri"/>
                <a:ea typeface="Calibri"/>
                <a:cs typeface="Calibri"/>
              </a:rPr>
              <a:t>–  The most development effort of the three.</a:t>
            </a:r>
            <a:endParaRPr sz="1150"/>
          </a:p>
        </p:txBody>
      </p:sp>
      <p:sp>
        <p:nvSpPr>
          <p:cNvPr id="25" name="Text 23">
            <a:extLst xmlns:a="http://schemas.openxmlformats.org/drawingml/2006/main">
              <a:ext uri="{FF2B5EF4-FFF2-40B4-BE49-F238E27FC236}">
                <a16:creationId xmlns:a16="http://schemas.microsoft.com/office/drawing/2014/main" id="{1D3CE758-C423-4B6B-AF12-41757BA9ABD5}"/>
              </a:ext>
            </a:extLst>
          </p:cNvPr>
          <p:cNvSpPr>
            <a:spLocks xmlns:a="http://schemas.openxmlformats.org/drawingml/2006/main" noGrp="1"/>
          </p:cNvSpPr>
          <p:nvPr/>
        </p:nvSpPr>
        <p:spPr>
          <a:xfrm xmlns:a="http://schemas.openxmlformats.org/drawingml/2006/main">
            <a:off x="640080" y="5989320"/>
            <a:ext cx="10881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i="1">
                <a:solidFill>
                  <a:srgbClr val="0E2A38"/>
                </a:solidFill>
                <a:latin typeface="Calibri"/>
                <a:ea typeface="Calibri"/>
                <a:cs typeface="Calibri"/>
              </a:rPr>
              <a:t>Proposed options only. Close the defect after a downloaded PDF opens and its content is verified.</a:t>
            </a:r>
            <a:endParaRPr sz="1300"/>
          </a:p>
        </p:txBody>
      </p:sp>
    </p:spTree>
    <p:extLst>
      <p:ext uri="{BB962C8B-B14F-4D97-AF65-F5344CB8AC3E}">
        <p14:creationId xmlns:p14="http://schemas.microsoft.com/office/powerpoint/2010/main" val="10140622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C2081A-6CF8-44D7-8277-F135F3D81BF4}"/>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NEW FINDINGS</a:t>
            </a:r>
            <a:endParaRPr sz="1200"/>
          </a:p>
        </p:txBody>
      </p:sp>
      <p:sp>
        <p:nvSpPr>
          <p:cNvPr id="3" name="Text 1">
            <a:extLst xmlns:a="http://schemas.openxmlformats.org/drawingml/2006/main">
              <a:ext uri="{FF2B5EF4-FFF2-40B4-BE49-F238E27FC236}">
                <a16:creationId xmlns:a16="http://schemas.microsoft.com/office/drawing/2014/main" id="{A4A80473-8CDC-4ABF-A17B-7808D61C67AF}"/>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Confirmed customer-flow findings</a:t>
            </a:r>
            <a:endParaRPr sz="3400"/>
          </a:p>
        </p:txBody>
      </p:sp>
      <p:sp>
        <p:nvSpPr>
          <p:cNvPr id="4" name="Shape 2">
            <a:extLst xmlns:a="http://schemas.openxmlformats.org/drawingml/2006/main">
              <a:ext uri="{FF2B5EF4-FFF2-40B4-BE49-F238E27FC236}">
                <a16:creationId xmlns:a16="http://schemas.microsoft.com/office/drawing/2014/main" id="{77177F5D-A79B-459A-A36F-0A9C20F2A543}"/>
              </a:ext>
            </a:extLst>
          </p:cNvPr>
          <p:cNvSpPr>
            <a:spLocks xmlns:a="http://schemas.openxmlformats.org/drawingml/2006/main" noGrp="1"/>
          </p:cNvSpPr>
          <p:nvPr/>
        </p:nvSpPr>
        <p:spPr>
          <a:xfrm xmlns:a="http://schemas.openxmlformats.org/drawingml/2006/main">
            <a:off x="640080" y="1627632"/>
            <a:ext cx="10881360" cy="950976"/>
          </a:xfrm>
          <a:prstGeom xmlns:a="http://schemas.openxmlformats.org/drawingml/2006/main" prst="roundRect">
            <a:avLst>
              <a:gd name="adj" fmla="val 8654"/>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15F02FB-BE68-4A93-8933-FE9A67B01F90}"/>
              </a:ext>
            </a:extLst>
          </p:cNvPr>
          <p:cNvSpPr>
            <a:spLocks xmlns:a="http://schemas.openxmlformats.org/drawingml/2006/main" noGrp="1"/>
          </p:cNvSpPr>
          <p:nvPr/>
        </p:nvSpPr>
        <p:spPr>
          <a:xfrm xmlns:a="http://schemas.openxmlformats.org/drawingml/2006/main">
            <a:off x="914400" y="1792224"/>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2A38"/>
                </a:solidFill>
                <a:latin typeface="Calibri"/>
                <a:ea typeface="Calibri"/>
                <a:cs typeface="Calibri"/>
              </a:rPr>
              <a:t>BUG-002</a:t>
            </a:r>
            <a:endParaRPr sz="1300"/>
          </a:p>
        </p:txBody>
      </p:sp>
      <p:sp>
        <p:nvSpPr>
          <p:cNvPr id="6" name="Shape 4">
            <a:extLst xmlns:a="http://schemas.openxmlformats.org/drawingml/2006/main">
              <a:ext uri="{FF2B5EF4-FFF2-40B4-BE49-F238E27FC236}">
                <a16:creationId xmlns:a16="http://schemas.microsoft.com/office/drawing/2014/main" id="{28166DEA-DC2E-438A-A50E-AA76BEBE26CB}"/>
              </a:ext>
            </a:extLst>
          </p:cNvPr>
          <p:cNvSpPr>
            <a:spLocks xmlns:a="http://schemas.openxmlformats.org/drawingml/2006/main" noGrp="1"/>
          </p:cNvSpPr>
          <p:nvPr/>
        </p:nvSpPr>
        <p:spPr>
          <a:xfrm xmlns:a="http://schemas.openxmlformats.org/drawingml/2006/main">
            <a:off x="914400" y="2130552"/>
            <a:ext cx="713232" cy="256032"/>
          </a:xfrm>
          <a:prstGeom xmlns:a="http://schemas.openxmlformats.org/drawingml/2006/main" prst="roundRect">
            <a:avLst>
              <a:gd name="adj" fmla="val 21429"/>
            </a:avLst>
          </a:prstGeom>
          <a:solidFill xmlns:a="http://schemas.openxmlformats.org/drawingml/2006/main">
            <a:srgbClr val="B4432F"/>
          </a:solidFill>
          <a:ln xmlns:a="http://schemas.openxmlformats.org/drawingml/2006/main" w="12700">
            <a:solidFill>
              <a:srgbClr val="B4432F"/>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C36F0D63-5BCB-47A4-8FAE-3BE07039C68C}"/>
              </a:ext>
            </a:extLst>
          </p:cNvPr>
          <p:cNvSpPr>
            <a:spLocks xmlns:a="http://schemas.openxmlformats.org/drawingml/2006/main" noGrp="1"/>
          </p:cNvSpPr>
          <p:nvPr/>
        </p:nvSpPr>
        <p:spPr>
          <a:xfrm xmlns:a="http://schemas.openxmlformats.org/drawingml/2006/main">
            <a:off x="914400" y="2130552"/>
            <a:ext cx="7132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High</a:t>
            </a:r>
            <a:endParaRPr sz="1000"/>
          </a:p>
        </p:txBody>
      </p:sp>
      <p:sp>
        <p:nvSpPr>
          <p:cNvPr id="8" name="Text 6">
            <a:extLst xmlns:a="http://schemas.openxmlformats.org/drawingml/2006/main">
              <a:ext uri="{FF2B5EF4-FFF2-40B4-BE49-F238E27FC236}">
                <a16:creationId xmlns:a16="http://schemas.microsoft.com/office/drawing/2014/main" id="{81CD7949-90C6-4731-BB46-3E6898199DBA}"/>
              </a:ext>
            </a:extLst>
          </p:cNvPr>
          <p:cNvSpPr>
            <a:spLocks xmlns:a="http://schemas.openxmlformats.org/drawingml/2006/main" noGrp="1"/>
          </p:cNvSpPr>
          <p:nvPr/>
        </p:nvSpPr>
        <p:spPr>
          <a:xfrm xmlns:a="http://schemas.openxmlformats.org/drawingml/2006/main">
            <a:off x="2194560" y="1746504"/>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Booking details do not reach checkout</a:t>
            </a:r>
            <a:endParaRPr sz="1350"/>
          </a:p>
        </p:txBody>
      </p:sp>
      <p:sp>
        <p:nvSpPr>
          <p:cNvPr id="9" name="Text 7">
            <a:extLst xmlns:a="http://schemas.openxmlformats.org/drawingml/2006/main">
              <a:ext uri="{FF2B5EF4-FFF2-40B4-BE49-F238E27FC236}">
                <a16:creationId xmlns:a16="http://schemas.microsoft.com/office/drawing/2014/main" id="{EA2BD6E6-909A-4567-A87C-2C1C87BF0B0A}"/>
              </a:ext>
            </a:extLst>
          </p:cNvPr>
          <p:cNvSpPr>
            <a:spLocks xmlns:a="http://schemas.openxmlformats.org/drawingml/2006/main" noGrp="1"/>
          </p:cNvSpPr>
          <p:nvPr/>
        </p:nvSpPr>
        <p:spPr>
          <a:xfrm xmlns:a="http://schemas.openxmlformats.org/drawingml/2006/main">
            <a:off x="5486400" y="1746504"/>
            <a:ext cx="5806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Booked 2 guests with both add-ons for PHP 3,900. Checkout showed 1 guest, PHP 1,350 and a pending date.</a:t>
            </a:r>
            <a:endParaRPr sz="1200"/>
          </a:p>
        </p:txBody>
      </p:sp>
      <p:sp>
        <p:nvSpPr>
          <p:cNvPr id="10" name="Shape 8">
            <a:extLst xmlns:a="http://schemas.openxmlformats.org/drawingml/2006/main">
              <a:ext uri="{FF2B5EF4-FFF2-40B4-BE49-F238E27FC236}">
                <a16:creationId xmlns:a16="http://schemas.microsoft.com/office/drawing/2014/main" id="{7472EA73-9648-495B-8A5A-CBA6DE3D9114}"/>
              </a:ext>
            </a:extLst>
          </p:cNvPr>
          <p:cNvSpPr>
            <a:spLocks xmlns:a="http://schemas.openxmlformats.org/drawingml/2006/main" noGrp="1"/>
          </p:cNvSpPr>
          <p:nvPr/>
        </p:nvSpPr>
        <p:spPr>
          <a:xfrm xmlns:a="http://schemas.openxmlformats.org/drawingml/2006/main">
            <a:off x="640080" y="2724912"/>
            <a:ext cx="10881360" cy="950976"/>
          </a:xfrm>
          <a:prstGeom xmlns:a="http://schemas.openxmlformats.org/drawingml/2006/main" prst="roundRect">
            <a:avLst>
              <a:gd name="adj" fmla="val 8654"/>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A0AC271C-8219-4B89-8459-D54DDEF8B575}"/>
              </a:ext>
            </a:extLst>
          </p:cNvPr>
          <p:cNvSpPr>
            <a:spLocks xmlns:a="http://schemas.openxmlformats.org/drawingml/2006/main" noGrp="1"/>
          </p:cNvSpPr>
          <p:nvPr/>
        </p:nvSpPr>
        <p:spPr>
          <a:xfrm xmlns:a="http://schemas.openxmlformats.org/drawingml/2006/main">
            <a:off x="914400" y="2889504"/>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2A38"/>
                </a:solidFill>
                <a:latin typeface="Calibri"/>
                <a:ea typeface="Calibri"/>
                <a:cs typeface="Calibri"/>
              </a:rPr>
              <a:t>BUG-003</a:t>
            </a:r>
            <a:endParaRPr sz="1300"/>
          </a:p>
        </p:txBody>
      </p:sp>
      <p:sp>
        <p:nvSpPr>
          <p:cNvPr id="12" name="Shape 10">
            <a:extLst xmlns:a="http://schemas.openxmlformats.org/drawingml/2006/main">
              <a:ext uri="{FF2B5EF4-FFF2-40B4-BE49-F238E27FC236}">
                <a16:creationId xmlns:a16="http://schemas.microsoft.com/office/drawing/2014/main" id="{B23EC4C2-0D77-46A7-8217-DDA95DA1F840}"/>
              </a:ext>
            </a:extLst>
          </p:cNvPr>
          <p:cNvSpPr>
            <a:spLocks xmlns:a="http://schemas.openxmlformats.org/drawingml/2006/main" noGrp="1"/>
          </p:cNvSpPr>
          <p:nvPr/>
        </p:nvSpPr>
        <p:spPr>
          <a:xfrm xmlns:a="http://schemas.openxmlformats.org/drawingml/2006/main">
            <a:off x="914400" y="3227832"/>
            <a:ext cx="713232" cy="256032"/>
          </a:xfrm>
          <a:prstGeom xmlns:a="http://schemas.openxmlformats.org/drawingml/2006/main" prst="roundRect">
            <a:avLst>
              <a:gd name="adj" fmla="val 21429"/>
            </a:avLst>
          </a:prstGeom>
          <a:solidFill xmlns:a="http://schemas.openxmlformats.org/drawingml/2006/main">
            <a:srgbClr val="B4432F"/>
          </a:solidFill>
          <a:ln xmlns:a="http://schemas.openxmlformats.org/drawingml/2006/main" w="12700">
            <a:solidFill>
              <a:srgbClr val="B4432F"/>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8028E480-5B52-48E3-BF8E-3BC47664FD5F}"/>
              </a:ext>
            </a:extLst>
          </p:cNvPr>
          <p:cNvSpPr>
            <a:spLocks xmlns:a="http://schemas.openxmlformats.org/drawingml/2006/main" noGrp="1"/>
          </p:cNvSpPr>
          <p:nvPr/>
        </p:nvSpPr>
        <p:spPr>
          <a:xfrm xmlns:a="http://schemas.openxmlformats.org/drawingml/2006/main">
            <a:off x="914400" y="3227832"/>
            <a:ext cx="7132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High</a:t>
            </a:r>
            <a:endParaRPr sz="1000"/>
          </a:p>
        </p:txBody>
      </p:sp>
      <p:sp>
        <p:nvSpPr>
          <p:cNvPr id="14" name="Text 12">
            <a:extLst xmlns:a="http://schemas.openxmlformats.org/drawingml/2006/main">
              <a:ext uri="{FF2B5EF4-FFF2-40B4-BE49-F238E27FC236}">
                <a16:creationId xmlns:a16="http://schemas.microsoft.com/office/drawing/2014/main" id="{C4F9D0CF-959A-4407-8076-744BB6825E30}"/>
              </a:ext>
            </a:extLst>
          </p:cNvPr>
          <p:cNvSpPr>
            <a:spLocks xmlns:a="http://schemas.openxmlformats.org/drawingml/2006/main" noGrp="1"/>
          </p:cNvSpPr>
          <p:nvPr/>
        </p:nvSpPr>
        <p:spPr>
          <a:xfrm xmlns:a="http://schemas.openxmlformats.org/drawingml/2006/main">
            <a:off x="2194560" y="2843784"/>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Dashboard shows sample data</a:t>
            </a:r>
            <a:endParaRPr sz="1350"/>
          </a:p>
        </p:txBody>
      </p:sp>
      <p:sp>
        <p:nvSpPr>
          <p:cNvPr id="15" name="Text 13">
            <a:extLst xmlns:a="http://schemas.openxmlformats.org/drawingml/2006/main">
              <a:ext uri="{FF2B5EF4-FFF2-40B4-BE49-F238E27FC236}">
                <a16:creationId xmlns:a16="http://schemas.microsoft.com/office/drawing/2014/main" id="{33330FE2-E1F5-4919-8C0E-08E5C19793EA}"/>
              </a:ext>
            </a:extLst>
          </p:cNvPr>
          <p:cNvSpPr>
            <a:spLocks xmlns:a="http://schemas.openxmlformats.org/drawingml/2006/main" noGrp="1"/>
          </p:cNvSpPr>
          <p:nvPr/>
        </p:nvSpPr>
        <p:spPr>
          <a:xfrm xmlns:a="http://schemas.openxmlformats.org/drawingml/2006/main">
            <a:off x="5486400" y="2843784"/>
            <a:ext cx="5806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Dashboard showed Juan Dela Cruz, 1 guest and PHP 1,350 instead of the entered QA booking.</a:t>
            </a:r>
            <a:endParaRPr sz="1200"/>
          </a:p>
        </p:txBody>
      </p:sp>
      <p:sp>
        <p:nvSpPr>
          <p:cNvPr id="16" name="Shape 14">
            <a:extLst xmlns:a="http://schemas.openxmlformats.org/drawingml/2006/main">
              <a:ext uri="{FF2B5EF4-FFF2-40B4-BE49-F238E27FC236}">
                <a16:creationId xmlns:a16="http://schemas.microsoft.com/office/drawing/2014/main" id="{3346DBAD-8F58-45CC-81FB-56437A1C26A9}"/>
              </a:ext>
            </a:extLst>
          </p:cNvPr>
          <p:cNvSpPr>
            <a:spLocks xmlns:a="http://schemas.openxmlformats.org/drawingml/2006/main" noGrp="1"/>
          </p:cNvSpPr>
          <p:nvPr/>
        </p:nvSpPr>
        <p:spPr>
          <a:xfrm xmlns:a="http://schemas.openxmlformats.org/drawingml/2006/main">
            <a:off x="640080" y="3822192"/>
            <a:ext cx="10881360" cy="950976"/>
          </a:xfrm>
          <a:prstGeom xmlns:a="http://schemas.openxmlformats.org/drawingml/2006/main" prst="roundRect">
            <a:avLst>
              <a:gd name="adj" fmla="val 8654"/>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5390FBF4-6A37-4C1F-AF4F-4F75CDE63ECF}"/>
              </a:ext>
            </a:extLst>
          </p:cNvPr>
          <p:cNvSpPr>
            <a:spLocks xmlns:a="http://schemas.openxmlformats.org/drawingml/2006/main" noGrp="1"/>
          </p:cNvSpPr>
          <p:nvPr/>
        </p:nvSpPr>
        <p:spPr>
          <a:xfrm xmlns:a="http://schemas.openxmlformats.org/drawingml/2006/main">
            <a:off x="914400" y="3986784"/>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2A38"/>
                </a:solidFill>
                <a:latin typeface="Calibri"/>
                <a:ea typeface="Calibri"/>
                <a:cs typeface="Calibri"/>
              </a:rPr>
              <a:t>BUG-004</a:t>
            </a:r>
            <a:endParaRPr sz="1300"/>
          </a:p>
        </p:txBody>
      </p:sp>
      <p:sp>
        <p:nvSpPr>
          <p:cNvPr id="18" name="Shape 16">
            <a:extLst xmlns:a="http://schemas.openxmlformats.org/drawingml/2006/main">
              <a:ext uri="{FF2B5EF4-FFF2-40B4-BE49-F238E27FC236}">
                <a16:creationId xmlns:a16="http://schemas.microsoft.com/office/drawing/2014/main" id="{B815B327-A7A8-45DC-9B44-62CA378DC1F8}"/>
              </a:ext>
            </a:extLst>
          </p:cNvPr>
          <p:cNvSpPr>
            <a:spLocks xmlns:a="http://schemas.openxmlformats.org/drawingml/2006/main" noGrp="1"/>
          </p:cNvSpPr>
          <p:nvPr/>
        </p:nvSpPr>
        <p:spPr>
          <a:xfrm xmlns:a="http://schemas.openxmlformats.org/drawingml/2006/main">
            <a:off x="914400" y="4325112"/>
            <a:ext cx="713232" cy="256032"/>
          </a:xfrm>
          <a:prstGeom xmlns:a="http://schemas.openxmlformats.org/drawingml/2006/main" prst="roundRect">
            <a:avLst>
              <a:gd name="adj" fmla="val 21429"/>
            </a:avLst>
          </a:prstGeom>
          <a:solidFill xmlns:a="http://schemas.openxmlformats.org/drawingml/2006/main">
            <a:srgbClr val="B4432F"/>
          </a:solidFill>
          <a:ln xmlns:a="http://schemas.openxmlformats.org/drawingml/2006/main" w="12700">
            <a:solidFill>
              <a:srgbClr val="B4432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4419F4F3-9384-4E7B-A6D8-32D3D49DD3AB}"/>
              </a:ext>
            </a:extLst>
          </p:cNvPr>
          <p:cNvSpPr>
            <a:spLocks xmlns:a="http://schemas.openxmlformats.org/drawingml/2006/main" noGrp="1"/>
          </p:cNvSpPr>
          <p:nvPr/>
        </p:nvSpPr>
        <p:spPr>
          <a:xfrm xmlns:a="http://schemas.openxmlformats.org/drawingml/2006/main">
            <a:off x="914400" y="4325112"/>
            <a:ext cx="7132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High</a:t>
            </a:r>
            <a:endParaRPr sz="1000"/>
          </a:p>
        </p:txBody>
      </p:sp>
      <p:sp>
        <p:nvSpPr>
          <p:cNvPr id="20" name="Text 18">
            <a:extLst xmlns:a="http://schemas.openxmlformats.org/drawingml/2006/main">
              <a:ext uri="{FF2B5EF4-FFF2-40B4-BE49-F238E27FC236}">
                <a16:creationId xmlns:a16="http://schemas.microsoft.com/office/drawing/2014/main" id="{C3DD670C-E696-4CE2-BCD2-5AABFA2C01A3}"/>
              </a:ext>
            </a:extLst>
          </p:cNvPr>
          <p:cNvSpPr>
            <a:spLocks xmlns:a="http://schemas.openxmlformats.org/drawingml/2006/main" noGrp="1"/>
          </p:cNvSpPr>
          <p:nvPr/>
        </p:nvSpPr>
        <p:spPr>
          <a:xfrm xmlns:a="http://schemas.openxmlformats.org/drawingml/2006/main">
            <a:off x="2194560" y="3941064"/>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Malformed payment values accepted</a:t>
            </a:r>
            <a:endParaRPr sz="1350"/>
          </a:p>
        </p:txBody>
      </p:sp>
      <p:sp>
        <p:nvSpPr>
          <p:cNvPr id="21" name="Text 19">
            <a:extLst xmlns:a="http://schemas.openxmlformats.org/drawingml/2006/main">
              <a:ext uri="{FF2B5EF4-FFF2-40B4-BE49-F238E27FC236}">
                <a16:creationId xmlns:a16="http://schemas.microsoft.com/office/drawing/2014/main" id="{D36319B1-387B-4E50-9462-0C99AC3AFB61}"/>
              </a:ext>
            </a:extLst>
          </p:cNvPr>
          <p:cNvSpPr>
            <a:spLocks xmlns:a="http://schemas.openxmlformats.org/drawingml/2006/main" noGrp="1"/>
          </p:cNvSpPr>
          <p:nvPr/>
        </p:nvSpPr>
        <p:spPr>
          <a:xfrm xmlns:a="http://schemas.openxmlformats.org/drawingml/2006/main">
            <a:off x="5486400" y="3941064"/>
            <a:ext cx="5806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Invalid card number, expiry and CVC each produced simulated success. Empty fields were correctly rejected.</a:t>
            </a:r>
            <a:endParaRPr sz="1200"/>
          </a:p>
        </p:txBody>
      </p:sp>
      <p:sp>
        <p:nvSpPr>
          <p:cNvPr id="22" name="Shape 20">
            <a:extLst xmlns:a="http://schemas.openxmlformats.org/drawingml/2006/main">
              <a:ext uri="{FF2B5EF4-FFF2-40B4-BE49-F238E27FC236}">
                <a16:creationId xmlns:a16="http://schemas.microsoft.com/office/drawing/2014/main" id="{FFD4396B-93CD-4C49-9491-59EB42C0EAB5}"/>
              </a:ext>
            </a:extLst>
          </p:cNvPr>
          <p:cNvSpPr>
            <a:spLocks xmlns:a="http://schemas.openxmlformats.org/drawingml/2006/main" noGrp="1"/>
          </p:cNvSpPr>
          <p:nvPr/>
        </p:nvSpPr>
        <p:spPr>
          <a:xfrm xmlns:a="http://schemas.openxmlformats.org/drawingml/2006/main">
            <a:off x="640080" y="4919472"/>
            <a:ext cx="10881360" cy="950976"/>
          </a:xfrm>
          <a:prstGeom xmlns:a="http://schemas.openxmlformats.org/drawingml/2006/main" prst="roundRect">
            <a:avLst>
              <a:gd name="adj" fmla="val 8654"/>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B0741B81-C074-474C-BEC5-ECB98D9694E3}"/>
              </a:ext>
            </a:extLst>
          </p:cNvPr>
          <p:cNvSpPr>
            <a:spLocks xmlns:a="http://schemas.openxmlformats.org/drawingml/2006/main" noGrp="1"/>
          </p:cNvSpPr>
          <p:nvPr/>
        </p:nvSpPr>
        <p:spPr>
          <a:xfrm xmlns:a="http://schemas.openxmlformats.org/drawingml/2006/main">
            <a:off x="914400" y="5084064"/>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2A38"/>
                </a:solidFill>
                <a:latin typeface="Calibri"/>
                <a:ea typeface="Calibri"/>
                <a:cs typeface="Calibri"/>
              </a:rPr>
              <a:t>BUG-006</a:t>
            </a:r>
            <a:endParaRPr sz="1300"/>
          </a:p>
        </p:txBody>
      </p:sp>
      <p:sp>
        <p:nvSpPr>
          <p:cNvPr id="24" name="Shape 22">
            <a:extLst xmlns:a="http://schemas.openxmlformats.org/drawingml/2006/main">
              <a:ext uri="{FF2B5EF4-FFF2-40B4-BE49-F238E27FC236}">
                <a16:creationId xmlns:a16="http://schemas.microsoft.com/office/drawing/2014/main" id="{852D5880-CCCB-4160-9723-16B9BEA13CFA}"/>
              </a:ext>
            </a:extLst>
          </p:cNvPr>
          <p:cNvSpPr>
            <a:spLocks xmlns:a="http://schemas.openxmlformats.org/drawingml/2006/main" noGrp="1"/>
          </p:cNvSpPr>
          <p:nvPr/>
        </p:nvSpPr>
        <p:spPr>
          <a:xfrm xmlns:a="http://schemas.openxmlformats.org/drawingml/2006/main">
            <a:off x="914400" y="5422392"/>
            <a:ext cx="713232" cy="256032"/>
          </a:xfrm>
          <a:prstGeom xmlns:a="http://schemas.openxmlformats.org/drawingml/2006/main" prst="roundRect">
            <a:avLst>
              <a:gd name="adj" fmla="val 21429"/>
            </a:avLst>
          </a:prstGeom>
          <a:solidFill xmlns:a="http://schemas.openxmlformats.org/drawingml/2006/main">
            <a:srgbClr val="C08321"/>
          </a:solidFill>
          <a:ln xmlns:a="http://schemas.openxmlformats.org/drawingml/2006/main" w="12700">
            <a:solidFill>
              <a:srgbClr val="C08321"/>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02B596EE-A3A5-430C-A9DD-30BB1852A4CE}"/>
              </a:ext>
            </a:extLst>
          </p:cNvPr>
          <p:cNvSpPr>
            <a:spLocks xmlns:a="http://schemas.openxmlformats.org/drawingml/2006/main" noGrp="1"/>
          </p:cNvSpPr>
          <p:nvPr/>
        </p:nvSpPr>
        <p:spPr>
          <a:xfrm xmlns:a="http://schemas.openxmlformats.org/drawingml/2006/main">
            <a:off x="914400" y="5422392"/>
            <a:ext cx="7132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Medium</a:t>
            </a:r>
            <a:endParaRPr sz="1000"/>
          </a:p>
        </p:txBody>
      </p:sp>
      <p:sp>
        <p:nvSpPr>
          <p:cNvPr id="26" name="Text 24">
            <a:extLst xmlns:a="http://schemas.openxmlformats.org/drawingml/2006/main">
              <a:ext uri="{FF2B5EF4-FFF2-40B4-BE49-F238E27FC236}">
                <a16:creationId xmlns:a16="http://schemas.microsoft.com/office/drawing/2014/main" id="{B5ADB2B0-23D1-4301-A8EF-D82FEDA6DD16}"/>
              </a:ext>
            </a:extLst>
          </p:cNvPr>
          <p:cNvSpPr>
            <a:spLocks xmlns:a="http://schemas.openxmlformats.org/drawingml/2006/main" noGrp="1"/>
          </p:cNvSpPr>
          <p:nvPr/>
        </p:nvSpPr>
        <p:spPr>
          <a:xfrm xmlns:a="http://schemas.openxmlformats.org/drawingml/2006/main">
            <a:off x="2194560" y="5038344"/>
            <a:ext cx="320040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Past tour date accepted</a:t>
            </a:r>
            <a:endParaRPr sz="1350"/>
          </a:p>
        </p:txBody>
      </p:sp>
      <p:sp>
        <p:nvSpPr>
          <p:cNvPr id="27" name="Text 25">
            <a:extLst xmlns:a="http://schemas.openxmlformats.org/drawingml/2006/main">
              <a:ext uri="{FF2B5EF4-FFF2-40B4-BE49-F238E27FC236}">
                <a16:creationId xmlns:a16="http://schemas.microsoft.com/office/drawing/2014/main" id="{A663B034-FF4A-49B0-B093-8D7B534AB87F}"/>
              </a:ext>
            </a:extLst>
          </p:cNvPr>
          <p:cNvSpPr>
            <a:spLocks xmlns:a="http://schemas.openxmlformats.org/drawingml/2006/main" noGrp="1"/>
          </p:cNvSpPr>
          <p:nvPr/>
        </p:nvSpPr>
        <p:spPr>
          <a:xfrm xmlns:a="http://schemas.openxmlformats.org/drawingml/2006/main">
            <a:off x="5486400" y="5038344"/>
            <a:ext cx="5806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A date ten days before execution passed the booking form and navigated to checkout.</a:t>
            </a:r>
            <a:endParaRPr sz="1200"/>
          </a:p>
        </p:txBody>
      </p:sp>
      <p:sp>
        <p:nvSpPr>
          <p:cNvPr id="28" name="Text 26">
            <a:extLst xmlns:a="http://schemas.openxmlformats.org/drawingml/2006/main">
              <a:ext uri="{FF2B5EF4-FFF2-40B4-BE49-F238E27FC236}">
                <a16:creationId xmlns:a16="http://schemas.microsoft.com/office/drawing/2014/main" id="{4907163B-D5B5-4847-97D1-18A9468C0455}"/>
              </a:ext>
            </a:extLst>
          </p:cNvPr>
          <p:cNvSpPr>
            <a:spLocks xmlns:a="http://schemas.openxmlformats.org/drawingml/2006/main" noGrp="1"/>
          </p:cNvSpPr>
          <p:nvPr/>
        </p:nvSpPr>
        <p:spPr>
          <a:xfrm xmlns:a="http://schemas.openxmlformats.org/drawingml/2006/main">
            <a:off x="640080" y="6053328"/>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5A7383"/>
                </a:solidFill>
                <a:latin typeface="Calibri"/>
                <a:ea typeface="Calibri"/>
                <a:cs typeface="Calibri"/>
              </a:rPr>
              <a:t>Live execution evidence saved. Severities proposed for triage. BUG-005 remains a separate Supabase observation.</a:t>
            </a:r>
            <a:endParaRPr sz="1050"/>
          </a:p>
        </p:txBody>
      </p:sp>
    </p:spTree>
    <p:extLst>
      <p:ext uri="{BB962C8B-B14F-4D97-AF65-F5344CB8AC3E}">
        <p14:creationId xmlns:p14="http://schemas.microsoft.com/office/powerpoint/2010/main" val="10727084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5CC1C5-75A1-4AAC-9366-5E40C1E13CF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TEST SET</a:t>
            </a:r>
            <a:endParaRPr sz="1200"/>
          </a:p>
        </p:txBody>
      </p:sp>
      <p:sp>
        <p:nvSpPr>
          <p:cNvPr id="3" name="Text 1">
            <a:extLst xmlns:a="http://schemas.openxmlformats.org/drawingml/2006/main">
              <a:ext uri="{FF2B5EF4-FFF2-40B4-BE49-F238E27FC236}">
                <a16:creationId xmlns:a16="http://schemas.microsoft.com/office/drawing/2014/main" id="{592CEC7D-FC92-4D81-B67D-D60A13EE9AEE}"/>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Iteration 2 case outcomes</a:t>
            </a:r>
            <a:endParaRPr sz="3400"/>
          </a:p>
        </p:txBody>
      </p:sp>
      <p:graphicFrame>
        <p:nvGraphicFramePr>
          <p:cNvPr id="9" name="Table 0"/>
          <p:cNvGraphicFramePr/>
          <p:nvPr/>
        </p:nvGraphicFramePr>
        <p:xfrm>
          <a:off xmlns:a="http://schemas.openxmlformats.org/drawingml/2006/main" x="640080" y="1572768"/>
          <a:ext xmlns:a="http://schemas.openxmlformats.org/drawingml/2006/main" cx="10881360" cy="3639312"/>
        </p:xfrm>
        <a:graphic xmlns:a="http://schemas.openxmlformats.org/drawingml/2006/main">
          <a:graphicData uri="http://schemas.openxmlformats.org/drawingml/2006/table">
            <a:tbl>
              <a:tblPr/>
              <a:tblGrid>
                <a:gridCol w="1234440"/>
                <a:gridCol w="5806440"/>
                <a:gridCol w="1554480"/>
                <a:gridCol w="2286000"/>
              </a:tblGrid>
              <a:tr h="301752">
                <a:tc>
                  <a:txBody>
                    <a:bodyPr/>
                    <a:lstStyle/>
                    <a:p>
                      <a:pPr marL="0" indent="0">
                        <a:buNone/>
                      </a:pPr>
                      <a:r>
                        <a:rPr sz="1150" b="1">
                          <a:solidFill>
                            <a:srgbClr val="0E2A38"/>
                          </a:solidFill>
                          <a:latin typeface="Calibri"/>
                          <a:ea typeface="Calibri"/>
                          <a:cs typeface="Calibri"/>
                        </a:rPr>
                        <a:t>ID</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b="1">
                          <a:solidFill>
                            <a:srgbClr val="0E2A38"/>
                          </a:solidFill>
                          <a:latin typeface="Calibri"/>
                          <a:ea typeface="Calibri"/>
                          <a:cs typeface="Calibri"/>
                        </a:rPr>
                        <a:t>Test case</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b="1">
                          <a:solidFill>
                            <a:srgbClr val="0E2A38"/>
                          </a:solidFill>
                          <a:latin typeface="Calibri"/>
                          <a:ea typeface="Calibri"/>
                          <a:cs typeface="Calibri"/>
                        </a:rPr>
                        <a:t>Result</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b="1">
                          <a:solidFill>
                            <a:srgbClr val="0E2A38"/>
                          </a:solidFill>
                          <a:latin typeface="Calibri"/>
                          <a:ea typeface="Calibri"/>
                          <a:cs typeface="Calibri"/>
                        </a:rPr>
                        <a:t>Use case</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TC-008R</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Download invoice PDF and open the downloaded file</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UC-002</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TC-009</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PDF content matches the invoice shown on screen</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Blocked</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UC-002</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TC-010</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Guest count, date and contact carry from booking to checkout</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UC-003</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TC-011</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Checkout total matches the booked total including add-ons</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UC-003</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TC-012</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Dashboard reflects the actual booking, not sample data</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UC-003</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TC-013</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Payment is rejected when card fields are empty</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Pass</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UC-002</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TC-014</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Payment is rejected on invalid card, expiry or CVC format</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UC-002</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TC-015</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Booking is rejected when the tour date is in the past</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UC-001</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TC-016</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Admin pages load without runtime errors</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UC-004</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TC-017</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Admin quotation form submits and displays a record</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UC-004</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301752">
                <a:tc>
                  <a:txBody>
                    <a:bodyPr/>
                    <a:lstStyle/>
                    <a:p>
                      <a:pPr marL="0" indent="0">
                        <a:buNone/>
                      </a:pPr>
                      <a:r>
                        <a:rPr sz="1150">
                          <a:solidFill>
                            <a:srgbClr val="0E2A38"/>
                          </a:solidFill>
                          <a:latin typeface="Calibri"/>
                          <a:ea typeface="Calibri"/>
                          <a:cs typeface="Calibri"/>
                        </a:rPr>
                        <a:t>TC-018</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Clean dependency install succeeds on Windows</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Fail</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Setup</a:t>
                      </a:r>
                      <a:endParaRPr sz="1150">
                        <a:latin typeface="Calibri"/>
                        <a:ea typeface="Calibri"/>
                        <a:cs typeface="Calibri"/>
                      </a:endParaRPr>
                    </a:p>
                  </a:txBody>
                  <a:tcPr marL="64008" marR="64008" marT="64008" marB="64008"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bl>
          </a:graphicData>
        </a:graphic>
      </p:graphicFrame>
      <p:sp>
        <p:nvSpPr>
          <p:cNvPr id="5" name="Text 2">
            <a:extLst xmlns:a="http://schemas.openxmlformats.org/drawingml/2006/main">
              <a:ext uri="{FF2B5EF4-FFF2-40B4-BE49-F238E27FC236}">
                <a16:creationId xmlns:a16="http://schemas.microsoft.com/office/drawing/2014/main" id="{63EBA2DC-04E6-4F44-9254-512B590B9B4A}"/>
              </a:ext>
            </a:extLst>
          </p:cNvPr>
          <p:cNvSpPr>
            <a:spLocks xmlns:a="http://schemas.openxmlformats.org/drawingml/2006/main" noGrp="1"/>
          </p:cNvSpPr>
          <p:nvPr/>
        </p:nvSpPr>
        <p:spPr>
          <a:xfrm xmlns:a="http://schemas.openxmlformats.org/drawingml/2006/main">
            <a:off x="640080" y="5989320"/>
            <a:ext cx="10881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A7383"/>
                </a:solidFill>
                <a:latin typeface="Calibri"/>
                <a:ea typeface="Calibri"/>
                <a:cs typeface="Calibri"/>
              </a:rPr>
              <a:t>Plus TC-001 to TC-007: all passed their original assertions. Total: 18 cases, correcting the original count of 19.</a:t>
            </a:r>
            <a:endParaRPr sz="1200"/>
          </a:p>
        </p:txBody>
      </p:sp>
    </p:spTree>
    <p:extLst>
      <p:ext uri="{BB962C8B-B14F-4D97-AF65-F5344CB8AC3E}">
        <p14:creationId xmlns:p14="http://schemas.microsoft.com/office/powerpoint/2010/main" val="10675633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4886B3-C3F4-4F97-A035-0DF996336C6B}"/>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RESULTS</a:t>
            </a:r>
            <a:endParaRPr sz="1200"/>
          </a:p>
        </p:txBody>
      </p:sp>
      <p:sp>
        <p:nvSpPr>
          <p:cNvPr id="3" name="Text 1">
            <a:extLst xmlns:a="http://schemas.openxmlformats.org/drawingml/2006/main">
              <a:ext uri="{FF2B5EF4-FFF2-40B4-BE49-F238E27FC236}">
                <a16:creationId xmlns:a16="http://schemas.microsoft.com/office/drawing/2014/main" id="{944A23EB-931C-41FB-A6CF-8716678C924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8 passed, 9 failed, 1 blocked</a:t>
            </a:r>
            <a:endParaRPr sz="3400"/>
          </a:p>
        </p:txBody>
      </p:sp>
      <p:sp>
        <p:nvSpPr>
          <p:cNvPr id="5" name="Shape 2">
            <a:extLst xmlns:a="http://schemas.openxmlformats.org/drawingml/2006/main">
              <a:ext uri="{FF2B5EF4-FFF2-40B4-BE49-F238E27FC236}">
                <a16:creationId xmlns:a16="http://schemas.microsoft.com/office/drawing/2014/main" id="{A3E068CC-0FAC-4100-BDDA-09035F226A5B}"/>
              </a:ext>
            </a:extLst>
          </p:cNvPr>
          <p:cNvSpPr>
            <a:spLocks xmlns:a="http://schemas.openxmlformats.org/drawingml/2006/main" noGrp="1"/>
          </p:cNvSpPr>
          <p:nvPr/>
        </p:nvSpPr>
        <p:spPr>
          <a:xfrm xmlns:a="http://schemas.openxmlformats.org/drawingml/2006/main">
            <a:off x="7452360" y="1600200"/>
            <a:ext cx="4069080" cy="4160520"/>
          </a:xfrm>
          <a:prstGeom xmlns:a="http://schemas.openxmlformats.org/drawingml/2006/main" prst="roundRect">
            <a:avLst>
              <a:gd name="adj" fmla="val 2022"/>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8B38FB07-7218-403D-B541-E3DC24D68E47}"/>
              </a:ext>
            </a:extLst>
          </p:cNvPr>
          <p:cNvSpPr>
            <a:spLocks xmlns:a="http://schemas.openxmlformats.org/drawingml/2006/main" noGrp="1"/>
          </p:cNvSpPr>
          <p:nvPr/>
        </p:nvSpPr>
        <p:spPr>
          <a:xfrm xmlns:a="http://schemas.openxmlformats.org/drawingml/2006/main">
            <a:off x="7726680" y="182880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2A38"/>
                </a:solidFill>
                <a:latin typeface="Calibri"/>
                <a:ea typeface="Calibri"/>
                <a:cs typeface="Calibri"/>
              </a:rPr>
              <a:t>How to read the results</a:t>
            </a:r>
            <a:endParaRPr sz="1600"/>
          </a:p>
        </p:txBody>
      </p:sp>
      <p:sp>
        <p:nvSpPr>
          <p:cNvPr id="7" name="Text 4">
            <a:extLst xmlns:a="http://schemas.openxmlformats.org/drawingml/2006/main">
              <a:ext uri="{FF2B5EF4-FFF2-40B4-BE49-F238E27FC236}">
                <a16:creationId xmlns:a16="http://schemas.microsoft.com/office/drawing/2014/main" id="{15A78AD3-E3F9-4DA0-8073-D9BCD318B91C}"/>
              </a:ext>
            </a:extLst>
          </p:cNvPr>
          <p:cNvSpPr>
            <a:spLocks xmlns:a="http://schemas.openxmlformats.org/drawingml/2006/main" noGrp="1"/>
          </p:cNvSpPr>
          <p:nvPr/>
        </p:nvSpPr>
        <p:spPr>
          <a:xfrm xmlns:a="http://schemas.openxmlformats.org/drawingml/2006/main">
            <a:off x="7726680" y="2286000"/>
            <a:ext cx="356616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18 planned cases, all accounted for.</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17 reached a Pass or Fail outcome.</a:t>
            </a:r>
            <a:endParaRPr sz="1250"/>
          </a:p>
          <a:p xmlns:a="http://schemas.openxmlformats.org/drawingml/2006/main">
            <a:pPr marL="0" indent="0">
              <a:lnSpc>
                <a:spcPts val="1700"/>
              </a:lnSpc>
              <a:buNone/>
            </a:pPr>
            <a:r>
              <a:rPr sz="1250">
                <a:solidFill>
                  <a:srgbClr val="5A7383"/>
                </a:solidFill>
                <a:latin typeface="Calibri"/>
                <a:ea typeface="Calibri"/>
                <a:cs typeface="Calibri"/>
              </a:rPr>
              <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Pass rate among executed cases:</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8 / 17 = 47.06%.</a:t>
            </a:r>
            <a:endParaRPr sz="1250"/>
          </a:p>
          <a:p xmlns:a="http://schemas.openxmlformats.org/drawingml/2006/main">
            <a:pPr marL="0" indent="0">
              <a:lnSpc>
                <a:spcPts val="1700"/>
              </a:lnSpc>
              <a:buNone/>
            </a:pPr>
            <a:r>
              <a:rPr sz="1250" b="1">
                <a:solidFill>
                  <a:srgbClr val="5A7383"/>
                </a:solidFill>
                <a:latin typeface="Calibri"/>
                <a:ea typeface="Calibri"/>
                <a:cs typeface="Calibri"/>
              </a:rPr>
              <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Passed / planned: 8 / 18 = 44.44%.</a:t>
            </a:r>
            <a:endParaRPr sz="1250"/>
          </a:p>
          <a:p xmlns:a="http://schemas.openxmlformats.org/drawingml/2006/main">
            <a:pPr marL="0" indent="0">
              <a:lnSpc>
                <a:spcPts val="1700"/>
              </a:lnSpc>
              <a:buNone/>
            </a:pPr>
            <a:r>
              <a:rPr sz="1250" b="1">
                <a:solidFill>
                  <a:srgbClr val="5A7383"/>
                </a:solidFill>
                <a:latin typeface="Calibri"/>
                <a:ea typeface="Calibri"/>
                <a:cs typeface="Calibri"/>
              </a:rPr>
              <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TC-009 is blocked: no PDF exists to inspect. The expanded scope limits direct comparison with Iteration 1.</a:t>
            </a:r>
            <a:endParaRPr sz="1250"/>
          </a:p>
        </p:txBody>
      </p:sp>
      <p:graphicFrame>
        <p:nvGraphicFramePr>
          <p:cNvPr id="14" name="Chart"/>
          <p:cNvGraphicFramePr/>
          <p:nvPr/>
        </p:nvGraphicFramePr>
        <p:xfrm>
          <a:off xmlns:a="http://schemas.openxmlformats.org/drawingml/2006/main" x="640080" y="1600200"/>
          <a:ext xmlns:a="http://schemas.openxmlformats.org/drawingml/2006/main" cx="6492240" cy="4160520"/>
        </p:xfrm>
        <a:graphic xmlns:a="http://schemas.openxmlformats.org/drawingml/2006/main">
          <a:graphicData uri="http://schemas.openxmlformats.org/drawingml/2006/chart">
            <c:chart xmlns:r="http://schemas.openxmlformats.org/officeDocument/2006/relationships" xmlns:c="http://schemas.openxmlformats.org/drawingml/2006/chart" r:id="Rd01792b3c761493f"/>
          </a:graphicData>
        </a:graphic>
      </p:graphicFrame>
    </p:spTree>
    <p:extLst>
      <p:ext uri="{BB962C8B-B14F-4D97-AF65-F5344CB8AC3E}">
        <p14:creationId xmlns:p14="http://schemas.microsoft.com/office/powerpoint/2010/main" val="20796364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5F194B-0E32-45AF-9C31-66A77DAD7564}"/>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CRITERIA</a:t>
            </a:r>
            <a:endParaRPr sz="1200"/>
          </a:p>
        </p:txBody>
      </p:sp>
      <p:sp>
        <p:nvSpPr>
          <p:cNvPr id="3" name="Text 1">
            <a:extLst xmlns:a="http://schemas.openxmlformats.org/drawingml/2006/main">
              <a:ext uri="{FF2B5EF4-FFF2-40B4-BE49-F238E27FC236}">
                <a16:creationId xmlns:a16="http://schemas.microsoft.com/office/drawing/2014/main" id="{BD9E4C11-3083-48F0-9CD9-BF4FE7ECB9BA}"/>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Exit criteria are not met</a:t>
            </a:r>
            <a:endParaRPr sz="3400"/>
          </a:p>
        </p:txBody>
      </p:sp>
      <p:sp>
        <p:nvSpPr>
          <p:cNvPr id="4" name="Shape 2">
            <a:extLst xmlns:a="http://schemas.openxmlformats.org/drawingml/2006/main">
              <a:ext uri="{FF2B5EF4-FFF2-40B4-BE49-F238E27FC236}">
                <a16:creationId xmlns:a16="http://schemas.microsoft.com/office/drawing/2014/main" id="{BC4C9B9D-9A8E-426A-8188-2673C816B99A}"/>
              </a:ext>
            </a:extLst>
          </p:cNvPr>
          <p:cNvSpPr>
            <a:spLocks xmlns:a="http://schemas.openxmlformats.org/drawingml/2006/main" noGrp="1"/>
          </p:cNvSpPr>
          <p:nvPr/>
        </p:nvSpPr>
        <p:spPr>
          <a:xfrm xmlns:a="http://schemas.openxmlformats.org/drawingml/2006/main">
            <a:off x="640080" y="1600200"/>
            <a:ext cx="5394960" cy="41148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849408E-FE4D-4763-A8AF-2C3F696279B2}"/>
              </a:ext>
            </a:extLst>
          </p:cNvPr>
          <p:cNvSpPr>
            <a:spLocks xmlns:a="http://schemas.openxmlformats.org/drawingml/2006/main" noGrp="1"/>
          </p:cNvSpPr>
          <p:nvPr/>
        </p:nvSpPr>
        <p:spPr>
          <a:xfrm xmlns:a="http://schemas.openxmlformats.org/drawingml/2006/main">
            <a:off x="914400" y="1810512"/>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A6F84"/>
                </a:solidFill>
                <a:latin typeface="Calibri"/>
                <a:ea typeface="Calibri"/>
                <a:cs typeface="Calibri"/>
              </a:rPr>
              <a:t>Execution conditions</a:t>
            </a:r>
            <a:endParaRPr sz="1600"/>
          </a:p>
        </p:txBody>
      </p:sp>
      <p:sp>
        <p:nvSpPr>
          <p:cNvPr id="6" name="Text 4">
            <a:extLst xmlns:a="http://schemas.openxmlformats.org/drawingml/2006/main">
              <a:ext uri="{FF2B5EF4-FFF2-40B4-BE49-F238E27FC236}">
                <a16:creationId xmlns:a16="http://schemas.microsoft.com/office/drawing/2014/main" id="{7127C8AE-66B6-45B3-B833-7CE7EF083B9E}"/>
              </a:ext>
            </a:extLst>
          </p:cNvPr>
          <p:cNvSpPr>
            <a:spLocks xmlns:a="http://schemas.openxmlformats.org/drawingml/2006/main" noGrp="1"/>
          </p:cNvSpPr>
          <p:nvPr/>
        </p:nvSpPr>
        <p:spPr>
          <a:xfrm xmlns:a="http://schemas.openxmlformats.org/drawingml/2006/main">
            <a:off x="914400" y="2286000"/>
            <a:ext cx="489204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Clean Windows install failed; force workaround documented</a:t>
            </a:r>
            <a:endParaRPr sz="1250"/>
          </a:p>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Production build and TypeScript check passed</a:t>
            </a:r>
            <a:endParaRPr sz="1250"/>
          </a:p>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Future-date data replaced stale historical dates</a:t>
            </a:r>
            <a:endParaRPr sz="1250"/>
          </a:p>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18 cases recorded with evidence and outcomes</a:t>
            </a:r>
            <a:endParaRPr sz="1250"/>
          </a:p>
        </p:txBody>
      </p:sp>
      <p:sp>
        <p:nvSpPr>
          <p:cNvPr id="7" name="Shape 5">
            <a:extLst xmlns:a="http://schemas.openxmlformats.org/drawingml/2006/main">
              <a:ext uri="{FF2B5EF4-FFF2-40B4-BE49-F238E27FC236}">
                <a16:creationId xmlns:a16="http://schemas.microsoft.com/office/drawing/2014/main" id="{3AE3C14F-4813-4DB7-A95B-6F9436CBF17B}"/>
              </a:ext>
            </a:extLst>
          </p:cNvPr>
          <p:cNvSpPr>
            <a:spLocks xmlns:a="http://schemas.openxmlformats.org/drawingml/2006/main" noGrp="1"/>
          </p:cNvSpPr>
          <p:nvPr/>
        </p:nvSpPr>
        <p:spPr>
          <a:xfrm xmlns:a="http://schemas.openxmlformats.org/drawingml/2006/main">
            <a:off x="6309360" y="1600200"/>
            <a:ext cx="5212080" cy="4114800"/>
          </a:xfrm>
          <a:prstGeom xmlns:a="http://schemas.openxmlformats.org/drawingml/2006/main" prst="roundRect">
            <a:avLst>
              <a:gd name="adj" fmla="val 2000"/>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990B258D-F5AD-403C-B656-C09310D929D7}"/>
              </a:ext>
            </a:extLst>
          </p:cNvPr>
          <p:cNvSpPr>
            <a:spLocks xmlns:a="http://schemas.openxmlformats.org/drawingml/2006/main" noGrp="1"/>
          </p:cNvSpPr>
          <p:nvPr/>
        </p:nvSpPr>
        <p:spPr>
          <a:xfrm xmlns:a="http://schemas.openxmlformats.org/drawingml/2006/main">
            <a:off x="6583680" y="1810512"/>
            <a:ext cx="4663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CE9136"/>
                </a:solidFill>
                <a:latin typeface="Calibri"/>
                <a:ea typeface="Calibri"/>
                <a:cs typeface="Calibri"/>
              </a:rPr>
              <a:t>Exit assessment</a:t>
            </a:r>
            <a:endParaRPr sz="1600"/>
          </a:p>
        </p:txBody>
      </p:sp>
      <p:sp>
        <p:nvSpPr>
          <p:cNvPr id="9" name="Text 7">
            <a:extLst xmlns:a="http://schemas.openxmlformats.org/drawingml/2006/main">
              <a:ext uri="{FF2B5EF4-FFF2-40B4-BE49-F238E27FC236}">
                <a16:creationId xmlns:a16="http://schemas.microsoft.com/office/drawing/2014/main" id="{70295ADD-337A-402B-961E-2C6A39243194}"/>
              </a:ext>
            </a:extLst>
          </p:cNvPr>
          <p:cNvSpPr>
            <a:spLocks xmlns:a="http://schemas.openxmlformats.org/drawingml/2006/main" noGrp="1"/>
          </p:cNvSpPr>
          <p:nvPr/>
        </p:nvSpPr>
        <p:spPr>
          <a:xfrm xmlns:a="http://schemas.openxmlformats.org/drawingml/2006/main">
            <a:off x="6583680" y="2286000"/>
            <a:ext cx="470916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All 18 cases accounted for: 17 executed, 1 blocked</a:t>
            </a:r>
            <a:endParaRPr sz="1250"/>
          </a:p>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47.06% executed-case pass rate: below 95% target</a:t>
            </a:r>
            <a:endParaRPr sz="1250"/>
          </a:p>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TC-008R failed; invoice PDF remains unavailable</a:t>
            </a:r>
            <a:endParaRPr sz="1250"/>
          </a:p>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High booking-data and payment-validation issues remain</a:t>
            </a:r>
            <a:endParaRPr sz="1250"/>
          </a:p>
          <a:p xmlns:a="http://schemas.openxmlformats.org/drawingml/2006/main">
            <a:pPr marL="342900" indent="-342900">
              <a:spcAft>
                <a:spcPts val="1100"/>
              </a:spcAft>
              <a:buSzPct val="100000"/>
              <a:buChar char="•"/>
              <a:defRPr sz="1250" b="0">
                <a:solidFill>
                  <a:srgbClr val="0E2A38"/>
                </a:solidFill>
                <a:latin typeface="Calibri"/>
                <a:ea typeface="Calibri"/>
                <a:cs typeface="Calibri"/>
              </a:defRPr>
            </a:pPr>
            <a:r>
              <a:rPr sz="1250" b="0">
                <a:solidFill>
                  <a:srgbClr val="0E2A38"/>
                </a:solidFill>
                <a:latin typeface="Calibri"/>
                <a:ea typeface="Calibri"/>
                <a:cs typeface="Calibri"/>
              </a:rPr>
              <a:t>Defects documented; developer assignment pending</a:t>
            </a:r>
            <a:endParaRPr sz="1250"/>
          </a:p>
        </p:txBody>
      </p:sp>
    </p:spTree>
    <p:extLst>
      <p:ext uri="{BB962C8B-B14F-4D97-AF65-F5344CB8AC3E}">
        <p14:creationId xmlns:p14="http://schemas.microsoft.com/office/powerpoint/2010/main" val="6144327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E13056-F155-4E0C-A953-101C900BDA67}"/>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ADDITIONAL FINDINGS</a:t>
            </a:r>
            <a:endParaRPr sz="1200"/>
          </a:p>
        </p:txBody>
      </p:sp>
      <p:sp>
        <p:nvSpPr>
          <p:cNvPr id="3" name="Text 1">
            <a:extLst xmlns:a="http://schemas.openxmlformats.org/drawingml/2006/main">
              <a:ext uri="{FF2B5EF4-FFF2-40B4-BE49-F238E27FC236}">
                <a16:creationId xmlns:a16="http://schemas.microsoft.com/office/drawing/2014/main" id="{5C2964ED-6D04-4A9D-8335-91F03AACA7A0}"/>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Setup, admin and scope limitations</a:t>
            </a:r>
            <a:endParaRPr sz="3400"/>
          </a:p>
        </p:txBody>
      </p:sp>
      <p:graphicFrame>
        <p:nvGraphicFramePr>
          <p:cNvPr id="7" name="Table 0"/>
          <p:cNvGraphicFramePr/>
          <p:nvPr/>
        </p:nvGraphicFramePr>
        <p:xfrm>
          <a:off xmlns:a="http://schemas.openxmlformats.org/drawingml/2006/main" x="640080" y="1572768"/>
          <a:ext xmlns:a="http://schemas.openxmlformats.org/drawingml/2006/main" cx="10881360" cy="4279392"/>
        </p:xfrm>
        <a:graphic xmlns:a="http://schemas.openxmlformats.org/drawingml/2006/main">
          <a:graphicData uri="http://schemas.openxmlformats.org/drawingml/2006/table">
            <a:tbl>
              <a:tblPr/>
              <a:tblGrid>
                <a:gridCol w="2286000"/>
                <a:gridCol w="914400"/>
                <a:gridCol w="3657600"/>
                <a:gridCol w="4023360"/>
              </a:tblGrid>
              <a:tr h="713232">
                <a:tc>
                  <a:txBody>
                    <a:bodyPr/>
                    <a:lstStyle/>
                    <a:p>
                      <a:pPr marL="0" indent="0">
                        <a:buNone/>
                      </a:pPr>
                      <a:r>
                        <a:rPr sz="1150" b="1">
                          <a:solidFill>
                            <a:srgbClr val="0E2A38"/>
                          </a:solidFill>
                          <a:latin typeface="Calibri"/>
                          <a:ea typeface="Calibri"/>
                          <a:cs typeface="Calibri"/>
                        </a:rPr>
                        <a:t>Finding</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b="1">
                          <a:solidFill>
                            <a:srgbClr val="0E2A38"/>
                          </a:solidFill>
                          <a:latin typeface="Calibri"/>
                          <a:ea typeface="Calibri"/>
                          <a:cs typeface="Calibri"/>
                        </a:rPr>
                        <a:t>Level</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b="1">
                          <a:solidFill>
                            <a:srgbClr val="0E2A38"/>
                          </a:solidFill>
                          <a:latin typeface="Calibri"/>
                          <a:ea typeface="Calibri"/>
                          <a:cs typeface="Calibri"/>
                        </a:rPr>
                        <a:t>Observed result</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b="1">
                          <a:solidFill>
                            <a:srgbClr val="0E2A38"/>
                          </a:solidFill>
                          <a:latin typeface="Calibri"/>
                          <a:ea typeface="Calibri"/>
                          <a:cs typeface="Calibri"/>
                        </a:rPr>
                        <a:t>Next action</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713232">
                <a:tc>
                  <a:txBody>
                    <a:bodyPr/>
                    <a:lstStyle/>
                    <a:p>
                      <a:pPr marL="0" indent="0">
                        <a:buNone/>
                      </a:pPr>
                      <a:r>
                        <a:rPr sz="1150">
                          <a:solidFill>
                            <a:srgbClr val="0E2A38"/>
                          </a:solidFill>
                          <a:latin typeface="Calibri"/>
                          <a:ea typeface="Calibri"/>
                          <a:cs typeface="Calibri"/>
                        </a:rPr>
                        <a:t>BUG-007: Windows install</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Medium</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Clean npm ci failed with EBADPLATFORM.</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Correct dependency and lockfile; rerun without force.</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713232">
                <a:tc>
                  <a:txBody>
                    <a:bodyPr/>
                    <a:lstStyle/>
                    <a:p>
                      <a:pPr marL="0" indent="0">
                        <a:buNone/>
                      </a:pPr>
                      <a:r>
                        <a:rPr sz="1150">
                          <a:solidFill>
                            <a:srgbClr val="0E2A38"/>
                          </a:solidFill>
                          <a:latin typeface="Calibri"/>
                          <a:ea typeface="Calibri"/>
                          <a:cs typeface="Calibri"/>
                        </a:rPr>
                        <a:t>BUG-008: Quotation runtime</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Medium</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All routes returned 200; quotation raised React #418.</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Use stable rendered values and retest hydration.</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713232">
                <a:tc>
                  <a:txBody>
                    <a:bodyPr/>
                    <a:lstStyle/>
                    <a:p>
                      <a:pPr marL="0" indent="0">
                        <a:buNone/>
                      </a:pPr>
                      <a:r>
                        <a:rPr sz="1150">
                          <a:solidFill>
                            <a:srgbClr val="0E2A38"/>
                          </a:solidFill>
                          <a:latin typeface="Calibri"/>
                          <a:ea typeface="Calibri"/>
                          <a:cs typeface="Calibri"/>
                        </a:rPr>
                        <a:t>BUG-009: Quotation record</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Scope gap</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No submit/save action. Written TC-017 failed.</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Confirm agreed requirement before implementation.</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713232">
                <a:tc>
                  <a:txBody>
                    <a:bodyPr/>
                    <a:lstStyle/>
                    <a:p>
                      <a:pPr marL="0" indent="0">
                        <a:buNone/>
                      </a:pPr>
                      <a:r>
                        <a:rPr sz="1150">
                          <a:solidFill>
                            <a:srgbClr val="0E2A38"/>
                          </a:solidFill>
                          <a:latin typeface="Calibri"/>
                          <a:ea typeface="Calibri"/>
                          <a:cs typeface="Calibri"/>
                        </a:rPr>
                        <a:t>BUG-005: Supabase</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Observation</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Unused connection scaffold; no live failure shown.</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Agree backend scope and configuration needs.</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r h="713232">
                <a:tc>
                  <a:txBody>
                    <a:bodyPr/>
                    <a:lstStyle/>
                    <a:p>
                      <a:pPr marL="0" indent="0">
                        <a:buNone/>
                      </a:pPr>
                      <a:r>
                        <a:rPr sz="1150">
                          <a:solidFill>
                            <a:srgbClr val="0E2A38"/>
                          </a:solidFill>
                          <a:latin typeface="Calibri"/>
                          <a:ea typeface="Calibri"/>
                          <a:cs typeface="Calibri"/>
                        </a:rPr>
                        <a:t>Simulated transactions</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Limitation</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Authentication and payment do not call live services.</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c>
                  <a:txBody>
                    <a:bodyPr/>
                    <a:lstStyle/>
                    <a:p>
                      <a:pPr marL="0" indent="0">
                        <a:buNone/>
                      </a:pPr>
                      <a:r>
                        <a:rPr sz="1150">
                          <a:solidFill>
                            <a:srgbClr val="0E2A38"/>
                          </a:solidFill>
                          <a:latin typeface="Calibri"/>
                          <a:ea typeface="Calibri"/>
                          <a:cs typeface="Calibri"/>
                        </a:rPr>
                        <a:t>Do not claim a real payment or durable booking.</a:t>
                      </a:r>
                      <a:endParaRPr sz="1150">
                        <a:latin typeface="Calibri"/>
                        <a:ea typeface="Calibri"/>
                        <a:cs typeface="Calibri"/>
                      </a:endParaRPr>
                    </a:p>
                  </a:txBody>
                  <a:tcPr marL="82296" marR="82296" marT="82296" marB="82296" anchor="ctr">
                    <a:lnL w="12700" cmpd="sng">
                      <a:solidFill>
                        <a:srgbClr val="DDE5EA"/>
                      </a:solidFill>
                      <a:prstDash val="solid"/>
                    </a:lnL>
                    <a:lnR w="12700" cmpd="sng">
                      <a:solidFill>
                        <a:srgbClr val="DDE5EA"/>
                      </a:solidFill>
                      <a:prstDash val="solid"/>
                    </a:lnR>
                    <a:lnT w="12700" cmpd="sng">
                      <a:solidFill>
                        <a:srgbClr val="DDE5EA"/>
                      </a:solidFill>
                      <a:prstDash val="solid"/>
                    </a:lnT>
                    <a:lnB w="12700" cmpd="sng">
                      <a:solidFill>
                        <a:srgbClr val="DDE5EA"/>
                      </a:solidFill>
                      <a:prstDash val="solid"/>
                    </a:lnB>
                    <a:solidFill>
                      <a:srgbClr val="FFFFFF"/>
                    </a:solidFill>
                  </a:tcPr>
                </a:tc>
              </a:tr>
            </a:tbl>
          </a:graphicData>
        </a:graphic>
      </p:graphicFrame>
    </p:spTree>
    <p:extLst>
      <p:ext uri="{BB962C8B-B14F-4D97-AF65-F5344CB8AC3E}">
        <p14:creationId xmlns:p14="http://schemas.microsoft.com/office/powerpoint/2010/main" val="180651632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1BC80E-2615-463B-9B3E-0BE2D90793E6}"/>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ENVIRONMENT</a:t>
            </a:r>
            <a:endParaRPr sz="1200"/>
          </a:p>
        </p:txBody>
      </p:sp>
      <p:sp>
        <p:nvSpPr>
          <p:cNvPr id="3" name="Text 1">
            <a:extLst xmlns:a="http://schemas.openxmlformats.org/drawingml/2006/main">
              <a:ext uri="{FF2B5EF4-FFF2-40B4-BE49-F238E27FC236}">
                <a16:creationId xmlns:a16="http://schemas.microsoft.com/office/drawing/2014/main" id="{83194C70-5E17-4709-B92D-9B924EA392EB}"/>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Verified test environment</a:t>
            </a:r>
            <a:endParaRPr sz="3400"/>
          </a:p>
        </p:txBody>
      </p:sp>
      <p:sp>
        <p:nvSpPr>
          <p:cNvPr id="4" name="Shape 2">
            <a:extLst xmlns:a="http://schemas.openxmlformats.org/drawingml/2006/main">
              <a:ext uri="{FF2B5EF4-FFF2-40B4-BE49-F238E27FC236}">
                <a16:creationId xmlns:a16="http://schemas.microsoft.com/office/drawing/2014/main" id="{D2D0C48B-5F35-45E2-9C22-48BA475A14C2}"/>
              </a:ext>
            </a:extLst>
          </p:cNvPr>
          <p:cNvSpPr>
            <a:spLocks xmlns:a="http://schemas.openxmlformats.org/drawingml/2006/main" noGrp="1"/>
          </p:cNvSpPr>
          <p:nvPr/>
        </p:nvSpPr>
        <p:spPr>
          <a:xfrm xmlns:a="http://schemas.openxmlformats.org/drawingml/2006/main">
            <a:off x="640080" y="1691640"/>
            <a:ext cx="5257800" cy="987552"/>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1964F4F9-C05A-459F-A5F2-90C01A434873}"/>
              </a:ext>
            </a:extLst>
          </p:cNvPr>
          <p:cNvSpPr>
            <a:spLocks xmlns:a="http://schemas.openxmlformats.org/drawingml/2006/main" noGrp="1"/>
          </p:cNvSpPr>
          <p:nvPr/>
        </p:nvSpPr>
        <p:spPr>
          <a:xfrm xmlns:a="http://schemas.openxmlformats.org/drawingml/2006/main">
            <a:off x="914400" y="1837944"/>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00">
                <a:solidFill>
                  <a:srgbClr val="CE9136"/>
                </a:solidFill>
                <a:latin typeface="Calibri"/>
                <a:ea typeface="Calibri"/>
                <a:cs typeface="Calibri"/>
              </a:rPr>
              <a:t>Application</a:t>
            </a:r>
            <a:endParaRPr sz="1100"/>
          </a:p>
        </p:txBody>
      </p:sp>
      <p:sp>
        <p:nvSpPr>
          <p:cNvPr id="6" name="Text 4">
            <a:extLst xmlns:a="http://schemas.openxmlformats.org/drawingml/2006/main">
              <a:ext uri="{FF2B5EF4-FFF2-40B4-BE49-F238E27FC236}">
                <a16:creationId xmlns:a16="http://schemas.microsoft.com/office/drawing/2014/main" id="{86482753-7202-4883-995D-6C7011396275}"/>
              </a:ext>
            </a:extLst>
          </p:cNvPr>
          <p:cNvSpPr>
            <a:spLocks xmlns:a="http://schemas.openxmlformats.org/drawingml/2006/main" noGrp="1"/>
          </p:cNvSpPr>
          <p:nvPr/>
        </p:nvSpPr>
        <p:spPr>
          <a:xfrm xmlns:a="http://schemas.openxmlformats.org/drawingml/2006/main">
            <a:off x="914400" y="2148840"/>
            <a:ext cx="4709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E2A38"/>
                </a:solidFill>
                <a:latin typeface="Calibri"/>
                <a:ea typeface="Calibri"/>
                <a:cs typeface="Calibri"/>
              </a:rPr>
              <a:t>JazGot Tours, Next.js 16.2.6 with React 19.2.4</a:t>
            </a:r>
            <a:endParaRPr sz="1300"/>
          </a:p>
        </p:txBody>
      </p:sp>
      <p:sp>
        <p:nvSpPr>
          <p:cNvPr id="7" name="Shape 5">
            <a:extLst xmlns:a="http://schemas.openxmlformats.org/drawingml/2006/main">
              <a:ext uri="{FF2B5EF4-FFF2-40B4-BE49-F238E27FC236}">
                <a16:creationId xmlns:a16="http://schemas.microsoft.com/office/drawing/2014/main" id="{90EAE775-8321-4801-B2E8-832129411870}"/>
              </a:ext>
            </a:extLst>
          </p:cNvPr>
          <p:cNvSpPr>
            <a:spLocks xmlns:a="http://schemas.openxmlformats.org/drawingml/2006/main" noGrp="1"/>
          </p:cNvSpPr>
          <p:nvPr/>
        </p:nvSpPr>
        <p:spPr>
          <a:xfrm xmlns:a="http://schemas.openxmlformats.org/drawingml/2006/main">
            <a:off x="6309360" y="1691640"/>
            <a:ext cx="5257800" cy="987552"/>
          </a:xfrm>
          <a:prstGeom xmlns:a="http://schemas.openxmlformats.org/drawingml/2006/main" prst="roundRect">
            <a:avLst>
              <a:gd name="adj" fmla="val 8333"/>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13385FF-D26D-4ABD-BD7F-2E28F876CE97}"/>
              </a:ext>
            </a:extLst>
          </p:cNvPr>
          <p:cNvSpPr>
            <a:spLocks xmlns:a="http://schemas.openxmlformats.org/drawingml/2006/main" noGrp="1"/>
          </p:cNvSpPr>
          <p:nvPr/>
        </p:nvSpPr>
        <p:spPr>
          <a:xfrm xmlns:a="http://schemas.openxmlformats.org/drawingml/2006/main">
            <a:off x="6583680" y="1837944"/>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00">
                <a:solidFill>
                  <a:srgbClr val="CE9136"/>
                </a:solidFill>
                <a:latin typeface="Calibri"/>
                <a:ea typeface="Calibri"/>
                <a:cs typeface="Calibri"/>
              </a:rPr>
              <a:t>Host</a:t>
            </a:r>
            <a:endParaRPr sz="1100"/>
          </a:p>
        </p:txBody>
      </p:sp>
      <p:sp>
        <p:nvSpPr>
          <p:cNvPr id="9" name="Text 7">
            <a:extLst xmlns:a="http://schemas.openxmlformats.org/drawingml/2006/main">
              <a:ext uri="{FF2B5EF4-FFF2-40B4-BE49-F238E27FC236}">
                <a16:creationId xmlns:a16="http://schemas.microsoft.com/office/drawing/2014/main" id="{DE1B9E92-E995-483C-8BDD-DE20FA0D1DF0}"/>
              </a:ext>
            </a:extLst>
          </p:cNvPr>
          <p:cNvSpPr>
            <a:spLocks xmlns:a="http://schemas.openxmlformats.org/drawingml/2006/main" noGrp="1"/>
          </p:cNvSpPr>
          <p:nvPr/>
        </p:nvSpPr>
        <p:spPr>
          <a:xfrm xmlns:a="http://schemas.openxmlformats.org/drawingml/2006/main">
            <a:off x="6583680" y="2148840"/>
            <a:ext cx="4709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E2A38"/>
                </a:solidFill>
                <a:latin typeface="Calibri"/>
                <a:ea typeface="Calibri"/>
                <a:cs typeface="Calibri"/>
              </a:rPr>
              <a:t>Local production build served at localhost:3000</a:t>
            </a:r>
            <a:endParaRPr sz="1300"/>
          </a:p>
        </p:txBody>
      </p:sp>
      <p:sp>
        <p:nvSpPr>
          <p:cNvPr id="10" name="Shape 8">
            <a:extLst xmlns:a="http://schemas.openxmlformats.org/drawingml/2006/main">
              <a:ext uri="{FF2B5EF4-FFF2-40B4-BE49-F238E27FC236}">
                <a16:creationId xmlns:a16="http://schemas.microsoft.com/office/drawing/2014/main" id="{70536057-37A6-4F0E-8059-CDEE7102231E}"/>
              </a:ext>
            </a:extLst>
          </p:cNvPr>
          <p:cNvSpPr>
            <a:spLocks xmlns:a="http://schemas.openxmlformats.org/drawingml/2006/main" noGrp="1"/>
          </p:cNvSpPr>
          <p:nvPr/>
        </p:nvSpPr>
        <p:spPr>
          <a:xfrm xmlns:a="http://schemas.openxmlformats.org/drawingml/2006/main">
            <a:off x="640080" y="2926080"/>
            <a:ext cx="5257800" cy="987552"/>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28C23D93-8AD2-418F-B8CE-06E24A541EEB}"/>
              </a:ext>
            </a:extLst>
          </p:cNvPr>
          <p:cNvSpPr>
            <a:spLocks xmlns:a="http://schemas.openxmlformats.org/drawingml/2006/main" noGrp="1"/>
          </p:cNvSpPr>
          <p:nvPr/>
        </p:nvSpPr>
        <p:spPr>
          <a:xfrm xmlns:a="http://schemas.openxmlformats.org/drawingml/2006/main">
            <a:off x="914400" y="3072384"/>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00">
                <a:solidFill>
                  <a:srgbClr val="CE9136"/>
                </a:solidFill>
                <a:latin typeface="Calibri"/>
                <a:ea typeface="Calibri"/>
                <a:cs typeface="Calibri"/>
              </a:rPr>
              <a:t>Commands</a:t>
            </a:r>
            <a:endParaRPr sz="1100"/>
          </a:p>
        </p:txBody>
      </p:sp>
      <p:sp>
        <p:nvSpPr>
          <p:cNvPr id="12" name="Text 10">
            <a:extLst xmlns:a="http://schemas.openxmlformats.org/drawingml/2006/main">
              <a:ext uri="{FF2B5EF4-FFF2-40B4-BE49-F238E27FC236}">
                <a16:creationId xmlns:a16="http://schemas.microsoft.com/office/drawing/2014/main" id="{38773FB2-2C9E-45FF-8204-7641F1429515}"/>
              </a:ext>
            </a:extLst>
          </p:cNvPr>
          <p:cNvSpPr>
            <a:spLocks xmlns:a="http://schemas.openxmlformats.org/drawingml/2006/main" noGrp="1"/>
          </p:cNvSpPr>
          <p:nvPr/>
        </p:nvSpPr>
        <p:spPr>
          <a:xfrm xmlns:a="http://schemas.openxmlformats.org/drawingml/2006/main">
            <a:off x="914400" y="3383280"/>
            <a:ext cx="4709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E2A38"/>
                </a:solidFill>
                <a:latin typeface="Calibri"/>
                <a:ea typeface="Calibri"/>
                <a:cs typeface="Calibri"/>
              </a:rPr>
              <a:t>npm run build, then npm start -- -p 3000</a:t>
            </a:r>
            <a:endParaRPr sz="1300"/>
          </a:p>
        </p:txBody>
      </p:sp>
      <p:sp>
        <p:nvSpPr>
          <p:cNvPr id="13" name="Shape 11">
            <a:extLst xmlns:a="http://schemas.openxmlformats.org/drawingml/2006/main">
              <a:ext uri="{FF2B5EF4-FFF2-40B4-BE49-F238E27FC236}">
                <a16:creationId xmlns:a16="http://schemas.microsoft.com/office/drawing/2014/main" id="{A0D70100-AE76-41C2-8868-A52281B87E44}"/>
              </a:ext>
            </a:extLst>
          </p:cNvPr>
          <p:cNvSpPr>
            <a:spLocks xmlns:a="http://schemas.openxmlformats.org/drawingml/2006/main" noGrp="1"/>
          </p:cNvSpPr>
          <p:nvPr/>
        </p:nvSpPr>
        <p:spPr>
          <a:xfrm xmlns:a="http://schemas.openxmlformats.org/drawingml/2006/main">
            <a:off x="6309360" y="2926080"/>
            <a:ext cx="5257800" cy="987552"/>
          </a:xfrm>
          <a:prstGeom xmlns:a="http://schemas.openxmlformats.org/drawingml/2006/main" prst="roundRect">
            <a:avLst>
              <a:gd name="adj" fmla="val 8333"/>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11BB0D8-B6C3-48BC-8594-C5F6B7AC6CB6}"/>
              </a:ext>
            </a:extLst>
          </p:cNvPr>
          <p:cNvSpPr>
            <a:spLocks xmlns:a="http://schemas.openxmlformats.org/drawingml/2006/main" noGrp="1"/>
          </p:cNvSpPr>
          <p:nvPr/>
        </p:nvSpPr>
        <p:spPr>
          <a:xfrm xmlns:a="http://schemas.openxmlformats.org/drawingml/2006/main">
            <a:off x="6583680" y="3072384"/>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00">
                <a:solidFill>
                  <a:srgbClr val="CE9136"/>
                </a:solidFill>
                <a:latin typeface="Calibri"/>
                <a:ea typeface="Calibri"/>
                <a:cs typeface="Calibri"/>
              </a:rPr>
              <a:t>Automation</a:t>
            </a:r>
            <a:endParaRPr sz="1100"/>
          </a:p>
        </p:txBody>
      </p:sp>
      <p:sp>
        <p:nvSpPr>
          <p:cNvPr id="15" name="Text 13">
            <a:extLst xmlns:a="http://schemas.openxmlformats.org/drawingml/2006/main">
              <a:ext uri="{FF2B5EF4-FFF2-40B4-BE49-F238E27FC236}">
                <a16:creationId xmlns:a16="http://schemas.microsoft.com/office/drawing/2014/main" id="{68E5AC04-D458-4186-BB6D-42334C594A1C}"/>
              </a:ext>
            </a:extLst>
          </p:cNvPr>
          <p:cNvSpPr>
            <a:spLocks xmlns:a="http://schemas.openxmlformats.org/drawingml/2006/main" noGrp="1"/>
          </p:cNvSpPr>
          <p:nvPr/>
        </p:nvSpPr>
        <p:spPr>
          <a:xfrm xmlns:a="http://schemas.openxmlformats.org/drawingml/2006/main">
            <a:off x="6583680" y="3383280"/>
            <a:ext cx="4709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E2A38"/>
                </a:solidFill>
                <a:latin typeface="Calibri"/>
                <a:ea typeface="Calibri"/>
                <a:cs typeface="Calibri"/>
              </a:rPr>
              <a:t>Playwright with Microsoft Edge 153 (Chromium)</a:t>
            </a:r>
            <a:endParaRPr sz="1300"/>
          </a:p>
        </p:txBody>
      </p:sp>
      <p:sp>
        <p:nvSpPr>
          <p:cNvPr id="16" name="Shape 14">
            <a:extLst xmlns:a="http://schemas.openxmlformats.org/drawingml/2006/main">
              <a:ext uri="{FF2B5EF4-FFF2-40B4-BE49-F238E27FC236}">
                <a16:creationId xmlns:a16="http://schemas.microsoft.com/office/drawing/2014/main" id="{26516D69-D98B-459B-A4E2-6446ACB75DAC}"/>
              </a:ext>
            </a:extLst>
          </p:cNvPr>
          <p:cNvSpPr>
            <a:spLocks xmlns:a="http://schemas.openxmlformats.org/drawingml/2006/main" noGrp="1"/>
          </p:cNvSpPr>
          <p:nvPr/>
        </p:nvSpPr>
        <p:spPr>
          <a:xfrm xmlns:a="http://schemas.openxmlformats.org/drawingml/2006/main">
            <a:off x="640080" y="4160520"/>
            <a:ext cx="5257800" cy="987552"/>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F48D4140-0656-4817-8397-87213A8C8A38}"/>
              </a:ext>
            </a:extLst>
          </p:cNvPr>
          <p:cNvSpPr>
            <a:spLocks xmlns:a="http://schemas.openxmlformats.org/drawingml/2006/main" noGrp="1"/>
          </p:cNvSpPr>
          <p:nvPr/>
        </p:nvSpPr>
        <p:spPr>
          <a:xfrm xmlns:a="http://schemas.openxmlformats.org/drawingml/2006/main">
            <a:off x="914400" y="4306824"/>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00">
                <a:solidFill>
                  <a:srgbClr val="CE9136"/>
                </a:solidFill>
                <a:latin typeface="Calibri"/>
                <a:ea typeface="Calibri"/>
                <a:cs typeface="Calibri"/>
              </a:rPr>
              <a:t>PDF inspection</a:t>
            </a:r>
            <a:endParaRPr sz="1100"/>
          </a:p>
        </p:txBody>
      </p:sp>
      <p:sp>
        <p:nvSpPr>
          <p:cNvPr id="18" name="Text 16">
            <a:extLst xmlns:a="http://schemas.openxmlformats.org/drawingml/2006/main">
              <a:ext uri="{FF2B5EF4-FFF2-40B4-BE49-F238E27FC236}">
                <a16:creationId xmlns:a16="http://schemas.microsoft.com/office/drawing/2014/main" id="{92D13DA9-B279-48AC-B67D-5F223D2E4D62}"/>
              </a:ext>
            </a:extLst>
          </p:cNvPr>
          <p:cNvSpPr>
            <a:spLocks xmlns:a="http://schemas.openxmlformats.org/drawingml/2006/main" noGrp="1"/>
          </p:cNvSpPr>
          <p:nvPr/>
        </p:nvSpPr>
        <p:spPr>
          <a:xfrm xmlns:a="http://schemas.openxmlformats.org/drawingml/2006/main">
            <a:off x="914400" y="4617720"/>
            <a:ext cx="4709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E2A38"/>
                </a:solidFill>
                <a:latin typeface="Calibri"/>
                <a:ea typeface="Calibri"/>
                <a:cs typeface="Calibri"/>
              </a:rPr>
              <a:t>Blocked: export produced no file to open or inspect</a:t>
            </a:r>
            <a:endParaRPr sz="1300"/>
          </a:p>
        </p:txBody>
      </p:sp>
      <p:sp>
        <p:nvSpPr>
          <p:cNvPr id="19" name="Shape 17">
            <a:extLst xmlns:a="http://schemas.openxmlformats.org/drawingml/2006/main">
              <a:ext uri="{FF2B5EF4-FFF2-40B4-BE49-F238E27FC236}">
                <a16:creationId xmlns:a16="http://schemas.microsoft.com/office/drawing/2014/main" id="{16E6DD96-A1C6-47D6-BF0A-5785E62B632A}"/>
              </a:ext>
            </a:extLst>
          </p:cNvPr>
          <p:cNvSpPr>
            <a:spLocks xmlns:a="http://schemas.openxmlformats.org/drawingml/2006/main" noGrp="1"/>
          </p:cNvSpPr>
          <p:nvPr/>
        </p:nvSpPr>
        <p:spPr>
          <a:xfrm xmlns:a="http://schemas.openxmlformats.org/drawingml/2006/main">
            <a:off x="6309360" y="4160520"/>
            <a:ext cx="5257800" cy="987552"/>
          </a:xfrm>
          <a:prstGeom xmlns:a="http://schemas.openxmlformats.org/drawingml/2006/main" prst="roundRect">
            <a:avLst>
              <a:gd name="adj" fmla="val 8333"/>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CC0833A-CBCE-4B0B-933C-577F3D3A0253}"/>
              </a:ext>
            </a:extLst>
          </p:cNvPr>
          <p:cNvSpPr>
            <a:spLocks xmlns:a="http://schemas.openxmlformats.org/drawingml/2006/main" noGrp="1"/>
          </p:cNvSpPr>
          <p:nvPr/>
        </p:nvSpPr>
        <p:spPr>
          <a:xfrm xmlns:a="http://schemas.openxmlformats.org/drawingml/2006/main">
            <a:off x="6583680" y="4306824"/>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00">
                <a:solidFill>
                  <a:srgbClr val="CE9136"/>
                </a:solidFill>
                <a:latin typeface="Calibri"/>
                <a:ea typeface="Calibri"/>
                <a:cs typeface="Calibri"/>
              </a:rPr>
              <a:t>Artefacts</a:t>
            </a:r>
            <a:endParaRPr sz="1100"/>
          </a:p>
        </p:txBody>
      </p:sp>
      <p:sp>
        <p:nvSpPr>
          <p:cNvPr id="21" name="Text 19">
            <a:extLst xmlns:a="http://schemas.openxmlformats.org/drawingml/2006/main">
              <a:ext uri="{FF2B5EF4-FFF2-40B4-BE49-F238E27FC236}">
                <a16:creationId xmlns:a16="http://schemas.microsoft.com/office/drawing/2014/main" id="{0D06D7C6-F458-45A2-87A3-57F058994AB2}"/>
              </a:ext>
            </a:extLst>
          </p:cNvPr>
          <p:cNvSpPr>
            <a:spLocks xmlns:a="http://schemas.openxmlformats.org/drawingml/2006/main" noGrp="1"/>
          </p:cNvSpPr>
          <p:nvPr/>
        </p:nvSpPr>
        <p:spPr>
          <a:xfrm xmlns:a="http://schemas.openxmlformats.org/drawingml/2006/main">
            <a:off x="6583680" y="4617720"/>
            <a:ext cx="4709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E2A38"/>
                </a:solidFill>
                <a:latin typeface="Calibri"/>
                <a:ea typeface="Calibri"/>
                <a:cs typeface="Calibri"/>
              </a:rPr>
              <a:t>Test case workbook, bug report, console logs and screenshots</a:t>
            </a:r>
            <a:endParaRPr sz="1300"/>
          </a:p>
        </p:txBody>
      </p:sp>
      <p:sp>
        <p:nvSpPr>
          <p:cNvPr id="22" name="Shape 20">
            <a:extLst xmlns:a="http://schemas.openxmlformats.org/drawingml/2006/main">
              <a:ext uri="{FF2B5EF4-FFF2-40B4-BE49-F238E27FC236}">
                <a16:creationId xmlns:a16="http://schemas.microsoft.com/office/drawing/2014/main" id="{11F264CF-053F-4819-A315-41F52BEBACED}"/>
              </a:ext>
            </a:extLst>
          </p:cNvPr>
          <p:cNvSpPr>
            <a:spLocks xmlns:a="http://schemas.openxmlformats.org/drawingml/2006/main" noGrp="1"/>
          </p:cNvSpPr>
          <p:nvPr/>
        </p:nvSpPr>
        <p:spPr>
          <a:xfrm xmlns:a="http://schemas.openxmlformats.org/drawingml/2006/main">
            <a:off x="640080" y="5440680"/>
            <a:ext cx="10881360" cy="777240"/>
          </a:xfrm>
          <a:prstGeom xmlns:a="http://schemas.openxmlformats.org/drawingml/2006/main" prst="roundRect">
            <a:avLst>
              <a:gd name="adj" fmla="val 10588"/>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14D70308-0790-42E8-A256-85A378B3FD91}"/>
              </a:ext>
            </a:extLst>
          </p:cNvPr>
          <p:cNvSpPr>
            <a:spLocks xmlns:a="http://schemas.openxmlformats.org/drawingml/2006/main" noGrp="1"/>
          </p:cNvSpPr>
          <p:nvPr/>
        </p:nvSpPr>
        <p:spPr>
          <a:xfrm xmlns:a="http://schemas.openxmlformats.org/drawingml/2006/main">
            <a:off x="914400" y="5577840"/>
            <a:ext cx="10332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0E2A38"/>
                </a:solidFill>
                <a:latin typeface="Calibri"/>
                <a:ea typeface="Calibri"/>
                <a:cs typeface="Calibri"/>
              </a:rPr>
              <a:t>Known constraint: authentication and payment are simulated, and dashboard data is hardcoded. Results describe application behaviour, not a live transaction.</a:t>
            </a:r>
            <a:endParaRPr sz="1250"/>
          </a:p>
        </p:txBody>
      </p:sp>
    </p:spTree>
    <p:extLst>
      <p:ext uri="{BB962C8B-B14F-4D97-AF65-F5344CB8AC3E}">
        <p14:creationId xmlns:p14="http://schemas.microsoft.com/office/powerpoint/2010/main" val="18660593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DDDCDB-9933-4D11-B8D4-FFE56F32454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RECOMMENDATIONS</a:t>
            </a:r>
            <a:endParaRPr sz="1200"/>
          </a:p>
        </p:txBody>
      </p:sp>
      <p:sp>
        <p:nvSpPr>
          <p:cNvPr id="3" name="Text 1">
            <a:extLst xmlns:a="http://schemas.openxmlformats.org/drawingml/2006/main">
              <a:ext uri="{FF2B5EF4-FFF2-40B4-BE49-F238E27FC236}">
                <a16:creationId xmlns:a16="http://schemas.microsoft.com/office/drawing/2014/main" id="{050B2A08-13E8-4553-9115-3049844937F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0E2A38"/>
                </a:solidFill>
                <a:latin typeface="Cambria"/>
                <a:ea typeface="Cambria"/>
                <a:cs typeface="Cambria"/>
              </a:rPr>
              <a:t>What we are asking for</a:t>
            </a:r>
            <a:endParaRPr sz="3400"/>
          </a:p>
        </p:txBody>
      </p:sp>
      <p:sp>
        <p:nvSpPr>
          <p:cNvPr id="4" name="Shape 2">
            <a:extLst xmlns:a="http://schemas.openxmlformats.org/drawingml/2006/main">
              <a:ext uri="{FF2B5EF4-FFF2-40B4-BE49-F238E27FC236}">
                <a16:creationId xmlns:a16="http://schemas.microsoft.com/office/drawing/2014/main" id="{3EEC3F78-139D-4A90-A18C-D963F0A42F6E}"/>
              </a:ext>
            </a:extLst>
          </p:cNvPr>
          <p:cNvSpPr>
            <a:spLocks xmlns:a="http://schemas.openxmlformats.org/drawingml/2006/main" noGrp="1"/>
          </p:cNvSpPr>
          <p:nvPr/>
        </p:nvSpPr>
        <p:spPr>
          <a:xfrm xmlns:a="http://schemas.openxmlformats.org/drawingml/2006/main">
            <a:off x="640080" y="1572768"/>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80D4CD-8B1A-4577-B369-5F19CD0442A0}"/>
              </a:ext>
            </a:extLst>
          </p:cNvPr>
          <p:cNvSpPr>
            <a:spLocks xmlns:a="http://schemas.openxmlformats.org/drawingml/2006/main" noGrp="1"/>
          </p:cNvSpPr>
          <p:nvPr/>
        </p:nvSpPr>
        <p:spPr>
          <a:xfrm xmlns:a="http://schemas.openxmlformats.org/drawingml/2006/main">
            <a:off x="914400" y="1810512"/>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EF58A91D-BBB5-45B5-99E0-FFB522D00266}"/>
              </a:ext>
            </a:extLst>
          </p:cNvPr>
          <p:cNvSpPr>
            <a:spLocks xmlns:a="http://schemas.openxmlformats.org/drawingml/2006/main" noGrp="1"/>
          </p:cNvSpPr>
          <p:nvPr/>
        </p:nvSpPr>
        <p:spPr>
          <a:xfrm xmlns:a="http://schemas.openxmlformats.org/drawingml/2006/main">
            <a:off x="914400" y="18105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01</a:t>
            </a:r>
            <a:endParaRPr sz="1050"/>
          </a:p>
        </p:txBody>
      </p:sp>
      <p:sp>
        <p:nvSpPr>
          <p:cNvPr id="7" name="Text 5">
            <a:extLst xmlns:a="http://schemas.openxmlformats.org/drawingml/2006/main">
              <a:ext uri="{FF2B5EF4-FFF2-40B4-BE49-F238E27FC236}">
                <a16:creationId xmlns:a16="http://schemas.microsoft.com/office/drawing/2014/main" id="{D4BFA619-58E2-4CBD-AF15-BE47A7886CB8}"/>
              </a:ext>
            </a:extLst>
          </p:cNvPr>
          <p:cNvSpPr>
            <a:spLocks xmlns:a="http://schemas.openxmlformats.org/drawingml/2006/main" noGrp="1"/>
          </p:cNvSpPr>
          <p:nvPr/>
        </p:nvSpPr>
        <p:spPr>
          <a:xfrm xmlns:a="http://schemas.openxmlformats.org/drawingml/2006/main">
            <a:off x="1417320" y="1664208"/>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Complete the BUG-001 fix</a:t>
            </a:r>
            <a:endParaRPr sz="1350"/>
          </a:p>
        </p:txBody>
      </p:sp>
      <p:sp>
        <p:nvSpPr>
          <p:cNvPr id="8" name="Text 6">
            <a:extLst xmlns:a="http://schemas.openxmlformats.org/drawingml/2006/main">
              <a:ext uri="{FF2B5EF4-FFF2-40B4-BE49-F238E27FC236}">
                <a16:creationId xmlns:a16="http://schemas.microsoft.com/office/drawing/2014/main" id="{3A5D902E-399B-4E16-8083-6FC05B98A7F2}"/>
              </a:ext>
            </a:extLst>
          </p:cNvPr>
          <p:cNvSpPr>
            <a:spLocks xmlns:a="http://schemas.openxmlformats.org/drawingml/2006/main" noGrp="1"/>
          </p:cNvSpPr>
          <p:nvPr/>
        </p:nvSpPr>
        <p:spPr>
          <a:xfrm xmlns:a="http://schemas.openxmlformats.org/drawingml/2006/main">
            <a:off x="5074920" y="1664208"/>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Resolve the unsupported colour error, then verify an actual downloaded file and its contents.</a:t>
            </a:r>
            <a:endParaRPr sz="1200"/>
          </a:p>
        </p:txBody>
      </p:sp>
      <p:sp>
        <p:nvSpPr>
          <p:cNvPr id="9" name="Shape 7">
            <a:extLst xmlns:a="http://schemas.openxmlformats.org/drawingml/2006/main">
              <a:ext uri="{FF2B5EF4-FFF2-40B4-BE49-F238E27FC236}">
                <a16:creationId xmlns:a16="http://schemas.microsoft.com/office/drawing/2014/main" id="{920E5E22-8ED2-444B-BF1B-307169518E2B}"/>
              </a:ext>
            </a:extLst>
          </p:cNvPr>
          <p:cNvSpPr>
            <a:spLocks xmlns:a="http://schemas.openxmlformats.org/drawingml/2006/main" noGrp="1"/>
          </p:cNvSpPr>
          <p:nvPr/>
        </p:nvSpPr>
        <p:spPr>
          <a:xfrm xmlns:a="http://schemas.openxmlformats.org/drawingml/2006/main">
            <a:off x="640080" y="2478024"/>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6C8BF6B8-2BEE-43B9-8E51-A65F3018B332}"/>
              </a:ext>
            </a:extLst>
          </p:cNvPr>
          <p:cNvSpPr>
            <a:spLocks xmlns:a="http://schemas.openxmlformats.org/drawingml/2006/main" noGrp="1"/>
          </p:cNvSpPr>
          <p:nvPr/>
        </p:nvSpPr>
        <p:spPr>
          <a:xfrm xmlns:a="http://schemas.openxmlformats.org/drawingml/2006/main">
            <a:off x="914400" y="2715768"/>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C561585-4D70-4F39-A7F7-4EEC1C470C99}"/>
              </a:ext>
            </a:extLst>
          </p:cNvPr>
          <p:cNvSpPr>
            <a:spLocks xmlns:a="http://schemas.openxmlformats.org/drawingml/2006/main" noGrp="1"/>
          </p:cNvSpPr>
          <p:nvPr/>
        </p:nvSpPr>
        <p:spPr>
          <a:xfrm xmlns:a="http://schemas.openxmlformats.org/drawingml/2006/main">
            <a:off x="914400" y="271576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02</a:t>
            </a:r>
            <a:endParaRPr sz="1050"/>
          </a:p>
        </p:txBody>
      </p:sp>
      <p:sp>
        <p:nvSpPr>
          <p:cNvPr id="12" name="Text 10">
            <a:extLst xmlns:a="http://schemas.openxmlformats.org/drawingml/2006/main">
              <a:ext uri="{FF2B5EF4-FFF2-40B4-BE49-F238E27FC236}">
                <a16:creationId xmlns:a16="http://schemas.microsoft.com/office/drawing/2014/main" id="{4A3093A2-16EC-47A3-B7A0-1BB87F5F062B}"/>
              </a:ext>
            </a:extLst>
          </p:cNvPr>
          <p:cNvSpPr>
            <a:spLocks xmlns:a="http://schemas.openxmlformats.org/drawingml/2006/main" noGrp="1"/>
          </p:cNvSpPr>
          <p:nvPr/>
        </p:nvSpPr>
        <p:spPr>
          <a:xfrm xmlns:a="http://schemas.openxmlformats.org/drawingml/2006/main">
            <a:off x="1417320" y="2569464"/>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Pass booking data between pages</a:t>
            </a:r>
            <a:endParaRPr sz="1350"/>
          </a:p>
        </p:txBody>
      </p:sp>
      <p:sp>
        <p:nvSpPr>
          <p:cNvPr id="13" name="Text 11">
            <a:extLst xmlns:a="http://schemas.openxmlformats.org/drawingml/2006/main">
              <a:ext uri="{FF2B5EF4-FFF2-40B4-BE49-F238E27FC236}">
                <a16:creationId xmlns:a16="http://schemas.microsoft.com/office/drawing/2014/main" id="{B836C09E-0A61-4CF9-94BC-545FD8D6C1E7}"/>
              </a:ext>
            </a:extLst>
          </p:cNvPr>
          <p:cNvSpPr>
            <a:spLocks xmlns:a="http://schemas.openxmlformats.org/drawingml/2006/main" noGrp="1"/>
          </p:cNvSpPr>
          <p:nvPr/>
        </p:nvSpPr>
        <p:spPr>
          <a:xfrm xmlns:a="http://schemas.openxmlformats.org/drawingml/2006/main">
            <a:off x="5074920" y="2569464"/>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Preserve customer details, date, guest count, add-ons and total through checkout and dashboard.</a:t>
            </a:r>
            <a:endParaRPr sz="1200"/>
          </a:p>
        </p:txBody>
      </p:sp>
      <p:sp>
        <p:nvSpPr>
          <p:cNvPr id="14" name="Shape 12">
            <a:extLst xmlns:a="http://schemas.openxmlformats.org/drawingml/2006/main">
              <a:ext uri="{FF2B5EF4-FFF2-40B4-BE49-F238E27FC236}">
                <a16:creationId xmlns:a16="http://schemas.microsoft.com/office/drawing/2014/main" id="{0A23EB93-5732-4358-830D-C1950F9FC918}"/>
              </a:ext>
            </a:extLst>
          </p:cNvPr>
          <p:cNvSpPr>
            <a:spLocks xmlns:a="http://schemas.openxmlformats.org/drawingml/2006/main" noGrp="1"/>
          </p:cNvSpPr>
          <p:nvPr/>
        </p:nvSpPr>
        <p:spPr>
          <a:xfrm xmlns:a="http://schemas.openxmlformats.org/drawingml/2006/main">
            <a:off x="640080" y="3383280"/>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2AA55F18-9567-49E2-8E8E-8CC5FD0C3F65}"/>
              </a:ext>
            </a:extLst>
          </p:cNvPr>
          <p:cNvSpPr>
            <a:spLocks xmlns:a="http://schemas.openxmlformats.org/drawingml/2006/main" noGrp="1"/>
          </p:cNvSpPr>
          <p:nvPr/>
        </p:nvSpPr>
        <p:spPr>
          <a:xfrm xmlns:a="http://schemas.openxmlformats.org/drawingml/2006/main">
            <a:off x="914400" y="3621024"/>
            <a:ext cx="310896" cy="310896"/>
          </a:xfrm>
          <a:prstGeom xmlns:a="http://schemas.openxmlformats.org/drawingml/2006/main" prst="ellipse">
            <a:avLst/>
          </a:prstGeom>
          <a:solidFill xmlns:a="http://schemas.openxmlformats.org/drawingml/2006/main">
            <a:srgbClr val="B4432F"/>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BDA9375-9F4F-4A61-A68F-6BADCDED396A}"/>
              </a:ext>
            </a:extLst>
          </p:cNvPr>
          <p:cNvSpPr>
            <a:spLocks xmlns:a="http://schemas.openxmlformats.org/drawingml/2006/main" noGrp="1"/>
          </p:cNvSpPr>
          <p:nvPr/>
        </p:nvSpPr>
        <p:spPr>
          <a:xfrm xmlns:a="http://schemas.openxmlformats.org/drawingml/2006/main">
            <a:off x="914400" y="362102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03</a:t>
            </a:r>
            <a:endParaRPr sz="1050"/>
          </a:p>
        </p:txBody>
      </p:sp>
      <p:sp>
        <p:nvSpPr>
          <p:cNvPr id="17" name="Text 15">
            <a:extLst xmlns:a="http://schemas.openxmlformats.org/drawingml/2006/main">
              <a:ext uri="{FF2B5EF4-FFF2-40B4-BE49-F238E27FC236}">
                <a16:creationId xmlns:a16="http://schemas.microsoft.com/office/drawing/2014/main" id="{4B35ABFC-B4AD-4B0D-B785-C19C1CD5BE3B}"/>
              </a:ext>
            </a:extLst>
          </p:cNvPr>
          <p:cNvSpPr>
            <a:spLocks xmlns:a="http://schemas.openxmlformats.org/drawingml/2006/main" noGrp="1"/>
          </p:cNvSpPr>
          <p:nvPr/>
        </p:nvSpPr>
        <p:spPr>
          <a:xfrm xmlns:a="http://schemas.openxmlformats.org/drawingml/2006/main">
            <a:off x="1417320" y="3474720"/>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Validate payment and tour date</a:t>
            </a:r>
            <a:endParaRPr sz="1350"/>
          </a:p>
        </p:txBody>
      </p:sp>
      <p:sp>
        <p:nvSpPr>
          <p:cNvPr id="18" name="Text 16">
            <a:extLst xmlns:a="http://schemas.openxmlformats.org/drawingml/2006/main">
              <a:ext uri="{FF2B5EF4-FFF2-40B4-BE49-F238E27FC236}">
                <a16:creationId xmlns:a16="http://schemas.microsoft.com/office/drawing/2014/main" id="{EE0E8369-AD0C-4C35-B0AB-D91D04038F4A}"/>
              </a:ext>
            </a:extLst>
          </p:cNvPr>
          <p:cNvSpPr>
            <a:spLocks xmlns:a="http://schemas.openxmlformats.org/drawingml/2006/main" noGrp="1"/>
          </p:cNvSpPr>
          <p:nvPr/>
        </p:nvSpPr>
        <p:spPr>
          <a:xfrm xmlns:a="http://schemas.openxmlformats.org/drawingml/2006/main">
            <a:off x="5074920" y="3474720"/>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Keep required-field checks. Reject malformed card values and past tour dates before proceeding.</a:t>
            </a:r>
            <a:endParaRPr sz="1200"/>
          </a:p>
        </p:txBody>
      </p:sp>
      <p:sp>
        <p:nvSpPr>
          <p:cNvPr id="19" name="Shape 17">
            <a:extLst xmlns:a="http://schemas.openxmlformats.org/drawingml/2006/main">
              <a:ext uri="{FF2B5EF4-FFF2-40B4-BE49-F238E27FC236}">
                <a16:creationId xmlns:a16="http://schemas.microsoft.com/office/drawing/2014/main" id="{082CF01E-8F03-4367-9E68-0EADAEEB40BC}"/>
              </a:ext>
            </a:extLst>
          </p:cNvPr>
          <p:cNvSpPr>
            <a:spLocks xmlns:a="http://schemas.openxmlformats.org/drawingml/2006/main" noGrp="1"/>
          </p:cNvSpPr>
          <p:nvPr/>
        </p:nvSpPr>
        <p:spPr>
          <a:xfrm xmlns:a="http://schemas.openxmlformats.org/drawingml/2006/main">
            <a:off x="640080" y="4288536"/>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DAF976F-9FE3-4400-9814-410B9D775EFF}"/>
              </a:ext>
            </a:extLst>
          </p:cNvPr>
          <p:cNvSpPr>
            <a:spLocks xmlns:a="http://schemas.openxmlformats.org/drawingml/2006/main" noGrp="1"/>
          </p:cNvSpPr>
          <p:nvPr/>
        </p:nvSpPr>
        <p:spPr>
          <a:xfrm xmlns:a="http://schemas.openxmlformats.org/drawingml/2006/main">
            <a:off x="914400" y="4526280"/>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65872168-0A5F-4FB0-AF7A-F424460B65B2}"/>
              </a:ext>
            </a:extLst>
          </p:cNvPr>
          <p:cNvSpPr>
            <a:spLocks xmlns:a="http://schemas.openxmlformats.org/drawingml/2006/main" noGrp="1"/>
          </p:cNvSpPr>
          <p:nvPr/>
        </p:nvSpPr>
        <p:spPr>
          <a:xfrm xmlns:a="http://schemas.openxmlformats.org/drawingml/2006/main">
            <a:off x="914400" y="45262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04</a:t>
            </a:r>
            <a:endParaRPr sz="1050"/>
          </a:p>
        </p:txBody>
      </p:sp>
      <p:sp>
        <p:nvSpPr>
          <p:cNvPr id="22" name="Text 20">
            <a:extLst xmlns:a="http://schemas.openxmlformats.org/drawingml/2006/main">
              <a:ext uri="{FF2B5EF4-FFF2-40B4-BE49-F238E27FC236}">
                <a16:creationId xmlns:a16="http://schemas.microsoft.com/office/drawing/2014/main" id="{44DB0188-F451-43EC-A141-9B831AB3A848}"/>
              </a:ext>
            </a:extLst>
          </p:cNvPr>
          <p:cNvSpPr>
            <a:spLocks xmlns:a="http://schemas.openxmlformats.org/drawingml/2006/main" noGrp="1"/>
          </p:cNvSpPr>
          <p:nvPr/>
        </p:nvSpPr>
        <p:spPr>
          <a:xfrm xmlns:a="http://schemas.openxmlformats.org/drawingml/2006/main">
            <a:off x="1417320" y="4379976"/>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Fix the Windows dependency</a:t>
            </a:r>
            <a:endParaRPr sz="1350"/>
          </a:p>
        </p:txBody>
      </p:sp>
      <p:sp>
        <p:nvSpPr>
          <p:cNvPr id="23" name="Text 21">
            <a:extLst xmlns:a="http://schemas.openxmlformats.org/drawingml/2006/main">
              <a:ext uri="{FF2B5EF4-FFF2-40B4-BE49-F238E27FC236}">
                <a16:creationId xmlns:a16="http://schemas.microsoft.com/office/drawing/2014/main" id="{12C7FD57-E130-4C75-B8FF-3164F1733943}"/>
              </a:ext>
            </a:extLst>
          </p:cNvPr>
          <p:cNvSpPr>
            <a:spLocks xmlns:a="http://schemas.openxmlformats.org/drawingml/2006/main" noGrp="1"/>
          </p:cNvSpPr>
          <p:nvPr/>
        </p:nvSpPr>
        <p:spPr>
          <a:xfrm xmlns:a="http://schemas.openxmlformats.org/drawingml/2006/main">
            <a:off x="5074920" y="4379976"/>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Correct the direct Linux package and lockfile. Verify clean npm ci on Windows without force.</a:t>
            </a:r>
            <a:endParaRPr sz="1200"/>
          </a:p>
        </p:txBody>
      </p:sp>
      <p:sp>
        <p:nvSpPr>
          <p:cNvPr id="24" name="Shape 22">
            <a:extLst xmlns:a="http://schemas.openxmlformats.org/drawingml/2006/main">
              <a:ext uri="{FF2B5EF4-FFF2-40B4-BE49-F238E27FC236}">
                <a16:creationId xmlns:a16="http://schemas.microsoft.com/office/drawing/2014/main" id="{1C6BE08B-7098-482D-ABC3-DBE58A206230}"/>
              </a:ext>
            </a:extLst>
          </p:cNvPr>
          <p:cNvSpPr>
            <a:spLocks xmlns:a="http://schemas.openxmlformats.org/drawingml/2006/main" noGrp="1"/>
          </p:cNvSpPr>
          <p:nvPr/>
        </p:nvSpPr>
        <p:spPr>
          <a:xfrm xmlns:a="http://schemas.openxmlformats.org/drawingml/2006/main">
            <a:off x="640080" y="5193792"/>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664E6CC6-A24C-488F-82B8-70BE212B23F4}"/>
              </a:ext>
            </a:extLst>
          </p:cNvPr>
          <p:cNvSpPr>
            <a:spLocks xmlns:a="http://schemas.openxmlformats.org/drawingml/2006/main" noGrp="1"/>
          </p:cNvSpPr>
          <p:nvPr/>
        </p:nvSpPr>
        <p:spPr>
          <a:xfrm xmlns:a="http://schemas.openxmlformats.org/drawingml/2006/main">
            <a:off x="914400" y="5431536"/>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EAD3565-BE56-4DD3-AA8F-23D23272B201}"/>
              </a:ext>
            </a:extLst>
          </p:cNvPr>
          <p:cNvSpPr>
            <a:spLocks xmlns:a="http://schemas.openxmlformats.org/drawingml/2006/main" noGrp="1"/>
          </p:cNvSpPr>
          <p:nvPr/>
        </p:nvSpPr>
        <p:spPr>
          <a:xfrm xmlns:a="http://schemas.openxmlformats.org/drawingml/2006/main">
            <a:off x="914400" y="543153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05</a:t>
            </a:r>
            <a:endParaRPr sz="1050"/>
          </a:p>
        </p:txBody>
      </p:sp>
      <p:sp>
        <p:nvSpPr>
          <p:cNvPr id="27" name="Text 25">
            <a:extLst xmlns:a="http://schemas.openxmlformats.org/drawingml/2006/main">
              <a:ext uri="{FF2B5EF4-FFF2-40B4-BE49-F238E27FC236}">
                <a16:creationId xmlns:a16="http://schemas.microsoft.com/office/drawing/2014/main" id="{365E05C2-D3C2-45B1-9B0C-47AB22BB0E4B}"/>
              </a:ext>
            </a:extLst>
          </p:cNvPr>
          <p:cNvSpPr>
            <a:spLocks xmlns:a="http://schemas.openxmlformats.org/drawingml/2006/main" noGrp="1"/>
          </p:cNvSpPr>
          <p:nvPr/>
        </p:nvSpPr>
        <p:spPr>
          <a:xfrm xmlns:a="http://schemas.openxmlformats.org/drawingml/2006/main">
            <a:off x="1417320" y="5285232"/>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2A38"/>
                </a:solidFill>
                <a:latin typeface="Calibri"/>
                <a:ea typeface="Calibri"/>
                <a:cs typeface="Calibri"/>
              </a:rPr>
              <a:t>Resolve admin errors and scope</a:t>
            </a:r>
            <a:endParaRPr sz="1350"/>
          </a:p>
        </p:txBody>
      </p:sp>
      <p:sp>
        <p:nvSpPr>
          <p:cNvPr id="28" name="Text 26">
            <a:extLst xmlns:a="http://schemas.openxmlformats.org/drawingml/2006/main">
              <a:ext uri="{FF2B5EF4-FFF2-40B4-BE49-F238E27FC236}">
                <a16:creationId xmlns:a16="http://schemas.microsoft.com/office/drawing/2014/main" id="{D0EC39E6-A52A-41A9-9611-7A72C571BD72}"/>
              </a:ext>
            </a:extLst>
          </p:cNvPr>
          <p:cNvSpPr>
            <a:spLocks xmlns:a="http://schemas.openxmlformats.org/drawingml/2006/main" noGrp="1"/>
          </p:cNvSpPr>
          <p:nvPr/>
        </p:nvSpPr>
        <p:spPr>
          <a:xfrm xmlns:a="http://schemas.openxmlformats.org/drawingml/2006/main">
            <a:off x="5074920" y="5285232"/>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A7383"/>
                </a:solidFill>
                <a:latin typeface="Calibri"/>
                <a:ea typeface="Calibri"/>
                <a:cs typeface="Calibri"/>
              </a:rPr>
              <a:t>Fix quotation hydration. Confirm record-creation requirements, then extend admin functional tests.</a:t>
            </a:r>
            <a:endParaRPr sz="1200"/>
          </a:p>
        </p:txBody>
      </p:sp>
    </p:spTree>
    <p:extLst>
      <p:ext uri="{BB962C8B-B14F-4D97-AF65-F5344CB8AC3E}">
        <p14:creationId xmlns:p14="http://schemas.microsoft.com/office/powerpoint/2010/main" val="452884028"/>
      </p:ext>
    </p:extLst>
  </p:cSld>
</p:sld>
</file>

<file path=ppt/slides/slide15.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475A88-9125-44F5-8FB5-D918374A74A4}"/>
              </a:ext>
            </a:extLst>
          </p:cNvPr>
          <p:cNvSpPr>
            <a:spLocks xmlns:a="http://schemas.openxmlformats.org/drawingml/2006/main" noGrp="1"/>
          </p:cNvSpPr>
          <p:nvPr/>
        </p:nvSpPr>
        <p:spPr>
          <a:xfrm xmlns:a="http://schemas.openxmlformats.org/drawingml/2006/main">
            <a:off x="-1280160" y="3840480"/>
            <a:ext cx="4206240" cy="4206240"/>
          </a:xfrm>
          <a:prstGeom xmlns:a="http://schemas.openxmlformats.org/drawingml/2006/main" prst="ellipse">
            <a:avLst/>
          </a:prstGeom>
          <a:solidFill xmlns:a="http://schemas.openxmlformats.org/drawingml/2006/main">
            <a:srgbClr val="2A6F84">
              <a:alpha val="40000"/>
            </a:srgbClr>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328A480-ECE1-4361-860A-748A840A72A7}"/>
              </a:ext>
            </a:extLst>
          </p:cNvPr>
          <p:cNvSpPr>
            <a:spLocks xmlns:a="http://schemas.openxmlformats.org/drawingml/2006/main" noGrp="1"/>
          </p:cNvSpPr>
          <p:nvPr/>
        </p:nvSpPr>
        <p:spPr>
          <a:xfrm xmlns:a="http://schemas.openxmlformats.org/drawingml/2006/main">
            <a:off x="10881360" y="-822960"/>
            <a:ext cx="2560320" cy="2560320"/>
          </a:xfrm>
          <a:prstGeom xmlns:a="http://schemas.openxmlformats.org/drawingml/2006/main" prst="ellipse">
            <a:avLst/>
          </a:prstGeom>
          <a:solidFill xmlns:a="http://schemas.openxmlformats.org/drawingml/2006/main">
            <a:srgbClr val="CE9136">
              <a:alpha val="35000"/>
            </a:srgbClr>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3D437F1-E5BC-4D00-B88E-DE1A6FB84FF6}"/>
              </a:ext>
            </a:extLst>
          </p:cNvPr>
          <p:cNvSpPr>
            <a:spLocks xmlns:a="http://schemas.openxmlformats.org/drawingml/2006/main" noGrp="1"/>
          </p:cNvSpPr>
          <p:nvPr/>
        </p:nvSpPr>
        <p:spPr>
          <a:xfrm xmlns:a="http://schemas.openxmlformats.org/drawingml/2006/main">
            <a:off x="822960" y="12344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IN SUMMARY</a:t>
            </a:r>
            <a:endParaRPr sz="1200"/>
          </a:p>
        </p:txBody>
      </p:sp>
      <p:sp>
        <p:nvSpPr>
          <p:cNvPr id="5" name="Text 3">
            <a:extLst xmlns:a="http://schemas.openxmlformats.org/drawingml/2006/main">
              <a:ext uri="{FF2B5EF4-FFF2-40B4-BE49-F238E27FC236}">
                <a16:creationId xmlns:a16="http://schemas.microsoft.com/office/drawing/2014/main" id="{78351608-FBDA-42C6-B10C-41BCDDB9CF0A}"/>
              </a:ext>
            </a:extLst>
          </p:cNvPr>
          <p:cNvSpPr>
            <a:spLocks xmlns:a="http://schemas.openxmlformats.org/drawingml/2006/main" noGrp="1"/>
          </p:cNvSpPr>
          <p:nvPr/>
        </p:nvSpPr>
        <p:spPr>
          <a:xfrm xmlns:a="http://schemas.openxmlformats.org/drawingml/2006/main">
            <a:off x="822960" y="1645920"/>
            <a:ext cx="96926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4200"/>
              </a:lnSpc>
              <a:buNone/>
              <a:defRPr sz="3000" b="1">
                <a:solidFill>
                  <a:srgbClr val="FFFFFF"/>
                </a:solidFill>
                <a:latin typeface="Cambria"/>
                <a:ea typeface="Cambria"/>
                <a:cs typeface="Cambria"/>
              </a:defRPr>
            </a:pPr>
            <a:r>
              <a:rPr sz="3000" b="1">
                <a:solidFill>
                  <a:srgbClr val="FFFFFF"/>
                </a:solidFill>
                <a:latin typeface="Cambria"/>
                <a:ea typeface="Cambria"/>
                <a:cs typeface="Cambria"/>
              </a:rPr>
              <a:t>Navigation passes.</a:t>
            </a:r>
            <a:endParaRPr sz="3000"/>
          </a:p>
          <a:p xmlns:a="http://schemas.openxmlformats.org/drawingml/2006/main">
            <a:pPr marL="0" indent="0">
              <a:lnSpc>
                <a:spcPts val="4200"/>
              </a:lnSpc>
              <a:buNone/>
              <a:defRPr sz="3000" b="1">
                <a:solidFill>
                  <a:srgbClr val="FFFFFF"/>
                </a:solidFill>
                <a:latin typeface="Cambria"/>
                <a:ea typeface="Cambria"/>
                <a:cs typeface="Cambria"/>
              </a:defRPr>
            </a:pPr>
            <a:r>
              <a:rPr sz="3000" b="1">
                <a:solidFill>
                  <a:srgbClr val="FFFFFF"/>
                </a:solidFill>
                <a:latin typeface="Cambria"/>
                <a:ea typeface="Cambria"/>
                <a:cs typeface="Cambria"/>
              </a:rPr>
              <a:t>Booking details and PDF export fail.</a:t>
            </a:r>
            <a:endParaRPr sz="3000"/>
          </a:p>
          <a:p xmlns:a="http://schemas.openxmlformats.org/drawingml/2006/main">
            <a:pPr marL="0" indent="0">
              <a:lnSpc>
                <a:spcPts val="4200"/>
              </a:lnSpc>
              <a:buNone/>
              <a:defRPr sz="3000" b="1">
                <a:solidFill>
                  <a:srgbClr val="FFFFFF"/>
                </a:solidFill>
                <a:latin typeface="Cambria"/>
                <a:ea typeface="Cambria"/>
                <a:cs typeface="Cambria"/>
              </a:defRPr>
            </a:pPr>
            <a:r>
              <a:rPr sz="3000" b="1">
                <a:solidFill>
                  <a:srgbClr val="FFFFFF"/>
                </a:solidFill>
                <a:latin typeface="Cambria"/>
                <a:ea typeface="Cambria"/>
                <a:cs typeface="Cambria"/>
              </a:rPr>
              <a:t>Exit criteria remain unmet.</a:t>
            </a:r>
            <a:endParaRPr sz="3000"/>
          </a:p>
        </p:txBody>
      </p:sp>
      <p:sp>
        <p:nvSpPr>
          <p:cNvPr id="6" name="Text 4">
            <a:extLst xmlns:a="http://schemas.openxmlformats.org/drawingml/2006/main">
              <a:ext uri="{FF2B5EF4-FFF2-40B4-BE49-F238E27FC236}">
                <a16:creationId xmlns:a16="http://schemas.microsoft.com/office/drawing/2014/main" id="{24791BB9-6524-4911-882E-FFB3DA36675C}"/>
              </a:ext>
            </a:extLst>
          </p:cNvPr>
          <p:cNvSpPr>
            <a:spLocks xmlns:a="http://schemas.openxmlformats.org/drawingml/2006/main" noGrp="1"/>
          </p:cNvSpPr>
          <p:nvPr/>
        </p:nvSpPr>
        <p:spPr>
          <a:xfrm xmlns:a="http://schemas.openxmlformats.org/drawingml/2006/main">
            <a:off x="822960" y="3886200"/>
            <a:ext cx="9692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2200"/>
              </a:lnSpc>
              <a:buNone/>
              <a:defRPr sz="1400" b="0">
                <a:solidFill>
                  <a:srgbClr val="BFD3DD"/>
                </a:solidFill>
                <a:latin typeface="Calibri"/>
                <a:ea typeface="Calibri"/>
                <a:cs typeface="Calibri"/>
              </a:defRPr>
            </a:pPr>
            <a:r>
              <a:rPr sz="1400" b="0">
                <a:solidFill>
                  <a:srgbClr val="BFD3DD"/>
                </a:solidFill>
                <a:latin typeface="Calibri"/>
                <a:ea typeface="Calibri"/>
                <a:cs typeface="Calibri"/>
              </a:rPr>
              <a:t>18 cases: 8 passed, 9 failed, 1 blocked</a:t>
            </a:r>
            <a:endParaRPr sz="1400"/>
          </a:p>
          <a:p xmlns:a="http://schemas.openxmlformats.org/drawingml/2006/main">
            <a:pPr marL="0" indent="0">
              <a:lnSpc>
                <a:spcPts val="2200"/>
              </a:lnSpc>
              <a:buNone/>
              <a:defRPr sz="1400" b="0">
                <a:solidFill>
                  <a:srgbClr val="BFD3DD"/>
                </a:solidFill>
                <a:latin typeface="Calibri"/>
                <a:ea typeface="Calibri"/>
                <a:cs typeface="Calibri"/>
              </a:defRPr>
            </a:pPr>
            <a:r>
              <a:rPr sz="1400" b="0">
                <a:solidFill>
                  <a:srgbClr val="BFD3DD"/>
                </a:solidFill>
                <a:latin typeface="Calibri"/>
                <a:ea typeface="Calibri"/>
                <a:cs typeface="Calibri"/>
              </a:rPr>
              <a:t>Execution workbook, report and evidence accompany this deck.</a:t>
            </a:r>
            <a:endParaRPr sz="1400"/>
          </a:p>
        </p:txBody>
      </p:sp>
      <p:sp>
        <p:nvSpPr>
          <p:cNvPr id="7" name="Text 5">
            <a:extLst xmlns:a="http://schemas.openxmlformats.org/drawingml/2006/main">
              <a:ext uri="{FF2B5EF4-FFF2-40B4-BE49-F238E27FC236}">
                <a16:creationId xmlns:a16="http://schemas.microsoft.com/office/drawing/2014/main" id="{B980E677-6F5E-4ABA-B5FA-7BFC145AE4BB}"/>
              </a:ext>
            </a:extLst>
          </p:cNvPr>
          <p:cNvSpPr>
            <a:spLocks xmlns:a="http://schemas.openxmlformats.org/drawingml/2006/main" noGrp="1"/>
          </p:cNvSpPr>
          <p:nvPr/>
        </p:nvSpPr>
        <p:spPr>
          <a:xfrm xmlns:a="http://schemas.openxmlformats.org/drawingml/2006/main">
            <a:off x="822960" y="493776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CE9136"/>
                </a:solidFill>
                <a:latin typeface="Cambria"/>
                <a:ea typeface="Cambria"/>
                <a:cs typeface="Cambria"/>
              </a:rPr>
              <a:t>Questions</a:t>
            </a:r>
            <a:endParaRPr sz="2400"/>
          </a:p>
        </p:txBody>
      </p:sp>
    </p:spTree>
    <p:extLst>
      <p:ext uri="{BB962C8B-B14F-4D97-AF65-F5344CB8AC3E}">
        <p14:creationId xmlns:p14="http://schemas.microsoft.com/office/powerpoint/2010/main" val="206061724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2026-09-17T23:46:06.9710000Z</dcterms:created>
  <dcterms:modified xsi:type="dcterms:W3CDTF">2026-09-17T23:46:06.9710000Z</dcterms:modified>
</coreProperties>
</file>