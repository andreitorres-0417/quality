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slides/charts/chart1.xml" ContentType="application/vnd.openxmlformats-officedocument.drawingml.chart+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3eb9a77f0b6042b8" /><Relationship Type="http://schemas.openxmlformats.org/officeDocument/2006/relationships/extended-properties" Target="/docProps/app.xml" Id="Rcd40976129cd41f7" /><Relationship Type="http://schemas.openxmlformats.org/officeDocument/2006/relationships/officeDocument" Target="/ppt/presentation.xml" Id="Re1bcb27cb9c64a8c" /></Relationships>
</file>

<file path=ppt/presentation.xml><?xml version="1.0" encoding="utf-8"?>
<p:presentation xmlns:p="http://schemas.openxmlformats.org/presentationml/2006/main">
  <p:sldMasterIdLst>
    <p:sldMasterId xmlns:r="http://schemas.openxmlformats.org/officeDocument/2006/relationships" id="2147483648" r:id="R95d843684b294aef"/>
  </p:sldMasterIdLst>
  <p:notesMasterIdLst>
    <p:notesMasterId xmlns:r="http://schemas.openxmlformats.org/officeDocument/2006/relationships" r:id="R06268745b6734473"/>
  </p:notesMasterIdLst>
  <p:sldIdLst>
    <p:sldId xmlns:r="http://schemas.openxmlformats.org/officeDocument/2006/relationships" id="256" r:id="Rcf6e324ad6a249d6"/>
    <p:sldId xmlns:r="http://schemas.openxmlformats.org/officeDocument/2006/relationships" id="257" r:id="Re46bc9ede1e84884"/>
    <p:sldId xmlns:r="http://schemas.openxmlformats.org/officeDocument/2006/relationships" id="258" r:id="Rd69df45dadac4f26"/>
    <p:sldId xmlns:r="http://schemas.openxmlformats.org/officeDocument/2006/relationships" id="259" r:id="R7bd15aa3a6164bfd"/>
    <p:sldId xmlns:r="http://schemas.openxmlformats.org/officeDocument/2006/relationships" id="260" r:id="Rb6b5532aeb144734"/>
    <p:sldId xmlns:r="http://schemas.openxmlformats.org/officeDocument/2006/relationships" id="261" r:id="Rdc24789566474e26"/>
    <p:sldId xmlns:r="http://schemas.openxmlformats.org/officeDocument/2006/relationships" id="262" r:id="R702d4a75ed4b496e"/>
    <p:sldId xmlns:r="http://schemas.openxmlformats.org/officeDocument/2006/relationships" id="263" r:id="R2e723564241b4a71"/>
    <p:sldId xmlns:r="http://schemas.openxmlformats.org/officeDocument/2006/relationships" id="264" r:id="Rffd0f8a23780414d"/>
    <p:sldId xmlns:r="http://schemas.openxmlformats.org/officeDocument/2006/relationships" id="265" r:id="R6101f9d0a35a4831"/>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snapToObjects="1">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55eff2fbff384304" /><Relationship Type="http://schemas.openxmlformats.org/officeDocument/2006/relationships/slideMaster" Target="/ppt/slideMasters/slideMaster1.xml" Id="R95d843684b294aef" /><Relationship Type="http://schemas.openxmlformats.org/officeDocument/2006/relationships/notesMaster" Target="/ppt/notesMasters/notesMaster1.xml" Id="R06268745b6734473" /><Relationship Type="http://schemas.openxmlformats.org/officeDocument/2006/relationships/presProps" Target="/ppt/presProps.xml" Id="R362f0dfc16504a01" /><Relationship Type="http://schemas.openxmlformats.org/officeDocument/2006/relationships/viewProps" Target="/ppt/viewProps.xml" Id="Ra5099c063cb04ca2" /><Relationship Type="http://schemas.openxmlformats.org/officeDocument/2006/relationships/tableStyles" Target="/ppt/tableStyles.xml" Id="Ra7f3df57ac37407b" /><Relationship Type="http://schemas.openxmlformats.org/officeDocument/2006/relationships/slide" Target="/ppt/slides/slide1.xml" Id="Rcf6e324ad6a249d6" /><Relationship Type="http://schemas.openxmlformats.org/officeDocument/2006/relationships/slide" Target="/ppt/slides/slide2.xml" Id="Re46bc9ede1e84884" /><Relationship Type="http://schemas.openxmlformats.org/officeDocument/2006/relationships/slide" Target="/ppt/slides/slide3.xml" Id="Rd69df45dadac4f26" /><Relationship Type="http://schemas.openxmlformats.org/officeDocument/2006/relationships/slide" Target="/ppt/slides/slide4.xml" Id="R7bd15aa3a6164bfd" /><Relationship Type="http://schemas.openxmlformats.org/officeDocument/2006/relationships/slide" Target="/ppt/slides/slide5.xml" Id="Rb6b5532aeb144734" /><Relationship Type="http://schemas.openxmlformats.org/officeDocument/2006/relationships/slide" Target="/ppt/slides/slide6.xml" Id="Rdc24789566474e26" /><Relationship Type="http://schemas.openxmlformats.org/officeDocument/2006/relationships/slide" Target="/ppt/slides/slide7.xml" Id="R702d4a75ed4b496e" /><Relationship Type="http://schemas.openxmlformats.org/officeDocument/2006/relationships/slide" Target="/ppt/slides/slide8.xml" Id="R2e723564241b4a71" /><Relationship Type="http://schemas.openxmlformats.org/officeDocument/2006/relationships/slide" Target="/ppt/slides/slide9.xml" Id="Rffd0f8a23780414d" /><Relationship Type="http://schemas.openxmlformats.org/officeDocument/2006/relationships/slide" Target="/ppt/slides/slide10.xml" Id="R6101f9d0a35a4831"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5fdfe1d32a8c4234"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614fb23654fe4a37" /><Relationship Type="http://schemas.openxmlformats.org/officeDocument/2006/relationships/notesMaster" Target="/ppt/notesMasters/notesMaster1.xml" Id="R1c8343a769ff40e9" /></Relationships>
</file>

<file path=ppt/notesSlides/_rels/notesSlide2.xml.rels>&#65279;<?xml version="1.0" encoding="utf-8"?><Relationships xmlns="http://schemas.openxmlformats.org/package/2006/relationships"><Relationship Type="http://schemas.openxmlformats.org/officeDocument/2006/relationships/slide" Target="/ppt/slides/slide2.xml" Id="Rd6b49721226b43c5" /><Relationship Type="http://schemas.openxmlformats.org/officeDocument/2006/relationships/notesMaster" Target="/ppt/notesMasters/notesMaster1.xml" Id="R3f4cc1ca26e0437b" /></Relationships>
</file>

<file path=ppt/notesSlides/_rels/notesSlide3.xml.rels>&#65279;<?xml version="1.0" encoding="utf-8"?><Relationships xmlns="http://schemas.openxmlformats.org/package/2006/relationships"><Relationship Type="http://schemas.openxmlformats.org/officeDocument/2006/relationships/slide" Target="/ppt/slides/slide3.xml" Id="R72501dde1ae8486f" /><Relationship Type="http://schemas.openxmlformats.org/officeDocument/2006/relationships/notesMaster" Target="/ppt/notesMasters/notesMaster1.xml" Id="R8a1284ea86304496" /></Relationships>
</file>

<file path=ppt/notesSlides/_rels/notesSlide4.xml.rels>&#65279;<?xml version="1.0" encoding="utf-8"?><Relationships xmlns="http://schemas.openxmlformats.org/package/2006/relationships"><Relationship Type="http://schemas.openxmlformats.org/officeDocument/2006/relationships/slide" Target="/ppt/slides/slide4.xml" Id="Rf8a3bd3d30ec4a92" /><Relationship Type="http://schemas.openxmlformats.org/officeDocument/2006/relationships/notesMaster" Target="/ppt/notesMasters/notesMaster1.xml" Id="Rb4d3d3fe2ab346c7" /></Relationships>
</file>

<file path=ppt/notesSlides/_rels/notesSlide5.xml.rels>&#65279;<?xml version="1.0" encoding="utf-8"?><Relationships xmlns="http://schemas.openxmlformats.org/package/2006/relationships"><Relationship Type="http://schemas.openxmlformats.org/officeDocument/2006/relationships/slide" Target="/ppt/slides/slide5.xml" Id="R40aa7fb8758d4af8" /><Relationship Type="http://schemas.openxmlformats.org/officeDocument/2006/relationships/notesMaster" Target="/ppt/notesMasters/notesMaster1.xml" Id="Rbb7caf7394b046f6" /></Relationships>
</file>

<file path=ppt/notesSlides/_rels/notesSlide6.xml.rels>&#65279;<?xml version="1.0" encoding="utf-8"?><Relationships xmlns="http://schemas.openxmlformats.org/package/2006/relationships"><Relationship Type="http://schemas.openxmlformats.org/officeDocument/2006/relationships/slide" Target="/ppt/slides/slide6.xml" Id="R01d0ea85f4a7485d" /><Relationship Type="http://schemas.openxmlformats.org/officeDocument/2006/relationships/notesMaster" Target="/ppt/notesMasters/notesMaster1.xml" Id="R10ff2cec663c4e58" /></Relationships>
</file>

<file path=ppt/notesSlides/_rels/notesSlide7.xml.rels>&#65279;<?xml version="1.0" encoding="utf-8"?><Relationships xmlns="http://schemas.openxmlformats.org/package/2006/relationships"><Relationship Type="http://schemas.openxmlformats.org/officeDocument/2006/relationships/slide" Target="/ppt/slides/slide7.xml" Id="R628995b87abe4850" /><Relationship Type="http://schemas.openxmlformats.org/officeDocument/2006/relationships/notesMaster" Target="/ppt/notesMasters/notesMaster1.xml" Id="Rbe6920b6451845e0" /></Relationships>
</file>

<file path=ppt/notesSlides/_rels/notesSlide8.xml.rels>&#65279;<?xml version="1.0" encoding="utf-8"?><Relationships xmlns="http://schemas.openxmlformats.org/package/2006/relationships"><Relationship Type="http://schemas.openxmlformats.org/officeDocument/2006/relationships/slide" Target="/ppt/slides/slide8.xml" Id="R7c25521beb2b4d6e" /><Relationship Type="http://schemas.openxmlformats.org/officeDocument/2006/relationships/notesMaster" Target="/ppt/notesMasters/notesMaster1.xml" Id="Rf873437da1d049bd" /></Relationships>
</file>

<file path=ppt/notesSlides/_rels/notesSlide9.xml.rels>&#65279;<?xml version="1.0" encoding="utf-8"?><Relationships xmlns="http://schemas.openxmlformats.org/package/2006/relationships"><Relationship Type="http://schemas.openxmlformats.org/officeDocument/2006/relationships/slide" Target="/ppt/slides/slide9.xml" Id="R8f19383170204afa" /><Relationship Type="http://schemas.openxmlformats.org/officeDocument/2006/relationships/notesMaster" Target="/ppt/notesMasters/notesMaster1.xml" Id="Rb2cf46a797c94fe4"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bc8e2099749242f7" /><Relationship Type="http://schemas.openxmlformats.org/officeDocument/2006/relationships/notesMaster" Target="/ppt/notesMasters/notesMaster1.xml" Id="R5c0ef8573d674c89"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Good morning. This report covers the second QA iteration for JazGot Tours, a website for selecting tour packages, entering a booking, going through checkout and viewing an invoice. Our role was to verify whether the implemented customer journey behaved as expected. The central finding is that a customer can move through the screens, but the details shown afterward do not match the booking they entered. We also reproduced the invoice-download failure. Before interpreting those findings, one source point is worth establishing: the application code in the tested copy matches the official repository’s current main branch at commit fffd308. The copy adds testing tools and documents. I will cover the starting point, what was tested, the results and the fixes that need verification. Authentication and payment are simulated, so this report does not describe real charges or confirmed business transactions.</a:t>
            </a:r>
          </a:p>
          <a:p xmlns:a="http://schemas.openxmlformats.org/drawingml/2006/main">
            <a:r>
              <a:t/>
            </a:r>
          </a:p>
          <a:p xmlns:a="http://schemas.openxmlformats.org/drawingml/2006/main">
            <a:r>
              <a:t>Evidence: test/iteration-2/evidence/results.json, console.json, admin-smoke.json and upstream-comparison.json. Full details: iteration-2-qa-report.md and iteration-2-test-results.xlsx. Execution used the Quality copy at 90f5c44; source and shared dependencies match official main fffd308.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The recorded first iteration executed eight customer-flow cases. Seven passed and one failed, which gave an 87.5 percent pass rate. The passing cases established that users could browse tours, open the authentication flow, complete simulated registration, calculate a booking total, proceed to checkout and view dashboard details. The failed case was invoice PDF export: clicking download produced no file. The key limitation in those earlier passes is the wording of the checks. They checked whether a page or information appeared, but did not consistently compare that information with what the customer entered. A dashboard can display a name and total and still display the wrong name and total. Iteration 2 therefore revisits the PDF defect and adds checks for data accuracy and invalid input. We should interpret the earlier results as evidence for those specific assertions, rather than evidence that every part of the booking feature worked.</a:t>
            </a:r>
          </a:p>
          <a:p xmlns:a="http://schemas.openxmlformats.org/drawingml/2006/main">
            <a:pPr>
              <a:buNone/>
            </a:pPr>
            <a:r>
              <a:t/>
            </a:r>
          </a:p>
          <a:p xmlns:a="http://schemas.openxmlformats.org/drawingml/2006/main">
            <a:pPr>
              <a:buNone/>
            </a:pPr>
            <a:r>
              <a:t>Evidence: test/iteration-2/evidence/results.json, console.json, admin-smoke.json and upstream-comparison.json. Full details: iteration-2-qa-report.md and iteration-2-test-results.xlsx. Execution used the Quality copy at 90f5c44; source and shared dependencies match official main fffd308.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This round covered the main customer flow from selecting a tour through simulated checkout to the dashboard. It also checked whether guest counts, dates and amounts survived navigation, whether a PDF could be downloaded, and whether invalid inputs were rejected. Basic admin checks and a clean Windows dependency installation were included. The tests ran against a local production build using Playwright with Microsoft Edge, which uses Chromium. Screenshots, console logs and a browser trace were saved. The scope limits matter when we state the result. We did not verify real payment processing, database persistence, security, performance under load or accessibility conformance. We also did not run a browser matrix. Some requirements were inferred from the supplied deck and implemented interface because completed requirements were unavailable. I will identify the quotation record-creation case separately because that expectation still needs agreement.</a:t>
            </a:r>
          </a:p>
          <a:p xmlns:a="http://schemas.openxmlformats.org/drawingml/2006/main">
            <a:pPr>
              <a:buNone/>
            </a:pPr>
            <a:r>
              <a:t/>
            </a:r>
          </a:p>
          <a:p xmlns:a="http://schemas.openxmlformats.org/drawingml/2006/main">
            <a:pPr>
              <a:buNone/>
            </a:pPr>
            <a:r>
              <a:t>Evidence: test/iteration-2/evidence/results.json, console.json, admin-smoke.json and upstream-comparison.json. Full details: iteration-2-qa-report.md and iteration-2-test-results.xlsx. Execution used the Quality copy at 90f5c44; source and shared dependencies match official main fffd308.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The corrected test set contains eighteen cases. Eight passed, nine failed and one was blocked. Seventeen cases therefore reached a pass-or-fail outcome, and eight divided by seventeen gives the reported pass rate of 47.06 percent. If the denominator includes all eighteen planned cases, the share passing is 44.44 percent. The blocked case is PDF content comparison: there was no downloaded PDF to inspect. The eight passes consist of the seven earlier navigation and display checks, plus the empty-payment-field check. A lower pass rate than Iteration 1 does not by itself show that development made the software worse. The second round asks additional questions that the first round missed. We are now checking whether the booking data is correct and whether invalid input is refused. The detailed workbook records each case; the following slides focus on the failures that explain the outcome.</a:t>
            </a:r>
          </a:p>
          <a:p xmlns:a="http://schemas.openxmlformats.org/drawingml/2006/main">
            <a:pPr>
              <a:buNone/>
            </a:pPr>
            <a:r>
              <a:t/>
            </a:r>
          </a:p>
          <a:p xmlns:a="http://schemas.openxmlformats.org/drawingml/2006/main">
            <a:pPr>
              <a:buNone/>
            </a:pPr>
            <a:r>
              <a:t>Evidence: test/iteration-2/evidence/results.json, console.json, admin-smoke.json and upstream-comparison.json. Full details: iteration-2-qa-report.md and iteration-2-test-results.xlsx. Execution used the Quality copy at 90f5c44; source and shared dependencies match official main fffd308.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This example shows the main customer impact. The test selected Tour A at 1,350 pesos per person, enabled the 400-peso ETDF fee and 200-peso lagoon fee, and entered two guests. The booking form correctly calculated 3,900 pesos. It also accepted a future tour date, September 27. On checkout, however, the display changed to one guest, 1,350 pesos and a pending date. The dashboard repeated those values and used a sample customer name. These are observable mismatches, so the continuity tests failed; they were not blocked. The earlier payment-navigation test still passed because the application reached the next screen, but reaching that screen did not preserve the transaction. The practical impact is that the customer reviews a different booking from the one they requested. The recommended fix is to carry the actual booking state through checkout and the dashboard, then compare all relevant fields in a retest.</a:t>
            </a:r>
          </a:p>
          <a:p xmlns:a="http://schemas.openxmlformats.org/drawingml/2006/main">
            <a:pPr>
              <a:buNone/>
            </a:pPr>
            <a:r>
              <a:t/>
            </a:r>
          </a:p>
          <a:p xmlns:a="http://schemas.openxmlformats.org/drawingml/2006/main">
            <a:pPr>
              <a:buNone/>
            </a:pPr>
            <a:r>
              <a:t>Evidence: test/iteration-2/evidence/results.json, console.json, admin-smoke.json and upstream-comparison.json. Full details: iteration-2-qa-report.md and iteration-2-test-results.xlsx. Execution used the Quality copy at 90f5c44; source and shared dependencies match official main fffd308.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The invoice download was the defect carried over from Iteration 1. In the current live retest, clicking Download PDF Invoice still produced no file. The console reported an unsupported colour function named lab. The application uses html2canvas to turn the visible invoice into an image, then uses jsPDF to put that image into a PDF. The failure occurs in that export path. We do not need to choose the developer’s exact implementation to state the acceptance condition: a file must download, open, remain readable and contain the correct invoice details. BUG-001 stays open because that did not happen. The separate content-comparison test is blocked by this failure, since it requires an existing PDF. That explains the difference between the failed download test and the blocked content test. The detailed report includes the console evidence and possible repair approaches.</a:t>
            </a:r>
          </a:p>
          <a:p xmlns:a="http://schemas.openxmlformats.org/drawingml/2006/main">
            <a:pPr>
              <a:buNone/>
            </a:pPr>
            <a:r>
              <a:t/>
            </a:r>
          </a:p>
          <a:p xmlns:a="http://schemas.openxmlformats.org/drawingml/2006/main">
            <a:pPr>
              <a:buNone/>
            </a:pPr>
            <a:r>
              <a:t>Evidence: test/iteration-2/evidence/results.json, console.json, admin-smoke.json and upstream-comparison.json. Full details: iteration-2-qa-report.md and iteration-2-test-results.xlsx. Execution used the Quality copy at 90f5c44; source and shared dependencies match official main fffd308.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We tested three negative cases. A negative test passes when the application correctly refuses invalid input. First, submitting an empty payment form was rejected by required-field validation, so that case passed. This corrects the original deck’s claim that the payment form had no validation at all. Second, malformed nonempty payment details were accepted. We separately tested an alphabetic card number, an impossible expiry entry and an alphabetic CVC while keeping the other fields in normal format. Each variant reached the simulated success dashboard. These variants belong to one test case, not three extra cases in the total. Third, a tour date ten days before execution was accepted and led to checkout. That case also failed. The development action is to keep the existing required-field checks and add meaningful rules for card details and booking dates. None of these outcomes represents a real payment being approved.</a:t>
            </a:r>
          </a:p>
          <a:p xmlns:a="http://schemas.openxmlformats.org/drawingml/2006/main">
            <a:pPr>
              <a:buNone/>
            </a:pPr>
            <a:r>
              <a:t/>
            </a:r>
          </a:p>
          <a:p xmlns:a="http://schemas.openxmlformats.org/drawingml/2006/main">
            <a:pPr>
              <a:buNone/>
            </a:pPr>
            <a:r>
              <a:t>Evidence: test/iteration-2/evidence/results.json, console.json, admin-smoke.json and upstream-comparison.json. Full details: iteration-2-qa-report.md and iteration-2-test-results.xlsx. Execution used the Quality copy at 90f5c44; source and shared dependencies match official main fffd308.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Three other findings affect setup and the admin area. A clean Windows installation failed because the dependencies included a Linux-only Tailwind package. A forced installation allowed the rest of QA to proceed without editing the application, but the clean-install case remains failed. In the admin area, all five routes returned content. The quotation page nevertheless raised a React hydration runtime error. In plain terms, the initial server-rendered page and the browser’s version did not match. The page recovered visibly, so we should not describe it as a blank-page crash. Finally, the deck expected quotation submission to create a record, but the page provided a live preview with no submit or save action. That fails the written test case, while the requirement itself still needs scope agreement. It is recorded separately from confirmed defects against clear expectations. These distinctions keep the report fair to the developers.</a:t>
            </a:r>
          </a:p>
          <a:p xmlns:a="http://schemas.openxmlformats.org/drawingml/2006/main">
            <a:pPr>
              <a:buNone/>
            </a:pPr>
            <a:r>
              <a:t/>
            </a:r>
          </a:p>
          <a:p xmlns:a="http://schemas.openxmlformats.org/drawingml/2006/main">
            <a:pPr>
              <a:buNone/>
            </a:pPr>
            <a:r>
              <a:t>Evidence: test/iteration-2/evidence/results.json, console.json, admin-smoke.json and upstream-comparison.json. Full details: iteration-2-qa-report.md and iteration-2-test-results.xlsx. Execution used the Quality copy at 90f5c44; source and shared dependencies match official main fffd308.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The recommendations follow the observed failures. Preserve actual booking details through the customer flow, so the selected guest count, date, add-ons and price appear consistently. Resolve the invoice export error and verify the resulting file. Keep required-field validation while rejecting malformed payment values and past tour dates. Correct the platform-specific dependency so another tester can install the project cleanly on Windows. For admin, resolve the quotation runtime error and agree whether record creation belongs to this iteration. These are actions for the development team; the QA run did not alter the submitted application to make the tests pass. Once a fix is returned, QA should repeat the relevant failed case and check the surrounding behavior for regressions. The workbook provides steps, expected results, observed results and evidence, so each retest can target the specific issue instead of relying on a general statement that it was fixed.</a:t>
            </a:r>
          </a:p>
          <a:p xmlns:a="http://schemas.openxmlformats.org/drawingml/2006/main">
            <a:pPr>
              <a:buNone/>
            </a:pPr>
            <a:r>
              <a:t/>
            </a:r>
          </a:p>
          <a:p xmlns:a="http://schemas.openxmlformats.org/drawingml/2006/main">
            <a:pPr>
              <a:buNone/>
            </a:pPr>
            <a:r>
              <a:t>Evidence: test/iteration-2/evidence/results.json, console.json, admin-smoke.json and upstream-comparison.json. Full details: iteration-2-qa-report.md and iteration-2-test-results.xlsx. Execution used the Quality copy at 90f5c44; source and shared dependencies match official main fffd308.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The stated exit criteria are not met. The pass rate is below the 95 percent target, invoice export still fails, and high-severity booking-data and payment-validation issues remain open. All eighteen cases have an outcome or documented blocker, so the test report is complete even though the software has not met the acceptance conditions. The conclusion is that basic navigation works, but a successful-looking journey does not yet produce a reliable booking or downloadable invoice. The next step is focused development fixes followed by retesting, with the quotation record requirement clarified separately. The report and workbook contain the full case list and evidence for questions. Thank you.</a:t>
            </a:r>
          </a:p>
          <a:p xmlns:a="http://schemas.openxmlformats.org/drawingml/2006/main">
            <a:pPr>
              <a:buNone/>
            </a:pPr>
            <a:r>
              <a:t/>
            </a:r>
          </a:p>
          <a:p xmlns:a="http://schemas.openxmlformats.org/drawingml/2006/main">
            <a:pPr>
              <a:buNone/>
            </a:pPr>
            <a:r>
              <a:t>Evidence: test/iteration-2/evidence/results.json, console.json, admin-smoke.json and upstream-comparison.json. Full details: iteration-2-qa-report.md and iteration-2-test-results.xlsx. Execution used the Quality copy at 90f5c44; source and shared dependencies match official main fffd308.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defc8eaf7b494524" /></Relationships>
</file>

<file path=ppt/slideLayouts/slideLayout1.xml><?xml version="1.0" encoding="utf-8"?>
<p:sldLayout xmlns:p="http://schemas.openxmlformats.org/presentationml/2006/main" preserve="1">
  <p:cSld name="DEFAULT">
    <p:bg>
      <p:bgRef idx="1001">
        <a:schemeClr xmlns:a="http://schemas.openxmlformats.org/drawingml/2006/main" val="bg1"/>
      </p:bgRef>
    </p:bg>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41dfdf06f7104a62" /><Relationship Type="http://schemas.openxmlformats.org/officeDocument/2006/relationships/slideLayout" Target="/ppt/slideLayouts/slideLayout1.xml" Id="Rbce8f17f4b5b4af6"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bce8f17f4b5b4af6"/>
  </p:sldLayoutIdLst>
  <p:hf sldNum="0" hdr="0" ftr="0" dt="0"/>
  <p:txStyles>
    <p:titleStyle>
      <a:lvl1pPr xmlns:a="http://schemas.openxmlformats.org/drawingml/2006/main" algn="ctr" defTabSz="914400">
        <a:spcBef>
          <a:spcPct val="0"/>
        </a:spcBef>
        <a:buNone/>
        <a:defRPr sz="4400" kern="1200">
          <a:solidFill>
            <a:schemeClr val="tx1"/>
          </a:solidFill>
          <a:latin typeface="+mj-lt"/>
          <a:ea typeface="+mj-lt"/>
          <a:cs typeface="+mj-lt"/>
        </a:defRPr>
      </a:lvl1pPr>
    </p:titleStyle>
    <p:bodyStyle>
      <a:lvl1pPr xmlns:a="http://schemas.openxmlformats.org/drawingml/2006/main" marL="342900" indent="-342900" algn="l" defTabSz="914400">
        <a:spcBef>
          <a:spcPct val="20000"/>
        </a:spcBef>
        <a:buFont typeface="Arial"/>
        <a:buChar char="•"/>
        <a:defRPr sz="3200" kern="1200">
          <a:solidFill>
            <a:schemeClr val="tx1"/>
          </a:solidFill>
          <a:latin typeface="+mn-lt"/>
          <a:ea typeface="+mn-lt"/>
          <a:cs typeface="+mn-lt"/>
        </a:defRPr>
      </a:lvl1pPr>
      <a:lvl2pPr xmlns:a="http://schemas.openxmlformats.org/drawingml/2006/main" marL="742950" indent="-285750" algn="l" defTabSz="914400">
        <a:spcBef>
          <a:spcPct val="20000"/>
        </a:spcBef>
        <a:buFont typeface="Arial"/>
        <a:buChar char="–"/>
        <a:defRPr sz="2800" kern="1200">
          <a:solidFill>
            <a:schemeClr val="tx1"/>
          </a:solidFill>
          <a:latin typeface="+mn-lt"/>
          <a:ea typeface="+mn-lt"/>
          <a:cs typeface="+mn-lt"/>
        </a:defRPr>
      </a:lvl2pPr>
      <a:lvl3pPr xmlns:a="http://schemas.openxmlformats.org/drawingml/2006/main" marL="1143000" indent="-228600" algn="l" defTabSz="914400">
        <a:spcBef>
          <a:spcPct val="20000"/>
        </a:spcBef>
        <a:buFont typeface="Arial"/>
        <a:buChar char="•"/>
        <a:defRPr sz="2400" kern="1200">
          <a:solidFill>
            <a:schemeClr val="tx1"/>
          </a:solidFill>
          <a:latin typeface="+mn-lt"/>
          <a:ea typeface="+mn-lt"/>
          <a:cs typeface="+mn-lt"/>
        </a:defRPr>
      </a:lvl3pPr>
      <a:lvl4pPr xmlns:a="http://schemas.openxmlformats.org/drawingml/2006/main" marL="1600200" indent="-228600" algn="l" defTabSz="914400">
        <a:spcBef>
          <a:spcPct val="20000"/>
        </a:spcBef>
        <a:buFont typeface="Arial"/>
        <a:buChar char="–"/>
        <a:defRPr sz="2000" kern="1200">
          <a:solidFill>
            <a:schemeClr val="tx1"/>
          </a:solidFill>
          <a:latin typeface="+mn-lt"/>
          <a:ea typeface="+mn-lt"/>
          <a:cs typeface="+mn-lt"/>
        </a:defRPr>
      </a:lvl4pPr>
      <a:lvl5pPr xmlns:a="http://schemas.openxmlformats.org/drawingml/2006/main" marL="2057400" indent="-228600" algn="l" defTabSz="914400">
        <a:spcBef>
          <a:spcPct val="20000"/>
        </a:spcBef>
        <a:buFont typeface="Arial"/>
        <a:buChar char="»"/>
        <a:defRPr sz="2000" kern="1200">
          <a:solidFill>
            <a:schemeClr val="tx1"/>
          </a:solidFill>
          <a:latin typeface="+mn-lt"/>
          <a:ea typeface="+mn-lt"/>
          <a:cs typeface="+mn-lt"/>
        </a:defRPr>
      </a:lvl5pPr>
      <a:lvl6pPr xmlns:a="http://schemas.openxmlformats.org/drawingml/2006/main" marL="2514600" indent="-228600" algn="l" defTabSz="914400">
        <a:spcBef>
          <a:spcPct val="20000"/>
        </a:spcBef>
        <a:buFont typeface="Arial"/>
        <a:buChar char="•"/>
        <a:defRPr sz="2000" kern="1200">
          <a:solidFill>
            <a:schemeClr val="tx1"/>
          </a:solidFill>
          <a:latin typeface="+mn-lt"/>
          <a:ea typeface="+mn-lt"/>
          <a:cs typeface="+mn-lt"/>
        </a:defRPr>
      </a:lvl6pPr>
      <a:lvl7pPr xmlns:a="http://schemas.openxmlformats.org/drawingml/2006/main" marL="2971800" indent="-228600" algn="l" defTabSz="914400">
        <a:spcBef>
          <a:spcPct val="20000"/>
        </a:spcBef>
        <a:buFont typeface="Arial"/>
        <a:buChar char="•"/>
        <a:defRPr sz="2000" kern="1200">
          <a:solidFill>
            <a:schemeClr val="tx1"/>
          </a:solidFill>
          <a:latin typeface="+mn-lt"/>
          <a:ea typeface="+mn-lt"/>
          <a:cs typeface="+mn-lt"/>
        </a:defRPr>
      </a:lvl7pPr>
      <a:lvl8pPr xmlns:a="http://schemas.openxmlformats.org/drawingml/2006/main" marL="3429000" indent="-228600" algn="l" defTabSz="914400">
        <a:spcBef>
          <a:spcPct val="20000"/>
        </a:spcBef>
        <a:buFont typeface="Arial"/>
        <a:buChar char="•"/>
        <a:defRPr sz="2000" kern="1200">
          <a:solidFill>
            <a:schemeClr val="tx1"/>
          </a:solidFill>
          <a:latin typeface="+mn-lt"/>
          <a:ea typeface="+mn-lt"/>
          <a:cs typeface="+mn-lt"/>
        </a:defRPr>
      </a:lvl8pPr>
      <a:lvl9pPr xmlns:a="http://schemas.openxmlformats.org/drawingml/2006/main" marL="3886200" indent="-228600" algn="l" defTabSz="914400">
        <a:spcBef>
          <a:spcPct val="20000"/>
        </a:spcBef>
        <a:buFont typeface="Arial"/>
        <a:buChar char="•"/>
        <a:defRPr sz="20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0bf2a91956db4193" /><Relationship Type="http://schemas.openxmlformats.org/officeDocument/2006/relationships/notesSlide" Target="/ppt/notesSlides/notesSlide1.xml" Id="Rf478bd485e534087"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de285d1284134bc0" /><Relationship Type="http://schemas.openxmlformats.org/officeDocument/2006/relationships/notesSlide" Target="/ppt/notesSlides/notesSlide2.xml" Id="R9f6fa55eb6224fc0"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f8b2fd1ac61b4e3c" /><Relationship Type="http://schemas.openxmlformats.org/officeDocument/2006/relationships/notesSlide" Target="/ppt/notesSlides/notesSlide3.xml" Id="R53609df987c14578"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8e43274395b94090" /><Relationship Type="http://schemas.openxmlformats.org/officeDocument/2006/relationships/chart" Target="/ppt/slides/charts/chart1.xml" Id="R0dac8b3bb7ae42d6" /><Relationship Type="http://schemas.openxmlformats.org/officeDocument/2006/relationships/notesSlide" Target="/ppt/notesSlides/notesSlide4.xml" Id="R14ebb090984f474f"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1fd74dae52f842be" /><Relationship Type="http://schemas.openxmlformats.org/officeDocument/2006/relationships/notesSlide" Target="/ppt/notesSlides/notesSlide5.xml" Id="R7c1cce377fa24a35"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0250b2f948d043a5" /><Relationship Type="http://schemas.openxmlformats.org/officeDocument/2006/relationships/notesSlide" Target="/ppt/notesSlides/notesSlide6.xml" Id="R4398c343f34d4cd1"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708f8662cd5f49f9" /><Relationship Type="http://schemas.openxmlformats.org/officeDocument/2006/relationships/notesSlide" Target="/ppt/notesSlides/notesSlide7.xml" Id="R8e3534d9bfdb42a4"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ae9cc4047d5045bb" /><Relationship Type="http://schemas.openxmlformats.org/officeDocument/2006/relationships/notesSlide" Target="/ppt/notesSlides/notesSlide8.xml" Id="Re519438ad5f04689"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36da85c98a2a4662" /><Relationship Type="http://schemas.openxmlformats.org/officeDocument/2006/relationships/notesSlide" Target="/ppt/notesSlides/notesSlide9.xml" Id="Rb341b98ddd154201"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072ac151becf42d1" /><Relationship Type="http://schemas.openxmlformats.org/officeDocument/2006/relationships/notesSlide" Target="/ppt/notesSlides/notesSlide10.xml" Id="R14a6ab9f97d9458f"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575">
                <a:solidFill>
                  <a:srgbClr val="0E2A38"/>
                </a:solidFill>
                <a:latin typeface="Calibri"/>
                <a:ea typeface="Calibri"/>
                <a:cs typeface="Calibri"/>
              </a:rPr>
              <a:t>Current case outcomes</a:t>
            </a:r>
          </a:p>
        </c:rich>
      </c:tx>
      <c:overlay val="0"/>
      <c:txPr>
        <a:bodyPr xmlns:a="http://schemas.openxmlformats.org/drawingml/2006/main" anchorCtr="1"/>
        <a:lstStyle xmlns:a="http://schemas.openxmlformats.org/drawingml/2006/main"/>
        <a:p xmlns:a="http://schemas.openxmlformats.org/drawingml/2006/main">
          <a:pPr>
            <a:defRPr sz="1575">
              <a:solidFill>
                <a:srgbClr val="0E2A38"/>
              </a:solidFill>
              <a:latin typeface="Calibri"/>
              <a:ea typeface="Calibri"/>
              <a:cs typeface="Calibri"/>
            </a:defRPr>
          </a:pPr>
        </a:p>
      </c:txPr>
    </c:title>
    <c:plotArea>
      <c:barChart>
        <c:barDir val="col"/>
        <c:varyColors val="0"/>
        <c:ser>
          <c:idx val="0"/>
          <c:order val="0"/>
          <c:tx>
            <c:v>Cases</c:v>
          </c:tx>
          <c:spPr>
            <a:solidFill xmlns:a="http://schemas.openxmlformats.org/drawingml/2006/main">
              <a:srgbClr val="CE9136"/>
            </a:solidFill>
          </c:spPr>
          <c:cat>
            <c:strRef>
              <c:f>'Chart Data'!$A$2:$A$4</c:f>
              <c:strCache>
                <c:ptCount val="3"/>
                <c:pt idx="0">
                  <c:v>Pass</c:v>
                </c:pt>
                <c:pt idx="1">
                  <c:v>Fail</c:v>
                </c:pt>
                <c:pt idx="2">
                  <c:v>Blocked</c:v>
                </c:pt>
              </c:strCache>
            </c:strRef>
          </c:cat>
          <c:val>
            <c:numRef>
              <c:f>'Chart Data'!$B$2:$B$4</c:f>
              <c:numCache>
                <c:formatCode>0</c:formatCode>
                <c:ptCount val="3"/>
                <c:pt idx="0">
                  <c:v>8</c:v>
                </c:pt>
                <c:pt idx="1">
                  <c:v>9</c:v>
                </c:pt>
                <c:pt idx="2">
                  <c:v>1</c:v>
                </c:pt>
              </c:numCache>
            </c:numRef>
          </c:val>
        </c:ser>
        <c:dLbls>
          <c:txPr>
            <a:bodyPr xmlns:a="http://schemas.openxmlformats.org/drawingml/2006/main" anchorCtr="1"/>
            <a:lstStyle xmlns:a="http://schemas.openxmlformats.org/drawingml/2006/main"/>
            <a:p xmlns:a="http://schemas.openxmlformats.org/drawingml/2006/main">
              <a:pPr>
                <a:defRPr sz="1650">
                  <a:latin typeface="Calibri"/>
                  <a:ea typeface="Calibri"/>
                  <a:cs typeface="Calibri"/>
                </a:defRPr>
              </a:pPr>
            </a:p>
          </c:txPr>
          <c:dLblPos val="outEnd"/>
          <c:showLegendKey val="0"/>
          <c:showVal val="1"/>
          <c:showCatName val="0"/>
          <c:showSerName val="0"/>
          <c:showPercent val="0"/>
          <c:showBubbleSize val="0"/>
          <c:showLeaderLines val="0"/>
        </c:dLbls>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666666"/>
                </a:solidFill>
                <a:latin typeface="Calibri"/>
                <a:ea typeface="Calibri"/>
                <a:cs typeface="Calibri"/>
              </a:defRPr>
            </a:pPr>
          </a:p>
        </c:txPr>
        <c:crossAx val="48672768"/>
      </c:catAx>
      <c:valAx>
        <c:axId val="48672768"/>
        <c:scaling>
          <c:orientation val="minMax"/>
        </c:scaling>
        <c:delete val="0"/>
        <c:axPos val="l"/>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00">
                <a:solidFill>
                  <a:srgbClr val="666666"/>
                </a:solidFill>
                <a:latin typeface="Calibri"/>
                <a:ea typeface="Calibri"/>
                <a:cs typeface="Calibri"/>
              </a:defRPr>
            </a:pPr>
          </a:p>
        </c:txPr>
        <c:crossAx val="48650112"/>
        <c:crossBetween val="between"/>
      </c:valAx>
    </c:plotArea>
    <c:plotVisOnly val="1"/>
  </c:chart>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0E2A38"/>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32FD5A4C-A2BC-4108-BF77-AE284F556CCC}"/>
              </a:ext>
            </a:extLst>
          </p:cNvPr>
          <p:cNvSpPr>
            <a:spLocks xmlns:a="http://schemas.openxmlformats.org/drawingml/2006/main" noGrp="1"/>
          </p:cNvSpPr>
          <p:nvPr/>
        </p:nvSpPr>
        <p:spPr>
          <a:xfrm xmlns:a="http://schemas.openxmlformats.org/drawingml/2006/main">
            <a:off x="9326880" y="-1463040"/>
            <a:ext cx="4754880" cy="4754880"/>
          </a:xfrm>
          <a:prstGeom xmlns:a="http://schemas.openxmlformats.org/drawingml/2006/main" prst="ellipse">
            <a:avLst/>
          </a:prstGeom>
          <a:solidFill xmlns:a="http://schemas.openxmlformats.org/drawingml/2006/main">
            <a:srgbClr val="2A6F84">
              <a:alpha val="45000"/>
            </a:srgbClr>
          </a:solidFill>
        </p:spPr>
        <p:txBody>
          <a:bodyPr xmlns:a="http://schemas.openxmlformats.org/drawingml/2006/main"/>
          <a:lstStyle xmlns:a="http://schemas.openxmlformats.org/drawingml/2006/main"/>
          <a:p xmlns:a="http://schemas.openxmlformats.org/drawingml/2006/main">
            <a:endParaRPr/>
          </a:p>
        </p:txBody>
      </p:sp>
      <p:sp>
        <p:nvSpPr>
          <p:cNvPr id="3" name="Shape 1">
            <a:extLst xmlns:a="http://schemas.openxmlformats.org/drawingml/2006/main">
              <a:ext uri="{FF2B5EF4-FFF2-40B4-BE49-F238E27FC236}">
                <a16:creationId xmlns:a16="http://schemas.microsoft.com/office/drawing/2014/main" id="{379C3360-9E44-496D-89D3-6BA076F039C1}"/>
              </a:ext>
            </a:extLst>
          </p:cNvPr>
          <p:cNvSpPr>
            <a:spLocks xmlns:a="http://schemas.openxmlformats.org/drawingml/2006/main" noGrp="1"/>
          </p:cNvSpPr>
          <p:nvPr/>
        </p:nvSpPr>
        <p:spPr>
          <a:xfrm xmlns:a="http://schemas.openxmlformats.org/drawingml/2006/main">
            <a:off x="10607040" y="4206240"/>
            <a:ext cx="2377440" cy="2377440"/>
          </a:xfrm>
          <a:prstGeom xmlns:a="http://schemas.openxmlformats.org/drawingml/2006/main" prst="ellipse">
            <a:avLst/>
          </a:prstGeom>
          <a:solidFill xmlns:a="http://schemas.openxmlformats.org/drawingml/2006/main">
            <a:srgbClr val="CE9136">
              <a:alpha val="35000"/>
            </a:srgbClr>
          </a:solidFill>
        </p:spPr>
        <p:txBody>
          <a:bodyPr xmlns:a="http://schemas.openxmlformats.org/drawingml/2006/main"/>
          <a:lstStyle xmlns:a="http://schemas.openxmlformats.org/drawingml/2006/main"/>
          <a:p xmlns:a="http://schemas.openxmlformats.org/drawingml/2006/main">
            <a:endParaRPr/>
          </a:p>
        </p:txBody>
      </p:sp>
      <p:sp>
        <p:nvSpPr>
          <p:cNvPr id="4" name="Text 2">
            <a:extLst xmlns:a="http://schemas.openxmlformats.org/drawingml/2006/main">
              <a:ext uri="{FF2B5EF4-FFF2-40B4-BE49-F238E27FC236}">
                <a16:creationId xmlns:a16="http://schemas.microsoft.com/office/drawing/2014/main" id="{4B72F48D-D76F-4C22-912A-8023D5E6E6D4}"/>
              </a:ext>
            </a:extLst>
          </p:cNvPr>
          <p:cNvSpPr>
            <a:spLocks xmlns:a="http://schemas.openxmlformats.org/drawingml/2006/main" noGrp="1"/>
          </p:cNvSpPr>
          <p:nvPr/>
        </p:nvSpPr>
        <p:spPr>
          <a:xfrm xmlns:a="http://schemas.openxmlformats.org/drawingml/2006/main">
            <a:off x="777240" y="1325880"/>
            <a:ext cx="82296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spc="200">
                <a:solidFill>
                  <a:srgbClr val="CE9136"/>
                </a:solidFill>
                <a:latin typeface="Calibri"/>
                <a:ea typeface="Calibri"/>
                <a:cs typeface="Calibri"/>
              </a:rPr>
              <a:t>SOFTWARE QUALITY ASSURANCE  |  GROUP 02 - WASD</a:t>
            </a:r>
            <a:endParaRPr sz="1200"/>
          </a:p>
        </p:txBody>
      </p:sp>
      <p:sp>
        <p:nvSpPr>
          <p:cNvPr id="5" name="Text 3">
            <a:extLst xmlns:a="http://schemas.openxmlformats.org/drawingml/2006/main">
              <a:ext uri="{FF2B5EF4-FFF2-40B4-BE49-F238E27FC236}">
                <a16:creationId xmlns:a16="http://schemas.microsoft.com/office/drawing/2014/main" id="{06306A79-7B5E-409B-A46D-A2E3D85252BE}"/>
              </a:ext>
            </a:extLst>
          </p:cNvPr>
          <p:cNvSpPr>
            <a:spLocks xmlns:a="http://schemas.openxmlformats.org/drawingml/2006/main" noGrp="1"/>
          </p:cNvSpPr>
          <p:nvPr/>
        </p:nvSpPr>
        <p:spPr>
          <a:xfrm xmlns:a="http://schemas.openxmlformats.org/drawingml/2006/main">
            <a:off x="777240" y="1737360"/>
            <a:ext cx="8778240" cy="1005840"/>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p xmlns:a="http://schemas.openxmlformats.org/drawingml/2006/main">
            <a:pPr marL="0" indent="0">
              <a:buNone/>
              <a:defRPr sz="3900" b="1">
                <a:solidFill>
                  <a:srgbClr val="FFFFFF"/>
                </a:solidFill>
                <a:latin typeface="Cambria"/>
                <a:ea typeface="Cambria"/>
                <a:cs typeface="Cambria"/>
              </a:defRPr>
            </a:pPr>
            <a:r>
              <a:rPr sz="3900" b="1">
                <a:solidFill>
                  <a:srgbClr val="FFFFFF"/>
                </a:solidFill>
                <a:latin typeface="Cambria"/>
                <a:ea typeface="Cambria"/>
                <a:cs typeface="Cambria"/>
              </a:rPr>
              <a:t>JazGot Tours</a:t>
            </a:r>
            <a:endParaRPr sz="4800"/>
          </a:p>
          <a:p xmlns:a="http://schemas.openxmlformats.org/drawingml/2006/main">
            <a:pPr marL="0" indent="0">
              <a:buNone/>
              <a:defRPr sz="3900" b="1">
                <a:solidFill>
                  <a:srgbClr val="FFFFFF"/>
                </a:solidFill>
                <a:latin typeface="Cambria"/>
                <a:ea typeface="Cambria"/>
                <a:cs typeface="Cambria"/>
              </a:defRPr>
            </a:pPr>
            <a:r>
              <a:rPr sz="3900" b="1">
                <a:solidFill>
                  <a:srgbClr val="FFFFFF"/>
                </a:solidFill>
                <a:latin typeface="Cambria"/>
                <a:ea typeface="Cambria"/>
                <a:cs typeface="Cambria"/>
              </a:rPr>
              <a:t>Iteration 2 QA</a:t>
            </a:r>
            <a:endParaRPr sz="4800"/>
          </a:p>
        </p:txBody>
      </p:sp>
      <p:sp>
        <p:nvSpPr>
          <p:cNvPr id="6" name="Text 4">
            <a:extLst xmlns:a="http://schemas.openxmlformats.org/drawingml/2006/main">
              <a:ext uri="{FF2B5EF4-FFF2-40B4-BE49-F238E27FC236}">
                <a16:creationId xmlns:a16="http://schemas.microsoft.com/office/drawing/2014/main" id="{D7F1E1D7-F98E-4882-B1CB-55A52715FBB7}"/>
              </a:ext>
            </a:extLst>
          </p:cNvPr>
          <p:cNvSpPr>
            <a:spLocks xmlns:a="http://schemas.openxmlformats.org/drawingml/2006/main" noGrp="1"/>
          </p:cNvSpPr>
          <p:nvPr/>
        </p:nvSpPr>
        <p:spPr>
          <a:xfrm xmlns:a="http://schemas.openxmlformats.org/drawingml/2006/main">
            <a:off x="777240" y="2743200"/>
            <a:ext cx="877824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p xmlns:a="http://schemas.openxmlformats.org/drawingml/2006/main">
            <a:pPr marL="0" indent="0">
              <a:buNone/>
              <a:defRPr sz="1875" b="0">
                <a:solidFill>
                  <a:srgbClr val="BFD3DD"/>
                </a:solidFill>
                <a:latin typeface="Calibri"/>
                <a:ea typeface="Calibri"/>
                <a:cs typeface="Calibri"/>
              </a:defRPr>
            </a:pPr>
            <a:r>
              <a:rPr sz="1875" b="0">
                <a:solidFill>
                  <a:srgbClr val="BFD3DD"/>
                </a:solidFill>
                <a:latin typeface="Calibri"/>
                <a:ea typeface="Calibri"/>
                <a:cs typeface="Calibri"/>
              </a:rPr>
              <a:t>Booking, payment and invoice verification</a:t>
            </a:r>
            <a:endParaRPr sz="1900"/>
          </a:p>
        </p:txBody>
      </p:sp>
      <p:sp>
        <p:nvSpPr>
          <p:cNvPr id="7" name="Shape 5">
            <a:extLst xmlns:a="http://schemas.openxmlformats.org/drawingml/2006/main">
              <a:ext uri="{FF2B5EF4-FFF2-40B4-BE49-F238E27FC236}">
                <a16:creationId xmlns:a16="http://schemas.microsoft.com/office/drawing/2014/main" id="{00426173-2627-4361-A117-5D05823920C3}"/>
              </a:ext>
            </a:extLst>
          </p:cNvPr>
          <p:cNvSpPr>
            <a:spLocks xmlns:a="http://schemas.openxmlformats.org/drawingml/2006/main" noGrp="1"/>
          </p:cNvSpPr>
          <p:nvPr/>
        </p:nvSpPr>
        <p:spPr>
          <a:xfrm xmlns:a="http://schemas.openxmlformats.org/drawingml/2006/main">
            <a:off x="777240" y="3429000"/>
            <a:ext cx="1005840" cy="32004"/>
          </a:xfrm>
          <a:prstGeom xmlns:a="http://schemas.openxmlformats.org/drawingml/2006/main" prst="rect">
            <a:avLst/>
          </a:prstGeom>
          <a:solidFill xmlns:a="http://schemas.openxmlformats.org/drawingml/2006/main">
            <a:srgbClr val="CE9136"/>
          </a:solidFill>
          <a:ln xmlns:a="http://schemas.openxmlformats.org/drawingml/2006/main" w="12700">
            <a:solidFill>
              <a:srgbClr val="CE9136"/>
            </a:solidFill>
            <a:prstDash val="solid"/>
          </a:ln>
        </p:spPr>
        <p:txBody>
          <a:bodyPr xmlns:a="http://schemas.openxmlformats.org/drawingml/2006/main"/>
          <a:lstStyle xmlns:a="http://schemas.openxmlformats.org/drawingml/2006/main"/>
          <a:p xmlns:a="http://schemas.openxmlformats.org/drawingml/2006/main">
            <a:endParaRPr/>
          </a:p>
        </p:txBody>
      </p:sp>
      <p:sp>
        <p:nvSpPr>
          <p:cNvPr id="8" name="Text 6">
            <a:extLst xmlns:a="http://schemas.openxmlformats.org/drawingml/2006/main">
              <a:ext uri="{FF2B5EF4-FFF2-40B4-BE49-F238E27FC236}">
                <a16:creationId xmlns:a16="http://schemas.microsoft.com/office/drawing/2014/main" id="{B8A24879-82CD-492E-A342-89E3BCE06C92}"/>
              </a:ext>
            </a:extLst>
          </p:cNvPr>
          <p:cNvSpPr>
            <a:spLocks xmlns:a="http://schemas.openxmlformats.org/drawingml/2006/main" noGrp="1"/>
          </p:cNvSpPr>
          <p:nvPr/>
        </p:nvSpPr>
        <p:spPr>
          <a:xfrm xmlns:a="http://schemas.openxmlformats.org/drawingml/2006/main">
            <a:off x="777240" y="3703320"/>
            <a:ext cx="8778240" cy="822960"/>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p xmlns:a="http://schemas.openxmlformats.org/drawingml/2006/main">
            <a:pPr marL="0" indent="0">
              <a:lnSpc>
                <a:spcPts val="2200"/>
              </a:lnSpc>
              <a:buNone/>
              <a:defRPr sz="1425" b="0">
                <a:solidFill>
                  <a:srgbClr val="BFD3DD"/>
                </a:solidFill>
                <a:latin typeface="Calibri"/>
                <a:ea typeface="Calibri"/>
                <a:cs typeface="Calibri"/>
              </a:defRPr>
            </a:pPr>
            <a:r>
              <a:rPr sz="1425" b="0">
                <a:solidFill>
                  <a:srgbClr val="BFD3DD"/>
                </a:solidFill>
                <a:latin typeface="Calibri"/>
                <a:ea typeface="Calibri"/>
                <a:cs typeface="Calibri"/>
              </a:rPr>
              <a:t>Verified 18 September 2026</a:t>
            </a:r>
            <a:endParaRPr sz="1400"/>
          </a:p>
          <a:p xmlns:a="http://schemas.openxmlformats.org/drawingml/2006/main">
            <a:pPr marL="0" indent="0">
              <a:lnSpc>
                <a:spcPts val="2200"/>
              </a:lnSpc>
              <a:buNone/>
              <a:defRPr sz="1425" b="0">
                <a:solidFill>
                  <a:srgbClr val="BFD3DD"/>
                </a:solidFill>
                <a:latin typeface="Calibri"/>
                <a:ea typeface="Calibri"/>
                <a:cs typeface="Calibri"/>
              </a:defRPr>
            </a:pPr>
            <a:r>
              <a:rPr sz="1425" b="0">
                <a:solidFill>
                  <a:srgbClr val="BFD3DD"/>
                </a:solidFill>
                <a:latin typeface="Calibri"/>
                <a:ea typeface="Calibri"/>
                <a:cs typeface="Calibri"/>
              </a:rPr>
              <a:t>Application code matches official main at fffd308</a:t>
            </a:r>
            <a:endParaRPr sz="1400"/>
          </a:p>
        </p:txBody>
      </p:sp>
    </p:spTree>
    <p:extLst>
      <p:ext uri="{BB962C8B-B14F-4D97-AF65-F5344CB8AC3E}">
        <p14:creationId xmlns:p14="http://schemas.microsoft.com/office/powerpoint/2010/main" val="165684384"/>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60161157-7C6F-4739-8561-613B8291D405}"/>
              </a:ext>
            </a:extLst>
          </p:cNvPr>
          <p:cNvSpPr>
            <a:spLocks xmlns:a="http://schemas.openxmlformats.org/drawingml/2006/main" noGrp="1"/>
          </p:cNvSpPr>
          <p:nvPr/>
        </p:nvSpPr>
        <p:spPr>
          <a:xfrm xmlns:a="http://schemas.openxmlformats.org/drawingml/2006/main">
            <a:off x="640080" y="384048"/>
            <a:ext cx="82296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spc="200">
                <a:solidFill>
                  <a:srgbClr val="CE9136"/>
                </a:solidFill>
                <a:latin typeface="Calibri"/>
                <a:ea typeface="Calibri"/>
                <a:cs typeface="Calibri"/>
              </a:rPr>
              <a:t>RECAP</a:t>
            </a:r>
            <a:endParaRPr sz="1200"/>
          </a:p>
        </p:txBody>
      </p:sp>
      <p:sp>
        <p:nvSpPr>
          <p:cNvPr id="3" name="Text 1">
            <a:extLst xmlns:a="http://schemas.openxmlformats.org/drawingml/2006/main">
              <a:ext uri="{FF2B5EF4-FFF2-40B4-BE49-F238E27FC236}">
                <a16:creationId xmlns:a16="http://schemas.microsoft.com/office/drawing/2014/main" id="{FFF46A68-7D11-4609-82A3-118DA28838A6}"/>
              </a:ext>
            </a:extLst>
          </p:cNvPr>
          <p:cNvSpPr>
            <a:spLocks xmlns:a="http://schemas.openxmlformats.org/drawingml/2006/main" noGrp="1"/>
          </p:cNvSpPr>
          <p:nvPr/>
        </p:nvSpPr>
        <p:spPr>
          <a:xfrm xmlns:a="http://schemas.openxmlformats.org/drawingml/2006/main">
            <a:off x="640080" y="658368"/>
            <a:ext cx="1088136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p xmlns:a="http://schemas.openxmlformats.org/drawingml/2006/main">
            <a:pPr marL="0" indent="0">
              <a:buNone/>
              <a:defRPr sz="3300" b="1">
                <a:solidFill>
                  <a:srgbClr val="0E2A38"/>
                </a:solidFill>
                <a:latin typeface="Cambria"/>
                <a:ea typeface="Cambria"/>
                <a:cs typeface="Cambria"/>
              </a:defRPr>
            </a:pPr>
            <a:r>
              <a:rPr sz="3300" b="1">
                <a:solidFill>
                  <a:srgbClr val="0E2A38"/>
                </a:solidFill>
                <a:latin typeface="Cambria"/>
                <a:ea typeface="Cambria"/>
                <a:cs typeface="Cambria"/>
              </a:rPr>
              <a:t>Iteration 1: the starting point</a:t>
            </a:r>
            <a:endParaRPr sz="3400"/>
          </a:p>
        </p:txBody>
      </p:sp>
      <p:sp>
        <p:nvSpPr>
          <p:cNvPr id="4" name="Shape 2">
            <a:extLst xmlns:a="http://schemas.openxmlformats.org/drawingml/2006/main">
              <a:ext uri="{FF2B5EF4-FFF2-40B4-BE49-F238E27FC236}">
                <a16:creationId xmlns:a16="http://schemas.microsoft.com/office/drawing/2014/main" id="{C112FC1C-CF4B-42F9-B1B0-9598A1D4C899}"/>
              </a:ext>
            </a:extLst>
          </p:cNvPr>
          <p:cNvSpPr>
            <a:spLocks xmlns:a="http://schemas.openxmlformats.org/drawingml/2006/main" noGrp="1"/>
          </p:cNvSpPr>
          <p:nvPr/>
        </p:nvSpPr>
        <p:spPr>
          <a:xfrm xmlns:a="http://schemas.openxmlformats.org/drawingml/2006/main">
            <a:off x="640080" y="1645920"/>
            <a:ext cx="2523744" cy="1691640"/>
          </a:xfrm>
          <a:prstGeom xmlns:a="http://schemas.openxmlformats.org/drawingml/2006/main" prst="roundRect">
            <a:avLst>
              <a:gd name="adj" fmla="val 4865"/>
            </a:avLst>
          </a:prstGeom>
          <a:solidFill xmlns:a="http://schemas.openxmlformats.org/drawingml/2006/main">
            <a:srgbClr val="F3F6F8"/>
          </a:solidFill>
          <a:ln xmlns:a="http://schemas.openxmlformats.org/drawingml/2006/main" w="12700">
            <a:solidFill>
              <a:srgbClr val="DDE5EA"/>
            </a:solidFill>
            <a:prstDash val="solid"/>
          </a:ln>
          <a:effectLst xmlns:a="http://schemas.openxmlformats.org/drawingml/2006/main">
            <a:outerShdw blurRad="127000" dist="25400" dir="5400000" algn="bl" rotWithShape="0">
              <a:srgbClr val="0E2A38">
                <a:alpha val="12000"/>
              </a:srgbClr>
            </a:outerShdw>
          </a:effectLst>
        </p:spPr>
        <p:txBody>
          <a:bodyPr xmlns:a="http://schemas.openxmlformats.org/drawingml/2006/main"/>
          <a:lstStyle xmlns:a="http://schemas.openxmlformats.org/drawingml/2006/main"/>
          <a:p xmlns:a="http://schemas.openxmlformats.org/drawingml/2006/main">
            <a:endParaRPr/>
          </a:p>
        </p:txBody>
      </p:sp>
      <p:sp>
        <p:nvSpPr>
          <p:cNvPr id="5" name="Text 3">
            <a:extLst xmlns:a="http://schemas.openxmlformats.org/drawingml/2006/main">
              <a:ext uri="{FF2B5EF4-FFF2-40B4-BE49-F238E27FC236}">
                <a16:creationId xmlns:a16="http://schemas.microsoft.com/office/drawing/2014/main" id="{363348FC-E818-4D29-8CD4-CE5C7F883C54}"/>
              </a:ext>
            </a:extLst>
          </p:cNvPr>
          <p:cNvSpPr>
            <a:spLocks xmlns:a="http://schemas.openxmlformats.org/drawingml/2006/main" noGrp="1"/>
          </p:cNvSpPr>
          <p:nvPr/>
        </p:nvSpPr>
        <p:spPr>
          <a:xfrm xmlns:a="http://schemas.openxmlformats.org/drawingml/2006/main">
            <a:off x="640080" y="1810512"/>
            <a:ext cx="2523744" cy="8686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5200" b="1">
                <a:solidFill>
                  <a:srgbClr val="0E2A38"/>
                </a:solidFill>
                <a:latin typeface="Cambria"/>
                <a:ea typeface="Cambria"/>
                <a:cs typeface="Cambria"/>
              </a:rPr>
              <a:t>8</a:t>
            </a:r>
            <a:endParaRPr sz="5200"/>
          </a:p>
        </p:txBody>
      </p:sp>
      <p:sp>
        <p:nvSpPr>
          <p:cNvPr id="6" name="Text 4">
            <a:extLst xmlns:a="http://schemas.openxmlformats.org/drawingml/2006/main">
              <a:ext uri="{FF2B5EF4-FFF2-40B4-BE49-F238E27FC236}">
                <a16:creationId xmlns:a16="http://schemas.microsoft.com/office/drawing/2014/main" id="{FF179394-4E95-47E4-9C86-DB6DD70340A1}"/>
              </a:ext>
            </a:extLst>
          </p:cNvPr>
          <p:cNvSpPr>
            <a:spLocks xmlns:a="http://schemas.openxmlformats.org/drawingml/2006/main" noGrp="1"/>
          </p:cNvSpPr>
          <p:nvPr/>
        </p:nvSpPr>
        <p:spPr>
          <a:xfrm xmlns:a="http://schemas.openxmlformats.org/drawingml/2006/main">
            <a:off x="640080" y="2697480"/>
            <a:ext cx="2523744"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00">
                <a:solidFill>
                  <a:srgbClr val="5A7383"/>
                </a:solidFill>
                <a:latin typeface="Calibri"/>
                <a:ea typeface="Calibri"/>
                <a:cs typeface="Calibri"/>
              </a:rPr>
              <a:t>Test cases executed</a:t>
            </a:r>
            <a:endParaRPr sz="1200"/>
          </a:p>
        </p:txBody>
      </p:sp>
      <p:sp>
        <p:nvSpPr>
          <p:cNvPr id="7" name="Shape 5">
            <a:extLst xmlns:a="http://schemas.openxmlformats.org/drawingml/2006/main">
              <a:ext uri="{FF2B5EF4-FFF2-40B4-BE49-F238E27FC236}">
                <a16:creationId xmlns:a16="http://schemas.microsoft.com/office/drawing/2014/main" id="{B7608CF4-56AA-444F-9BF3-144E2DBC32A9}"/>
              </a:ext>
            </a:extLst>
          </p:cNvPr>
          <p:cNvSpPr>
            <a:spLocks xmlns:a="http://schemas.openxmlformats.org/drawingml/2006/main" noGrp="1"/>
          </p:cNvSpPr>
          <p:nvPr/>
        </p:nvSpPr>
        <p:spPr>
          <a:xfrm xmlns:a="http://schemas.openxmlformats.org/drawingml/2006/main">
            <a:off x="3438144" y="1645920"/>
            <a:ext cx="2523744" cy="1691640"/>
          </a:xfrm>
          <a:prstGeom xmlns:a="http://schemas.openxmlformats.org/drawingml/2006/main" prst="roundRect">
            <a:avLst>
              <a:gd name="adj" fmla="val 4865"/>
            </a:avLst>
          </a:prstGeom>
          <a:solidFill xmlns:a="http://schemas.openxmlformats.org/drawingml/2006/main">
            <a:srgbClr val="F3F6F8"/>
          </a:solidFill>
          <a:ln xmlns:a="http://schemas.openxmlformats.org/drawingml/2006/main" w="12700">
            <a:solidFill>
              <a:srgbClr val="DDE5EA"/>
            </a:solidFill>
            <a:prstDash val="solid"/>
          </a:ln>
          <a:effectLst xmlns:a="http://schemas.openxmlformats.org/drawingml/2006/main">
            <a:outerShdw blurRad="127000" dist="25400" dir="5400000" algn="bl" rotWithShape="0">
              <a:srgbClr val="0E2A38">
                <a:alpha val="12000"/>
              </a:srgbClr>
            </a:outerShdw>
          </a:effectLst>
        </p:spPr>
        <p:txBody>
          <a:bodyPr xmlns:a="http://schemas.openxmlformats.org/drawingml/2006/main"/>
          <a:lstStyle xmlns:a="http://schemas.openxmlformats.org/drawingml/2006/main"/>
          <a:p xmlns:a="http://schemas.openxmlformats.org/drawingml/2006/main">
            <a:endParaRPr/>
          </a:p>
        </p:txBody>
      </p:sp>
      <p:sp>
        <p:nvSpPr>
          <p:cNvPr id="8" name="Text 6">
            <a:extLst xmlns:a="http://schemas.openxmlformats.org/drawingml/2006/main">
              <a:ext uri="{FF2B5EF4-FFF2-40B4-BE49-F238E27FC236}">
                <a16:creationId xmlns:a16="http://schemas.microsoft.com/office/drawing/2014/main" id="{30B7735E-78C0-4540-8E7D-768428F45A18}"/>
              </a:ext>
            </a:extLst>
          </p:cNvPr>
          <p:cNvSpPr>
            <a:spLocks xmlns:a="http://schemas.openxmlformats.org/drawingml/2006/main" noGrp="1"/>
          </p:cNvSpPr>
          <p:nvPr/>
        </p:nvSpPr>
        <p:spPr>
          <a:xfrm xmlns:a="http://schemas.openxmlformats.org/drawingml/2006/main">
            <a:off x="3438144" y="1810512"/>
            <a:ext cx="2523744" cy="8686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5200" b="1">
                <a:solidFill>
                  <a:srgbClr val="2E7D5B"/>
                </a:solidFill>
                <a:latin typeface="Cambria"/>
                <a:ea typeface="Cambria"/>
                <a:cs typeface="Cambria"/>
              </a:rPr>
              <a:t>7</a:t>
            </a:r>
            <a:endParaRPr sz="5200"/>
          </a:p>
        </p:txBody>
      </p:sp>
      <p:sp>
        <p:nvSpPr>
          <p:cNvPr id="9" name="Text 7">
            <a:extLst xmlns:a="http://schemas.openxmlformats.org/drawingml/2006/main">
              <a:ext uri="{FF2B5EF4-FFF2-40B4-BE49-F238E27FC236}">
                <a16:creationId xmlns:a16="http://schemas.microsoft.com/office/drawing/2014/main" id="{BC6A682D-042D-4219-8507-A288AD6DFE05}"/>
              </a:ext>
            </a:extLst>
          </p:cNvPr>
          <p:cNvSpPr>
            <a:spLocks xmlns:a="http://schemas.openxmlformats.org/drawingml/2006/main" noGrp="1"/>
          </p:cNvSpPr>
          <p:nvPr/>
        </p:nvSpPr>
        <p:spPr>
          <a:xfrm xmlns:a="http://schemas.openxmlformats.org/drawingml/2006/main">
            <a:off x="3438144" y="2697480"/>
            <a:ext cx="2523744"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00">
                <a:solidFill>
                  <a:srgbClr val="5A7383"/>
                </a:solidFill>
                <a:latin typeface="Calibri"/>
                <a:ea typeface="Calibri"/>
                <a:cs typeface="Calibri"/>
              </a:rPr>
              <a:t>Passed</a:t>
            </a:r>
            <a:endParaRPr sz="1200"/>
          </a:p>
        </p:txBody>
      </p:sp>
      <p:sp>
        <p:nvSpPr>
          <p:cNvPr id="10" name="Shape 8">
            <a:extLst xmlns:a="http://schemas.openxmlformats.org/drawingml/2006/main">
              <a:ext uri="{FF2B5EF4-FFF2-40B4-BE49-F238E27FC236}">
                <a16:creationId xmlns:a16="http://schemas.microsoft.com/office/drawing/2014/main" id="{2EB31892-2B75-45BF-9E29-6555467225F7}"/>
              </a:ext>
            </a:extLst>
          </p:cNvPr>
          <p:cNvSpPr>
            <a:spLocks xmlns:a="http://schemas.openxmlformats.org/drawingml/2006/main" noGrp="1"/>
          </p:cNvSpPr>
          <p:nvPr/>
        </p:nvSpPr>
        <p:spPr>
          <a:xfrm xmlns:a="http://schemas.openxmlformats.org/drawingml/2006/main">
            <a:off x="6236208" y="1645920"/>
            <a:ext cx="2523744" cy="1691640"/>
          </a:xfrm>
          <a:prstGeom xmlns:a="http://schemas.openxmlformats.org/drawingml/2006/main" prst="roundRect">
            <a:avLst>
              <a:gd name="adj" fmla="val 4865"/>
            </a:avLst>
          </a:prstGeom>
          <a:solidFill xmlns:a="http://schemas.openxmlformats.org/drawingml/2006/main">
            <a:srgbClr val="F3F6F8"/>
          </a:solidFill>
          <a:ln xmlns:a="http://schemas.openxmlformats.org/drawingml/2006/main" w="12700">
            <a:solidFill>
              <a:srgbClr val="DDE5EA"/>
            </a:solidFill>
            <a:prstDash val="solid"/>
          </a:ln>
          <a:effectLst xmlns:a="http://schemas.openxmlformats.org/drawingml/2006/main">
            <a:outerShdw blurRad="127000" dist="25400" dir="5400000" algn="bl" rotWithShape="0">
              <a:srgbClr val="0E2A38">
                <a:alpha val="12000"/>
              </a:srgbClr>
            </a:outerShdw>
          </a:effectLst>
        </p:spPr>
        <p:txBody>
          <a:bodyPr xmlns:a="http://schemas.openxmlformats.org/drawingml/2006/main"/>
          <a:lstStyle xmlns:a="http://schemas.openxmlformats.org/drawingml/2006/main"/>
          <a:p xmlns:a="http://schemas.openxmlformats.org/drawingml/2006/main">
            <a:endParaRPr/>
          </a:p>
        </p:txBody>
      </p:sp>
      <p:sp>
        <p:nvSpPr>
          <p:cNvPr id="11" name="Text 9">
            <a:extLst xmlns:a="http://schemas.openxmlformats.org/drawingml/2006/main">
              <a:ext uri="{FF2B5EF4-FFF2-40B4-BE49-F238E27FC236}">
                <a16:creationId xmlns:a16="http://schemas.microsoft.com/office/drawing/2014/main" id="{6D9BB555-6745-4854-9F91-6CD71582DD38}"/>
              </a:ext>
            </a:extLst>
          </p:cNvPr>
          <p:cNvSpPr>
            <a:spLocks xmlns:a="http://schemas.openxmlformats.org/drawingml/2006/main" noGrp="1"/>
          </p:cNvSpPr>
          <p:nvPr/>
        </p:nvSpPr>
        <p:spPr>
          <a:xfrm xmlns:a="http://schemas.openxmlformats.org/drawingml/2006/main">
            <a:off x="6236208" y="1810512"/>
            <a:ext cx="2523744" cy="8686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5200" b="1">
                <a:solidFill>
                  <a:srgbClr val="B4432F"/>
                </a:solidFill>
                <a:latin typeface="Cambria"/>
                <a:ea typeface="Cambria"/>
                <a:cs typeface="Cambria"/>
              </a:rPr>
              <a:t>1</a:t>
            </a:r>
            <a:endParaRPr sz="5200"/>
          </a:p>
        </p:txBody>
      </p:sp>
      <p:sp>
        <p:nvSpPr>
          <p:cNvPr id="12" name="Text 10">
            <a:extLst xmlns:a="http://schemas.openxmlformats.org/drawingml/2006/main">
              <a:ext uri="{FF2B5EF4-FFF2-40B4-BE49-F238E27FC236}">
                <a16:creationId xmlns:a16="http://schemas.microsoft.com/office/drawing/2014/main" id="{39FDB320-BA38-47B3-8921-1784228DA336}"/>
              </a:ext>
            </a:extLst>
          </p:cNvPr>
          <p:cNvSpPr>
            <a:spLocks xmlns:a="http://schemas.openxmlformats.org/drawingml/2006/main" noGrp="1"/>
          </p:cNvSpPr>
          <p:nvPr/>
        </p:nvSpPr>
        <p:spPr>
          <a:xfrm xmlns:a="http://schemas.openxmlformats.org/drawingml/2006/main">
            <a:off x="6236208" y="2697480"/>
            <a:ext cx="2523744"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00">
                <a:solidFill>
                  <a:srgbClr val="5A7383"/>
                </a:solidFill>
                <a:latin typeface="Calibri"/>
                <a:ea typeface="Calibri"/>
                <a:cs typeface="Calibri"/>
              </a:rPr>
              <a:t>Failed</a:t>
            </a:r>
            <a:endParaRPr sz="1200"/>
          </a:p>
        </p:txBody>
      </p:sp>
      <p:sp>
        <p:nvSpPr>
          <p:cNvPr id="13" name="Shape 11">
            <a:extLst xmlns:a="http://schemas.openxmlformats.org/drawingml/2006/main">
              <a:ext uri="{FF2B5EF4-FFF2-40B4-BE49-F238E27FC236}">
                <a16:creationId xmlns:a16="http://schemas.microsoft.com/office/drawing/2014/main" id="{A2E9F460-68A6-4AFF-BA1A-88B28006EEFB}"/>
              </a:ext>
            </a:extLst>
          </p:cNvPr>
          <p:cNvSpPr>
            <a:spLocks xmlns:a="http://schemas.openxmlformats.org/drawingml/2006/main" noGrp="1"/>
          </p:cNvSpPr>
          <p:nvPr/>
        </p:nvSpPr>
        <p:spPr>
          <a:xfrm xmlns:a="http://schemas.openxmlformats.org/drawingml/2006/main">
            <a:off x="9034272" y="1645920"/>
            <a:ext cx="2523744" cy="1691640"/>
          </a:xfrm>
          <a:prstGeom xmlns:a="http://schemas.openxmlformats.org/drawingml/2006/main" prst="roundRect">
            <a:avLst>
              <a:gd name="adj" fmla="val 4865"/>
            </a:avLst>
          </a:prstGeom>
          <a:solidFill xmlns:a="http://schemas.openxmlformats.org/drawingml/2006/main">
            <a:srgbClr val="F3F6F8"/>
          </a:solidFill>
          <a:ln xmlns:a="http://schemas.openxmlformats.org/drawingml/2006/main" w="12700">
            <a:solidFill>
              <a:srgbClr val="DDE5EA"/>
            </a:solidFill>
            <a:prstDash val="solid"/>
          </a:ln>
          <a:effectLst xmlns:a="http://schemas.openxmlformats.org/drawingml/2006/main">
            <a:outerShdw blurRad="127000" dist="25400" dir="5400000" algn="bl" rotWithShape="0">
              <a:srgbClr val="0E2A38">
                <a:alpha val="12000"/>
              </a:srgbClr>
            </a:outerShdw>
          </a:effectLst>
        </p:spPr>
        <p:txBody>
          <a:bodyPr xmlns:a="http://schemas.openxmlformats.org/drawingml/2006/main"/>
          <a:lstStyle xmlns:a="http://schemas.openxmlformats.org/drawingml/2006/main"/>
          <a:p xmlns:a="http://schemas.openxmlformats.org/drawingml/2006/main">
            <a:endParaRPr/>
          </a:p>
        </p:txBody>
      </p:sp>
      <p:sp>
        <p:nvSpPr>
          <p:cNvPr id="14" name="Text 12">
            <a:extLst xmlns:a="http://schemas.openxmlformats.org/drawingml/2006/main">
              <a:ext uri="{FF2B5EF4-FFF2-40B4-BE49-F238E27FC236}">
                <a16:creationId xmlns:a16="http://schemas.microsoft.com/office/drawing/2014/main" id="{73372DE6-FD54-4537-9094-39DEF4664C3E}"/>
              </a:ext>
            </a:extLst>
          </p:cNvPr>
          <p:cNvSpPr>
            <a:spLocks xmlns:a="http://schemas.openxmlformats.org/drawingml/2006/main" noGrp="1"/>
          </p:cNvSpPr>
          <p:nvPr/>
        </p:nvSpPr>
        <p:spPr>
          <a:xfrm xmlns:a="http://schemas.openxmlformats.org/drawingml/2006/main">
            <a:off x="9034272" y="1810512"/>
            <a:ext cx="2523744" cy="8686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5200" b="1">
                <a:solidFill>
                  <a:srgbClr val="C08321"/>
                </a:solidFill>
                <a:latin typeface="Cambria"/>
                <a:ea typeface="Cambria"/>
                <a:cs typeface="Cambria"/>
              </a:rPr>
              <a:t>87.5%</a:t>
            </a:r>
            <a:endParaRPr sz="5200"/>
          </a:p>
        </p:txBody>
      </p:sp>
      <p:sp>
        <p:nvSpPr>
          <p:cNvPr id="15" name="Text 13">
            <a:extLst xmlns:a="http://schemas.openxmlformats.org/drawingml/2006/main">
              <a:ext uri="{FF2B5EF4-FFF2-40B4-BE49-F238E27FC236}">
                <a16:creationId xmlns:a16="http://schemas.microsoft.com/office/drawing/2014/main" id="{45E1E83E-055F-4E74-9E16-ADA348A6E96F}"/>
              </a:ext>
            </a:extLst>
          </p:cNvPr>
          <p:cNvSpPr>
            <a:spLocks xmlns:a="http://schemas.openxmlformats.org/drawingml/2006/main" noGrp="1"/>
          </p:cNvSpPr>
          <p:nvPr/>
        </p:nvSpPr>
        <p:spPr>
          <a:xfrm xmlns:a="http://schemas.openxmlformats.org/drawingml/2006/main">
            <a:off x="9034272" y="2697480"/>
            <a:ext cx="2523744"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00">
                <a:solidFill>
                  <a:srgbClr val="5A7383"/>
                </a:solidFill>
                <a:latin typeface="Calibri"/>
                <a:ea typeface="Calibri"/>
                <a:cs typeface="Calibri"/>
              </a:rPr>
              <a:t>Pass rate</a:t>
            </a:r>
            <a:endParaRPr sz="1200"/>
          </a:p>
        </p:txBody>
      </p:sp>
      <p:sp>
        <p:nvSpPr>
          <p:cNvPr id="16" name="Shape 14">
            <a:extLst xmlns:a="http://schemas.openxmlformats.org/drawingml/2006/main">
              <a:ext uri="{FF2B5EF4-FFF2-40B4-BE49-F238E27FC236}">
                <a16:creationId xmlns:a16="http://schemas.microsoft.com/office/drawing/2014/main" id="{70D3620C-D55E-4B24-8CF3-709D5CACBCE5}"/>
              </a:ext>
            </a:extLst>
          </p:cNvPr>
          <p:cNvSpPr>
            <a:spLocks xmlns:a="http://schemas.openxmlformats.org/drawingml/2006/main" noGrp="1"/>
          </p:cNvSpPr>
          <p:nvPr/>
        </p:nvSpPr>
        <p:spPr>
          <a:xfrm xmlns:a="http://schemas.openxmlformats.org/drawingml/2006/main">
            <a:off x="640080" y="3657600"/>
            <a:ext cx="5394960" cy="2331720"/>
          </a:xfrm>
          <a:prstGeom xmlns:a="http://schemas.openxmlformats.org/drawingml/2006/main" prst="roundRect">
            <a:avLst>
              <a:gd name="adj" fmla="val 3529"/>
            </a:avLst>
          </a:prstGeom>
          <a:solidFill xmlns:a="http://schemas.openxmlformats.org/drawingml/2006/main">
            <a:srgbClr val="FFFFFF"/>
          </a:solidFill>
          <a:ln xmlns:a="http://schemas.openxmlformats.org/drawingml/2006/main" w="12700">
            <a:solidFill>
              <a:srgbClr val="DDE5EA"/>
            </a:solidFill>
            <a:prstDash val="solid"/>
          </a:ln>
          <a:effectLst xmlns:a="http://schemas.openxmlformats.org/drawingml/2006/main">
            <a:outerShdw blurRad="127000" dist="25400" dir="5400000" algn="bl" rotWithShape="0">
              <a:srgbClr val="0E2A38">
                <a:alpha val="12000"/>
              </a:srgbClr>
            </a:outerShdw>
          </a:effectLst>
        </p:spPr>
        <p:txBody>
          <a:bodyPr xmlns:a="http://schemas.openxmlformats.org/drawingml/2006/main"/>
          <a:lstStyle xmlns:a="http://schemas.openxmlformats.org/drawingml/2006/main"/>
          <a:p xmlns:a="http://schemas.openxmlformats.org/drawingml/2006/main">
            <a:endParaRPr/>
          </a:p>
        </p:txBody>
      </p:sp>
      <p:sp>
        <p:nvSpPr>
          <p:cNvPr id="17" name="Text 15">
            <a:extLst xmlns:a="http://schemas.openxmlformats.org/drawingml/2006/main">
              <a:ext uri="{FF2B5EF4-FFF2-40B4-BE49-F238E27FC236}">
                <a16:creationId xmlns:a16="http://schemas.microsoft.com/office/drawing/2014/main" id="{678707FA-5963-4903-A223-56648C5F3A0A}"/>
              </a:ext>
            </a:extLst>
          </p:cNvPr>
          <p:cNvSpPr>
            <a:spLocks xmlns:a="http://schemas.openxmlformats.org/drawingml/2006/main" noGrp="1"/>
          </p:cNvSpPr>
          <p:nvPr/>
        </p:nvSpPr>
        <p:spPr>
          <a:xfrm xmlns:a="http://schemas.openxmlformats.org/drawingml/2006/main">
            <a:off x="868680" y="3840480"/>
            <a:ext cx="493776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p xmlns:a="http://schemas.openxmlformats.org/drawingml/2006/main">
            <a:pPr marL="0" indent="0">
              <a:buNone/>
              <a:defRPr sz="1575" b="1">
                <a:solidFill>
                  <a:srgbClr val="0E2A38"/>
                </a:solidFill>
                <a:latin typeface="Calibri"/>
                <a:ea typeface="Calibri"/>
                <a:cs typeface="Calibri"/>
              </a:defRPr>
            </a:pPr>
            <a:r>
              <a:rPr sz="1575" b="1">
                <a:solidFill>
                  <a:srgbClr val="0E2A38"/>
                </a:solidFill>
                <a:latin typeface="Calibri"/>
                <a:ea typeface="Calibri"/>
                <a:cs typeface="Calibri"/>
              </a:rPr>
              <a:t>What the earlier passes established</a:t>
            </a:r>
            <a:endParaRPr sz="1500"/>
          </a:p>
        </p:txBody>
      </p:sp>
      <p:sp>
        <p:nvSpPr>
          <p:cNvPr id="18" name="Text 16">
            <a:extLst xmlns:a="http://schemas.openxmlformats.org/drawingml/2006/main">
              <a:ext uri="{FF2B5EF4-FFF2-40B4-BE49-F238E27FC236}">
                <a16:creationId xmlns:a16="http://schemas.microsoft.com/office/drawing/2014/main" id="{7B045378-7EEF-4059-9494-F153992ED875}"/>
              </a:ext>
            </a:extLst>
          </p:cNvPr>
          <p:cNvSpPr>
            <a:spLocks xmlns:a="http://schemas.openxmlformats.org/drawingml/2006/main" noGrp="1"/>
          </p:cNvSpPr>
          <p:nvPr/>
        </p:nvSpPr>
        <p:spPr>
          <a:xfrm xmlns:a="http://schemas.openxmlformats.org/drawingml/2006/main">
            <a:off x="868680" y="4224528"/>
            <a:ext cx="4937760" cy="1600200"/>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p xmlns:a="http://schemas.openxmlformats.org/drawingml/2006/main">
            <a:pPr marL="342900" indent="-342900">
              <a:spcAft>
                <a:spcPts val="700"/>
              </a:spcAft>
              <a:buSzPct val="100000"/>
              <a:buChar char="•"/>
              <a:defRPr sz="1425" b="0">
                <a:solidFill>
                  <a:srgbClr val="0E2A38"/>
                </a:solidFill>
                <a:latin typeface="Calibri"/>
                <a:ea typeface="Calibri"/>
                <a:cs typeface="Calibri"/>
              </a:defRPr>
            </a:pPr>
            <a:r>
              <a:rPr sz="1425" b="0">
                <a:solidFill>
                  <a:srgbClr val="0E2A38"/>
                </a:solidFill>
                <a:latin typeface="Calibri"/>
                <a:ea typeface="Calibri"/>
                <a:cs typeface="Calibri"/>
              </a:rPr>
              <a:t>Browsing, simulated signup and booking navigation</a:t>
            </a:r>
            <a:endParaRPr sz="1250"/>
          </a:p>
          <a:p xmlns:a="http://schemas.openxmlformats.org/drawingml/2006/main">
            <a:pPr marL="342900" indent="-342900">
              <a:spcAft>
                <a:spcPts val="700"/>
              </a:spcAft>
              <a:buSzPct val="100000"/>
              <a:buChar char="•"/>
              <a:defRPr sz="1425" b="0">
                <a:solidFill>
                  <a:srgbClr val="0E2A38"/>
                </a:solidFill>
                <a:latin typeface="Calibri"/>
                <a:ea typeface="Calibri"/>
                <a:cs typeface="Calibri"/>
              </a:defRPr>
            </a:pPr>
            <a:r>
              <a:rPr sz="1425" b="0">
                <a:solidFill>
                  <a:srgbClr val="0E2A38"/>
                </a:solidFill>
                <a:latin typeface="Calibri"/>
                <a:ea typeface="Calibri"/>
                <a:cs typeface="Calibri"/>
              </a:rPr>
              <a:t>Correct total calculation inside the booking form</a:t>
            </a:r>
            <a:endParaRPr sz="1250"/>
          </a:p>
          <a:p xmlns:a="http://schemas.openxmlformats.org/drawingml/2006/main">
            <a:pPr marL="342900" indent="-342900">
              <a:spcAft>
                <a:spcPts val="700"/>
              </a:spcAft>
              <a:buSzPct val="100000"/>
              <a:buChar char="•"/>
              <a:defRPr sz="1425" b="0">
                <a:solidFill>
                  <a:srgbClr val="0E2A38"/>
                </a:solidFill>
                <a:latin typeface="Calibri"/>
                <a:ea typeface="Calibri"/>
                <a:cs typeface="Calibri"/>
              </a:defRPr>
            </a:pPr>
            <a:r>
              <a:rPr sz="1425" b="0">
                <a:solidFill>
                  <a:srgbClr val="0E2A38"/>
                </a:solidFill>
                <a:latin typeface="Calibri"/>
                <a:ea typeface="Calibri"/>
                <a:cs typeface="Calibri"/>
              </a:rPr>
              <a:t>Payment navigation and invoice details appearing</a:t>
            </a:r>
            <a:endParaRPr sz="1250"/>
          </a:p>
        </p:txBody>
      </p:sp>
      <p:sp>
        <p:nvSpPr>
          <p:cNvPr id="19" name="Shape 17">
            <a:extLst xmlns:a="http://schemas.openxmlformats.org/drawingml/2006/main">
              <a:ext uri="{FF2B5EF4-FFF2-40B4-BE49-F238E27FC236}">
                <a16:creationId xmlns:a16="http://schemas.microsoft.com/office/drawing/2014/main" id="{C948A71F-4F6D-4878-9AAB-649959CD9524}"/>
              </a:ext>
            </a:extLst>
          </p:cNvPr>
          <p:cNvSpPr>
            <a:spLocks xmlns:a="http://schemas.openxmlformats.org/drawingml/2006/main" noGrp="1"/>
          </p:cNvSpPr>
          <p:nvPr/>
        </p:nvSpPr>
        <p:spPr>
          <a:xfrm xmlns:a="http://schemas.openxmlformats.org/drawingml/2006/main">
            <a:off x="6309360" y="3657600"/>
            <a:ext cx="5212080" cy="2331720"/>
          </a:xfrm>
          <a:prstGeom xmlns:a="http://schemas.openxmlformats.org/drawingml/2006/main" prst="roundRect">
            <a:avLst>
              <a:gd name="adj" fmla="val 3529"/>
            </a:avLst>
          </a:prstGeom>
          <a:solidFill xmlns:a="http://schemas.openxmlformats.org/drawingml/2006/main">
            <a:srgbClr val="FFFFFF"/>
          </a:solidFill>
          <a:ln xmlns:a="http://schemas.openxmlformats.org/drawingml/2006/main" w="12700">
            <a:solidFill>
              <a:srgbClr val="DDE5EA"/>
            </a:solidFill>
            <a:prstDash val="solid"/>
          </a:ln>
          <a:effectLst xmlns:a="http://schemas.openxmlformats.org/drawingml/2006/main">
            <a:outerShdw blurRad="127000" dist="25400" dir="5400000" algn="bl" rotWithShape="0">
              <a:srgbClr val="0E2A38">
                <a:alpha val="12000"/>
              </a:srgbClr>
            </a:outerShdw>
          </a:effectLst>
        </p:spPr>
        <p:txBody>
          <a:bodyPr xmlns:a="http://schemas.openxmlformats.org/drawingml/2006/main"/>
          <a:lstStyle xmlns:a="http://schemas.openxmlformats.org/drawingml/2006/main"/>
          <a:p xmlns:a="http://schemas.openxmlformats.org/drawingml/2006/main">
            <a:endParaRPr/>
          </a:p>
        </p:txBody>
      </p:sp>
      <p:sp>
        <p:nvSpPr>
          <p:cNvPr id="20" name="Text 18">
            <a:extLst xmlns:a="http://schemas.openxmlformats.org/drawingml/2006/main">
              <a:ext uri="{FF2B5EF4-FFF2-40B4-BE49-F238E27FC236}">
                <a16:creationId xmlns:a16="http://schemas.microsoft.com/office/drawing/2014/main" id="{D34E68A9-B77B-455D-A21E-0213123A1A79}"/>
              </a:ext>
            </a:extLst>
          </p:cNvPr>
          <p:cNvSpPr>
            <a:spLocks xmlns:a="http://schemas.openxmlformats.org/drawingml/2006/main" noGrp="1"/>
          </p:cNvSpPr>
          <p:nvPr/>
        </p:nvSpPr>
        <p:spPr>
          <a:xfrm xmlns:a="http://schemas.openxmlformats.org/drawingml/2006/main">
            <a:off x="6537960" y="3840480"/>
            <a:ext cx="475488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a:solidFill>
                  <a:srgbClr val="B4432F"/>
                </a:solidFill>
                <a:latin typeface="Calibri"/>
                <a:ea typeface="Calibri"/>
                <a:cs typeface="Calibri"/>
              </a:rPr>
              <a:t>What failed — BUG-001</a:t>
            </a:r>
            <a:endParaRPr sz="1500"/>
          </a:p>
        </p:txBody>
      </p:sp>
      <p:sp>
        <p:nvSpPr>
          <p:cNvPr id="21" name="Text 19">
            <a:extLst xmlns:a="http://schemas.openxmlformats.org/drawingml/2006/main">
              <a:ext uri="{FF2B5EF4-FFF2-40B4-BE49-F238E27FC236}">
                <a16:creationId xmlns:a16="http://schemas.microsoft.com/office/drawing/2014/main" id="{448E6F47-1699-4B73-BFC2-63682FF037F6}"/>
              </a:ext>
            </a:extLst>
          </p:cNvPr>
          <p:cNvSpPr>
            <a:spLocks xmlns:a="http://schemas.openxmlformats.org/drawingml/2006/main" noGrp="1"/>
          </p:cNvSpPr>
          <p:nvPr/>
        </p:nvSpPr>
        <p:spPr>
          <a:xfrm xmlns:a="http://schemas.openxmlformats.org/drawingml/2006/main">
            <a:off x="6537960" y="4224528"/>
            <a:ext cx="4754880" cy="1600200"/>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p xmlns:a="http://schemas.openxmlformats.org/drawingml/2006/main">
            <a:pPr marL="342900" indent="-342900">
              <a:spcAft>
                <a:spcPts val="700"/>
              </a:spcAft>
              <a:buSzPct val="100000"/>
              <a:buChar char="•"/>
              <a:defRPr sz="1425" b="0">
                <a:solidFill>
                  <a:srgbClr val="0E2A38"/>
                </a:solidFill>
                <a:latin typeface="Calibri"/>
                <a:ea typeface="Calibri"/>
                <a:cs typeface="Calibri"/>
              </a:defRPr>
            </a:pPr>
            <a:r>
              <a:rPr sz="1425" b="0">
                <a:solidFill>
                  <a:srgbClr val="0E2A38"/>
                </a:solidFill>
                <a:latin typeface="Calibri"/>
                <a:ea typeface="Calibri"/>
                <a:cs typeface="Calibri"/>
              </a:rPr>
              <a:t>Invoice PDF did not download</a:t>
            </a:r>
            <a:endParaRPr sz="1250"/>
          </a:p>
          <a:p xmlns:a="http://schemas.openxmlformats.org/drawingml/2006/main">
            <a:pPr marL="342900" indent="-342900">
              <a:spcAft>
                <a:spcPts val="700"/>
              </a:spcAft>
              <a:buSzPct val="100000"/>
              <a:buChar char="•"/>
              <a:defRPr sz="1425" b="0">
                <a:solidFill>
                  <a:srgbClr val="0E2A38"/>
                </a:solidFill>
                <a:latin typeface="Calibri"/>
                <a:ea typeface="Calibri"/>
                <a:cs typeface="Calibri"/>
              </a:defRPr>
            </a:pPr>
            <a:r>
              <a:rPr sz="1425" b="0">
                <a:solidFill>
                  <a:srgbClr val="0E2A38"/>
                </a:solidFill>
                <a:latin typeface="Calibri"/>
                <a:ea typeface="Calibri"/>
                <a:cs typeface="Calibri"/>
              </a:rPr>
              <a:t>Console reported an unsupported colour function</a:t>
            </a:r>
            <a:endParaRPr sz="1250"/>
          </a:p>
          <a:p xmlns:a="http://schemas.openxmlformats.org/drawingml/2006/main">
            <a:pPr marL="342900" indent="-342900">
              <a:spcAft>
                <a:spcPts val="700"/>
              </a:spcAft>
              <a:buSzPct val="100000"/>
              <a:buChar char="•"/>
              <a:defRPr sz="1425" b="0">
                <a:solidFill>
                  <a:srgbClr val="0E2A38"/>
                </a:solidFill>
                <a:latin typeface="Calibri"/>
                <a:ea typeface="Calibri"/>
                <a:cs typeface="Calibri"/>
              </a:defRPr>
            </a:pPr>
            <a:r>
              <a:rPr sz="1425" b="0">
                <a:solidFill>
                  <a:srgbClr val="0E2A38"/>
                </a:solidFill>
                <a:latin typeface="Calibri"/>
                <a:ea typeface="Calibri"/>
                <a:cs typeface="Calibri"/>
              </a:rPr>
              <a:t>BUG-001 remained open</a:t>
            </a:r>
            <a:endParaRPr sz="1250"/>
          </a:p>
        </p:txBody>
      </p:sp>
    </p:spTree>
    <p:extLst>
      <p:ext uri="{BB962C8B-B14F-4D97-AF65-F5344CB8AC3E}">
        <p14:creationId xmlns:p14="http://schemas.microsoft.com/office/powerpoint/2010/main" val="1658930413"/>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C92AB074-1A78-4768-9907-0AAE18481A66}"/>
              </a:ext>
            </a:extLst>
          </p:cNvPr>
          <p:cNvSpPr>
            <a:spLocks xmlns:a="http://schemas.openxmlformats.org/drawingml/2006/main" noGrp="1"/>
          </p:cNvSpPr>
          <p:nvPr/>
        </p:nvSpPr>
        <p:spPr>
          <a:xfrm xmlns:a="http://schemas.openxmlformats.org/drawingml/2006/main">
            <a:off x="640080" y="384048"/>
            <a:ext cx="82296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spc="200">
                <a:solidFill>
                  <a:srgbClr val="CE9136"/>
                </a:solidFill>
                <a:latin typeface="Calibri"/>
                <a:ea typeface="Calibri"/>
                <a:cs typeface="Calibri"/>
              </a:rPr>
              <a:t>SCOPE</a:t>
            </a:r>
            <a:endParaRPr sz="1200"/>
          </a:p>
        </p:txBody>
      </p:sp>
      <p:sp>
        <p:nvSpPr>
          <p:cNvPr id="3" name="Text 1">
            <a:extLst xmlns:a="http://schemas.openxmlformats.org/drawingml/2006/main">
              <a:ext uri="{FF2B5EF4-FFF2-40B4-BE49-F238E27FC236}">
                <a16:creationId xmlns:a16="http://schemas.microsoft.com/office/drawing/2014/main" id="{78F29BEC-D474-40F9-A5F0-42054EE0F622}"/>
              </a:ext>
            </a:extLst>
          </p:cNvPr>
          <p:cNvSpPr>
            <a:spLocks xmlns:a="http://schemas.openxmlformats.org/drawingml/2006/main" noGrp="1"/>
          </p:cNvSpPr>
          <p:nvPr/>
        </p:nvSpPr>
        <p:spPr>
          <a:xfrm xmlns:a="http://schemas.openxmlformats.org/drawingml/2006/main">
            <a:off x="640080" y="658368"/>
            <a:ext cx="1088136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p xmlns:a="http://schemas.openxmlformats.org/drawingml/2006/main">
            <a:pPr marL="0" indent="0">
              <a:buNone/>
              <a:defRPr sz="3300" b="1">
                <a:solidFill>
                  <a:srgbClr val="0E2A38"/>
                </a:solidFill>
                <a:latin typeface="Cambria"/>
                <a:ea typeface="Cambria"/>
                <a:cs typeface="Cambria"/>
              </a:defRPr>
            </a:pPr>
            <a:r>
              <a:rPr sz="3300" b="1">
                <a:solidFill>
                  <a:srgbClr val="0E2A38"/>
                </a:solidFill>
                <a:latin typeface="Cambria"/>
                <a:ea typeface="Cambria"/>
                <a:cs typeface="Cambria"/>
              </a:rPr>
              <a:t>What we tested</a:t>
            </a:r>
            <a:endParaRPr sz="3400"/>
          </a:p>
        </p:txBody>
      </p:sp>
      <p:sp>
        <p:nvSpPr>
          <p:cNvPr id="4" name="Shape 2">
            <a:extLst xmlns:a="http://schemas.openxmlformats.org/drawingml/2006/main">
              <a:ext uri="{FF2B5EF4-FFF2-40B4-BE49-F238E27FC236}">
                <a16:creationId xmlns:a16="http://schemas.microsoft.com/office/drawing/2014/main" id="{A83C4CBB-09D9-4088-BFA0-4D5AE3FADC5C}"/>
              </a:ext>
            </a:extLst>
          </p:cNvPr>
          <p:cNvSpPr>
            <a:spLocks xmlns:a="http://schemas.openxmlformats.org/drawingml/2006/main" noGrp="1"/>
          </p:cNvSpPr>
          <p:nvPr/>
        </p:nvSpPr>
        <p:spPr>
          <a:xfrm xmlns:a="http://schemas.openxmlformats.org/drawingml/2006/main">
            <a:off x="640080" y="1600200"/>
            <a:ext cx="5394960" cy="4114800"/>
          </a:xfrm>
          <a:prstGeom xmlns:a="http://schemas.openxmlformats.org/drawingml/2006/main" prst="roundRect">
            <a:avLst>
              <a:gd name="adj" fmla="val 2000"/>
            </a:avLst>
          </a:prstGeom>
          <a:solidFill xmlns:a="http://schemas.openxmlformats.org/drawingml/2006/main">
            <a:srgbClr val="FFFFFF"/>
          </a:solidFill>
          <a:ln xmlns:a="http://schemas.openxmlformats.org/drawingml/2006/main" w="12700">
            <a:solidFill>
              <a:srgbClr val="DDE5EA"/>
            </a:solidFill>
            <a:prstDash val="solid"/>
          </a:ln>
          <a:effectLst xmlns:a="http://schemas.openxmlformats.org/drawingml/2006/main">
            <a:outerShdw blurRad="127000" dist="25400" dir="5400000" algn="bl" rotWithShape="0">
              <a:srgbClr val="0E2A38">
                <a:alpha val="12000"/>
              </a:srgbClr>
            </a:outerShdw>
          </a:effectLst>
        </p:spPr>
        <p:txBody>
          <a:bodyPr xmlns:a="http://schemas.openxmlformats.org/drawingml/2006/main"/>
          <a:lstStyle xmlns:a="http://schemas.openxmlformats.org/drawingml/2006/main"/>
          <a:p xmlns:a="http://schemas.openxmlformats.org/drawingml/2006/main">
            <a:endParaRPr/>
          </a:p>
        </p:txBody>
      </p:sp>
      <p:sp>
        <p:nvSpPr>
          <p:cNvPr id="5" name="Shape 3">
            <a:extLst xmlns:a="http://schemas.openxmlformats.org/drawingml/2006/main">
              <a:ext uri="{FF2B5EF4-FFF2-40B4-BE49-F238E27FC236}">
                <a16:creationId xmlns:a16="http://schemas.microsoft.com/office/drawing/2014/main" id="{1B301E3E-7121-49AD-93C3-75568B8E71FC}"/>
              </a:ext>
            </a:extLst>
          </p:cNvPr>
          <p:cNvSpPr>
            <a:spLocks xmlns:a="http://schemas.openxmlformats.org/drawingml/2006/main" noGrp="1"/>
          </p:cNvSpPr>
          <p:nvPr/>
        </p:nvSpPr>
        <p:spPr>
          <a:xfrm xmlns:a="http://schemas.openxmlformats.org/drawingml/2006/main">
            <a:off x="896112" y="1810512"/>
            <a:ext cx="310896" cy="310896"/>
          </a:xfrm>
          <a:prstGeom xmlns:a="http://schemas.openxmlformats.org/drawingml/2006/main" prst="ellipse">
            <a:avLst/>
          </a:prstGeom>
          <a:solidFill xmlns:a="http://schemas.openxmlformats.org/drawingml/2006/main">
            <a:srgbClr val="2E7D5B"/>
          </a:solidFill>
        </p:spPr>
        <p:txBody>
          <a:bodyPr xmlns:a="http://schemas.openxmlformats.org/drawingml/2006/main"/>
          <a:lstStyle xmlns:a="http://schemas.openxmlformats.org/drawingml/2006/main"/>
          <a:p xmlns:a="http://schemas.openxmlformats.org/drawingml/2006/main">
            <a:endParaRPr/>
          </a:p>
        </p:txBody>
      </p:sp>
      <p:sp>
        <p:nvSpPr>
          <p:cNvPr id="6" name="Text 4">
            <a:extLst xmlns:a="http://schemas.openxmlformats.org/drawingml/2006/main">
              <a:ext uri="{FF2B5EF4-FFF2-40B4-BE49-F238E27FC236}">
                <a16:creationId xmlns:a16="http://schemas.microsoft.com/office/drawing/2014/main" id="{C0BF4F96-EC32-4A1C-AF9F-186525A50453}"/>
              </a:ext>
            </a:extLst>
          </p:cNvPr>
          <p:cNvSpPr>
            <a:spLocks xmlns:a="http://schemas.openxmlformats.org/drawingml/2006/main" noGrp="1"/>
          </p:cNvSpPr>
          <p:nvPr/>
        </p:nvSpPr>
        <p:spPr>
          <a:xfrm xmlns:a="http://schemas.openxmlformats.org/drawingml/2006/main">
            <a:off x="1316736" y="1810512"/>
            <a:ext cx="448056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00" b="1">
                <a:solidFill>
                  <a:srgbClr val="0E2A38"/>
                </a:solidFill>
                <a:latin typeface="Calibri"/>
                <a:ea typeface="Calibri"/>
                <a:cs typeface="Calibri"/>
              </a:rPr>
              <a:t>In scope</a:t>
            </a:r>
            <a:endParaRPr sz="1600"/>
          </a:p>
        </p:txBody>
      </p:sp>
      <p:sp>
        <p:nvSpPr>
          <p:cNvPr id="7" name="Text 5">
            <a:extLst xmlns:a="http://schemas.openxmlformats.org/drawingml/2006/main">
              <a:ext uri="{FF2B5EF4-FFF2-40B4-BE49-F238E27FC236}">
                <a16:creationId xmlns:a16="http://schemas.microsoft.com/office/drawing/2014/main" id="{5F11B498-4C2B-4CB0-B6DB-D132BBD67964}"/>
              </a:ext>
            </a:extLst>
          </p:cNvPr>
          <p:cNvSpPr>
            <a:spLocks xmlns:a="http://schemas.openxmlformats.org/drawingml/2006/main" noGrp="1"/>
          </p:cNvSpPr>
          <p:nvPr/>
        </p:nvSpPr>
        <p:spPr>
          <a:xfrm xmlns:a="http://schemas.openxmlformats.org/drawingml/2006/main">
            <a:off x="914400" y="2286000"/>
            <a:ext cx="4892040" cy="3246120"/>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p xmlns:a="http://schemas.openxmlformats.org/drawingml/2006/main">
            <a:pPr marL="342900" indent="-342900">
              <a:spcAft>
                <a:spcPts val="900"/>
              </a:spcAft>
              <a:buSzPct val="100000"/>
              <a:buChar char="•"/>
              <a:defRPr sz="1650" b="0">
                <a:solidFill>
                  <a:srgbClr val="0E2A38"/>
                </a:solidFill>
                <a:latin typeface="Calibri"/>
                <a:ea typeface="Calibri"/>
                <a:cs typeface="Calibri"/>
              </a:defRPr>
            </a:pPr>
            <a:r>
              <a:rPr sz="1650" b="0">
                <a:solidFill>
                  <a:srgbClr val="0E2A38"/>
                </a:solidFill>
                <a:latin typeface="Calibri"/>
                <a:ea typeface="Calibri"/>
                <a:cs typeface="Calibri"/>
              </a:rPr>
              <a:t>Booking and simulated checkout</a:t>
            </a:r>
            <a:endParaRPr sz="1250"/>
          </a:p>
          <a:p xmlns:a="http://schemas.openxmlformats.org/drawingml/2006/main">
            <a:pPr marL="342900" indent="-342900">
              <a:spcAft>
                <a:spcPts val="900"/>
              </a:spcAft>
              <a:buSzPct val="100000"/>
              <a:buChar char="•"/>
              <a:defRPr sz="1650" b="0">
                <a:solidFill>
                  <a:srgbClr val="0E2A38"/>
                </a:solidFill>
                <a:latin typeface="Calibri"/>
                <a:ea typeface="Calibri"/>
                <a:cs typeface="Calibri"/>
              </a:defRPr>
            </a:pPr>
            <a:r>
              <a:rPr sz="1650" b="0">
                <a:solidFill>
                  <a:srgbClr val="0E2A38"/>
                </a:solidFill>
                <a:latin typeface="Calibri"/>
                <a:ea typeface="Calibri"/>
                <a:cs typeface="Calibri"/>
              </a:rPr>
              <a:t>Customer details and totals across screens</a:t>
            </a:r>
            <a:endParaRPr sz="1250"/>
          </a:p>
          <a:p xmlns:a="http://schemas.openxmlformats.org/drawingml/2006/main">
            <a:pPr marL="342900" indent="-342900">
              <a:spcAft>
                <a:spcPts val="900"/>
              </a:spcAft>
              <a:buSzPct val="100000"/>
              <a:buChar char="•"/>
              <a:defRPr sz="1650" b="0">
                <a:solidFill>
                  <a:srgbClr val="0E2A38"/>
                </a:solidFill>
                <a:latin typeface="Calibri"/>
                <a:ea typeface="Calibri"/>
                <a:cs typeface="Calibri"/>
              </a:defRPr>
            </a:pPr>
            <a:r>
              <a:rPr sz="1650" b="0">
                <a:solidFill>
                  <a:srgbClr val="0E2A38"/>
                </a:solidFill>
                <a:latin typeface="Calibri"/>
                <a:ea typeface="Calibri"/>
                <a:cs typeface="Calibri"/>
              </a:rPr>
              <a:t>PDF download and invalid inputs</a:t>
            </a:r>
            <a:endParaRPr sz="1250"/>
          </a:p>
          <a:p xmlns:a="http://schemas.openxmlformats.org/drawingml/2006/main">
            <a:pPr marL="342900" indent="-342900">
              <a:spcAft>
                <a:spcPts val="900"/>
              </a:spcAft>
              <a:buSzPct val="100000"/>
              <a:buChar char="•"/>
              <a:defRPr sz="1650" b="0">
                <a:solidFill>
                  <a:srgbClr val="0E2A38"/>
                </a:solidFill>
                <a:latin typeface="Calibri"/>
                <a:ea typeface="Calibri"/>
                <a:cs typeface="Calibri"/>
              </a:defRPr>
            </a:pPr>
            <a:r>
              <a:rPr sz="1650" b="0">
                <a:solidFill>
                  <a:srgbClr val="0E2A38"/>
                </a:solidFill>
                <a:latin typeface="Calibri"/>
                <a:ea typeface="Calibri"/>
                <a:cs typeface="Calibri"/>
              </a:rPr>
              <a:t>Basic admin checks and Windows installation</a:t>
            </a:r>
            <a:endParaRPr sz="1250"/>
          </a:p>
        </p:txBody>
      </p:sp>
      <p:sp>
        <p:nvSpPr>
          <p:cNvPr id="8" name="Shape 6">
            <a:extLst xmlns:a="http://schemas.openxmlformats.org/drawingml/2006/main">
              <a:ext uri="{FF2B5EF4-FFF2-40B4-BE49-F238E27FC236}">
                <a16:creationId xmlns:a16="http://schemas.microsoft.com/office/drawing/2014/main" id="{59DD09FC-BAA8-4DCB-A435-F223CAA210BB}"/>
              </a:ext>
            </a:extLst>
          </p:cNvPr>
          <p:cNvSpPr>
            <a:spLocks xmlns:a="http://schemas.openxmlformats.org/drawingml/2006/main" noGrp="1"/>
          </p:cNvSpPr>
          <p:nvPr/>
        </p:nvSpPr>
        <p:spPr>
          <a:xfrm xmlns:a="http://schemas.openxmlformats.org/drawingml/2006/main">
            <a:off x="6309360" y="1600200"/>
            <a:ext cx="5212080" cy="4114800"/>
          </a:xfrm>
          <a:prstGeom xmlns:a="http://schemas.openxmlformats.org/drawingml/2006/main" prst="roundRect">
            <a:avLst>
              <a:gd name="adj" fmla="val 2000"/>
            </a:avLst>
          </a:prstGeom>
          <a:solidFill xmlns:a="http://schemas.openxmlformats.org/drawingml/2006/main">
            <a:srgbClr val="F3F6F8"/>
          </a:solidFill>
          <a:ln xmlns:a="http://schemas.openxmlformats.org/drawingml/2006/main" w="12700">
            <a:solidFill>
              <a:srgbClr val="DDE5EA"/>
            </a:solidFill>
            <a:prstDash val="solid"/>
          </a:ln>
          <a:effectLst xmlns:a="http://schemas.openxmlformats.org/drawingml/2006/main">
            <a:outerShdw blurRad="127000" dist="25400" dir="5400000" algn="bl" rotWithShape="0">
              <a:srgbClr val="0E2A38">
                <a:alpha val="12000"/>
              </a:srgbClr>
            </a:outerShdw>
          </a:effectLst>
        </p:spPr>
        <p:txBody>
          <a:bodyPr xmlns:a="http://schemas.openxmlformats.org/drawingml/2006/main"/>
          <a:lstStyle xmlns:a="http://schemas.openxmlformats.org/drawingml/2006/main"/>
          <a:p xmlns:a="http://schemas.openxmlformats.org/drawingml/2006/main">
            <a:endParaRPr/>
          </a:p>
        </p:txBody>
      </p:sp>
      <p:sp>
        <p:nvSpPr>
          <p:cNvPr id="9" name="Shape 7">
            <a:extLst xmlns:a="http://schemas.openxmlformats.org/drawingml/2006/main">
              <a:ext uri="{FF2B5EF4-FFF2-40B4-BE49-F238E27FC236}">
                <a16:creationId xmlns:a16="http://schemas.microsoft.com/office/drawing/2014/main" id="{592C999B-04ED-42E8-8F26-17A8BF1FCEF6}"/>
              </a:ext>
            </a:extLst>
          </p:cNvPr>
          <p:cNvSpPr>
            <a:spLocks xmlns:a="http://schemas.openxmlformats.org/drawingml/2006/main" noGrp="1"/>
          </p:cNvSpPr>
          <p:nvPr/>
        </p:nvSpPr>
        <p:spPr>
          <a:xfrm xmlns:a="http://schemas.openxmlformats.org/drawingml/2006/main">
            <a:off x="6565392" y="1810512"/>
            <a:ext cx="310896" cy="310896"/>
          </a:xfrm>
          <a:prstGeom xmlns:a="http://schemas.openxmlformats.org/drawingml/2006/main" prst="ellipse">
            <a:avLst/>
          </a:prstGeom>
          <a:solidFill xmlns:a="http://schemas.openxmlformats.org/drawingml/2006/main">
            <a:srgbClr val="5A7383"/>
          </a:solidFill>
        </p:spPr>
        <p:txBody>
          <a:bodyPr xmlns:a="http://schemas.openxmlformats.org/drawingml/2006/main"/>
          <a:lstStyle xmlns:a="http://schemas.openxmlformats.org/drawingml/2006/main"/>
          <a:p xmlns:a="http://schemas.openxmlformats.org/drawingml/2006/main">
            <a:endParaRPr/>
          </a:p>
        </p:txBody>
      </p:sp>
      <p:sp>
        <p:nvSpPr>
          <p:cNvPr id="10" name="Text 8">
            <a:extLst xmlns:a="http://schemas.openxmlformats.org/drawingml/2006/main">
              <a:ext uri="{FF2B5EF4-FFF2-40B4-BE49-F238E27FC236}">
                <a16:creationId xmlns:a16="http://schemas.microsoft.com/office/drawing/2014/main" id="{B5CE98B4-A8C2-4148-AAB8-5A4BB2A280CE}"/>
              </a:ext>
            </a:extLst>
          </p:cNvPr>
          <p:cNvSpPr>
            <a:spLocks xmlns:a="http://schemas.openxmlformats.org/drawingml/2006/main" noGrp="1"/>
          </p:cNvSpPr>
          <p:nvPr/>
        </p:nvSpPr>
        <p:spPr>
          <a:xfrm xmlns:a="http://schemas.openxmlformats.org/drawingml/2006/main">
            <a:off x="6986016" y="1810512"/>
            <a:ext cx="429768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00" b="1">
                <a:solidFill>
                  <a:srgbClr val="0E2A38"/>
                </a:solidFill>
                <a:latin typeface="Calibri"/>
                <a:ea typeface="Calibri"/>
                <a:cs typeface="Calibri"/>
              </a:rPr>
              <a:t>Out of scope</a:t>
            </a:r>
            <a:endParaRPr sz="1600"/>
          </a:p>
        </p:txBody>
      </p:sp>
      <p:sp>
        <p:nvSpPr>
          <p:cNvPr id="11" name="Text 9">
            <a:extLst xmlns:a="http://schemas.openxmlformats.org/drawingml/2006/main">
              <a:ext uri="{FF2B5EF4-FFF2-40B4-BE49-F238E27FC236}">
                <a16:creationId xmlns:a16="http://schemas.microsoft.com/office/drawing/2014/main" id="{9BC59E66-904F-424E-A4D4-14CD9A00388D}"/>
              </a:ext>
            </a:extLst>
          </p:cNvPr>
          <p:cNvSpPr>
            <a:spLocks xmlns:a="http://schemas.openxmlformats.org/drawingml/2006/main" noGrp="1"/>
          </p:cNvSpPr>
          <p:nvPr/>
        </p:nvSpPr>
        <p:spPr>
          <a:xfrm xmlns:a="http://schemas.openxmlformats.org/drawingml/2006/main">
            <a:off x="6583680" y="2286000"/>
            <a:ext cx="4709160" cy="3246120"/>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p xmlns:a="http://schemas.openxmlformats.org/drawingml/2006/main">
            <a:pPr marL="342900" indent="-342900">
              <a:spcAft>
                <a:spcPts val="900"/>
              </a:spcAft>
              <a:buSzPct val="100000"/>
              <a:buChar char="•"/>
              <a:defRPr sz="1575" b="0">
                <a:solidFill>
                  <a:srgbClr val="5A7383"/>
                </a:solidFill>
                <a:latin typeface="Calibri"/>
                <a:ea typeface="Calibri"/>
                <a:cs typeface="Calibri"/>
              </a:defRPr>
            </a:pPr>
            <a:r>
              <a:rPr sz="1575" b="0">
                <a:solidFill>
                  <a:srgbClr val="5A7383"/>
                </a:solidFill>
                <a:latin typeface="Calibri"/>
                <a:ea typeface="Calibri"/>
                <a:cs typeface="Calibri"/>
              </a:rPr>
              <a:t>No real payment or backend-persistence testing</a:t>
            </a:r>
            <a:endParaRPr sz="1250"/>
          </a:p>
          <a:p xmlns:a="http://schemas.openxmlformats.org/drawingml/2006/main">
            <a:pPr marL="342900" indent="-342900">
              <a:spcAft>
                <a:spcPts val="900"/>
              </a:spcAft>
              <a:buSzPct val="100000"/>
              <a:buChar char="•"/>
              <a:defRPr sz="1575" b="0">
                <a:solidFill>
                  <a:srgbClr val="5A7383"/>
                </a:solidFill>
                <a:latin typeface="Calibri"/>
                <a:ea typeface="Calibri"/>
                <a:cs typeface="Calibri"/>
              </a:defRPr>
            </a:pPr>
            <a:r>
              <a:rPr sz="1575" b="0">
                <a:solidFill>
                  <a:srgbClr val="5A7383"/>
                </a:solidFill>
                <a:latin typeface="Calibri"/>
                <a:ea typeface="Calibri"/>
                <a:cs typeface="Calibri"/>
              </a:rPr>
              <a:t>No security, load or accessibility assessment</a:t>
            </a:r>
            <a:endParaRPr sz="1250"/>
          </a:p>
          <a:p xmlns:a="http://schemas.openxmlformats.org/drawingml/2006/main">
            <a:pPr marL="342900" indent="-342900">
              <a:spcAft>
                <a:spcPts val="900"/>
              </a:spcAft>
              <a:buSzPct val="100000"/>
              <a:buChar char="•"/>
              <a:defRPr sz="1575" b="0">
                <a:solidFill>
                  <a:srgbClr val="5A7383"/>
                </a:solidFill>
                <a:latin typeface="Calibri"/>
                <a:ea typeface="Calibri"/>
                <a:cs typeface="Calibri"/>
              </a:defRPr>
            </a:pPr>
            <a:r>
              <a:rPr sz="1575" b="0">
                <a:solidFill>
                  <a:srgbClr val="5A7383"/>
                </a:solidFill>
                <a:latin typeface="Calibri"/>
                <a:ea typeface="Calibri"/>
                <a:cs typeface="Calibri"/>
              </a:rPr>
              <a:t>One Chromium-based browser</a:t>
            </a:r>
            <a:endParaRPr sz="1250"/>
          </a:p>
          <a:p xmlns:a="http://schemas.openxmlformats.org/drawingml/2006/main">
            <a:pPr marL="342900" indent="-342900">
              <a:spcAft>
                <a:spcPts val="900"/>
              </a:spcAft>
              <a:buSzPct val="100000"/>
              <a:buChar char="•"/>
              <a:defRPr sz="1575" b="0">
                <a:solidFill>
                  <a:srgbClr val="5A7383"/>
                </a:solidFill>
                <a:latin typeface="Calibri"/>
                <a:ea typeface="Calibri"/>
                <a:cs typeface="Calibri"/>
              </a:defRPr>
            </a:pPr>
            <a:r>
              <a:rPr sz="1575" b="0">
                <a:solidFill>
                  <a:srgbClr val="5A7383"/>
                </a:solidFill>
                <a:latin typeface="Calibri"/>
                <a:ea typeface="Calibri"/>
                <a:cs typeface="Calibri"/>
              </a:rPr>
              <a:t>Requirements inferred where documentation was missing</a:t>
            </a:r>
            <a:endParaRPr sz="1250"/>
          </a:p>
        </p:txBody>
      </p:sp>
    </p:spTree>
    <p:extLst>
      <p:ext uri="{BB962C8B-B14F-4D97-AF65-F5344CB8AC3E}">
        <p14:creationId xmlns:p14="http://schemas.microsoft.com/office/powerpoint/2010/main" val="1990170171"/>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AE4886B3-C3F4-4F97-A035-0DF996336C6B}"/>
              </a:ext>
            </a:extLst>
          </p:cNvPr>
          <p:cNvSpPr>
            <a:spLocks xmlns:a="http://schemas.openxmlformats.org/drawingml/2006/main" noGrp="1"/>
          </p:cNvSpPr>
          <p:nvPr/>
        </p:nvSpPr>
        <p:spPr>
          <a:xfrm xmlns:a="http://schemas.openxmlformats.org/drawingml/2006/main">
            <a:off x="640080" y="384048"/>
            <a:ext cx="82296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spc="200">
                <a:solidFill>
                  <a:srgbClr val="CE9136"/>
                </a:solidFill>
                <a:latin typeface="Calibri"/>
                <a:ea typeface="Calibri"/>
                <a:cs typeface="Calibri"/>
              </a:rPr>
              <a:t>RESULTS</a:t>
            </a:r>
            <a:endParaRPr sz="1200"/>
          </a:p>
        </p:txBody>
      </p:sp>
      <p:sp>
        <p:nvSpPr>
          <p:cNvPr id="3" name="Text 1">
            <a:extLst xmlns:a="http://schemas.openxmlformats.org/drawingml/2006/main">
              <a:ext uri="{FF2B5EF4-FFF2-40B4-BE49-F238E27FC236}">
                <a16:creationId xmlns:a16="http://schemas.microsoft.com/office/drawing/2014/main" id="{944A23EB-931C-41FB-A6CF-8716678C9243}"/>
              </a:ext>
            </a:extLst>
          </p:cNvPr>
          <p:cNvSpPr>
            <a:spLocks xmlns:a="http://schemas.openxmlformats.org/drawingml/2006/main" noGrp="1"/>
          </p:cNvSpPr>
          <p:nvPr/>
        </p:nvSpPr>
        <p:spPr>
          <a:xfrm xmlns:a="http://schemas.openxmlformats.org/drawingml/2006/main">
            <a:off x="640080" y="658368"/>
            <a:ext cx="1088136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p xmlns:a="http://schemas.openxmlformats.org/drawingml/2006/main">
            <a:pPr marL="0" indent="0">
              <a:buNone/>
              <a:defRPr sz="3150" b="1">
                <a:solidFill>
                  <a:srgbClr val="0E2A38"/>
                </a:solidFill>
                <a:latin typeface="Cambria"/>
                <a:ea typeface="Cambria"/>
                <a:cs typeface="Cambria"/>
              </a:defRPr>
            </a:pPr>
            <a:r>
              <a:rPr sz="3150" b="1">
                <a:solidFill>
                  <a:srgbClr val="0E2A38"/>
                </a:solidFill>
                <a:latin typeface="Cambria"/>
                <a:ea typeface="Cambria"/>
                <a:cs typeface="Cambria"/>
              </a:rPr>
              <a:t>Iteration 2: 8 pass, 9 fail, 1 blocked</a:t>
            </a:r>
            <a:endParaRPr sz="3400"/>
          </a:p>
        </p:txBody>
      </p:sp>
      <p:sp>
        <p:nvSpPr>
          <p:cNvPr id="5" name="Shape 2">
            <a:extLst xmlns:a="http://schemas.openxmlformats.org/drawingml/2006/main">
              <a:ext uri="{FF2B5EF4-FFF2-40B4-BE49-F238E27FC236}">
                <a16:creationId xmlns:a16="http://schemas.microsoft.com/office/drawing/2014/main" id="{A3E068CC-0FAC-4100-BDDA-09035F226A5B}"/>
              </a:ext>
            </a:extLst>
          </p:cNvPr>
          <p:cNvSpPr>
            <a:spLocks xmlns:a="http://schemas.openxmlformats.org/drawingml/2006/main" noGrp="1"/>
          </p:cNvSpPr>
          <p:nvPr/>
        </p:nvSpPr>
        <p:spPr>
          <a:xfrm xmlns:a="http://schemas.openxmlformats.org/drawingml/2006/main">
            <a:off x="7452360" y="1600200"/>
            <a:ext cx="4069080" cy="4160520"/>
          </a:xfrm>
          <a:prstGeom xmlns:a="http://schemas.openxmlformats.org/drawingml/2006/main" prst="roundRect">
            <a:avLst>
              <a:gd name="adj" fmla="val 2022"/>
            </a:avLst>
          </a:prstGeom>
          <a:solidFill xmlns:a="http://schemas.openxmlformats.org/drawingml/2006/main">
            <a:srgbClr val="F3F6F8"/>
          </a:solidFill>
          <a:ln xmlns:a="http://schemas.openxmlformats.org/drawingml/2006/main" w="12700">
            <a:solidFill>
              <a:srgbClr val="DDE5EA"/>
            </a:solidFill>
            <a:prstDash val="solid"/>
          </a:ln>
          <a:effectLst xmlns:a="http://schemas.openxmlformats.org/drawingml/2006/main">
            <a:outerShdw blurRad="127000" dist="25400" dir="5400000" algn="bl" rotWithShape="0">
              <a:srgbClr val="0E2A38">
                <a:alpha val="12000"/>
              </a:srgbClr>
            </a:outerShdw>
          </a:effectLst>
        </p:spPr>
        <p:txBody>
          <a:bodyPr xmlns:a="http://schemas.openxmlformats.org/drawingml/2006/main"/>
          <a:lstStyle xmlns:a="http://schemas.openxmlformats.org/drawingml/2006/main"/>
          <a:p xmlns:a="http://schemas.openxmlformats.org/drawingml/2006/main">
            <a:endParaRPr/>
          </a:p>
        </p:txBody>
      </p:sp>
      <p:sp>
        <p:nvSpPr>
          <p:cNvPr id="6" name="Text 3">
            <a:extLst xmlns:a="http://schemas.openxmlformats.org/drawingml/2006/main">
              <a:ext uri="{FF2B5EF4-FFF2-40B4-BE49-F238E27FC236}">
                <a16:creationId xmlns:a16="http://schemas.microsoft.com/office/drawing/2014/main" id="{8B38FB07-7218-403D-B541-E3DC24D68E47}"/>
              </a:ext>
            </a:extLst>
          </p:cNvPr>
          <p:cNvSpPr>
            <a:spLocks xmlns:a="http://schemas.openxmlformats.org/drawingml/2006/main" noGrp="1"/>
          </p:cNvSpPr>
          <p:nvPr/>
        </p:nvSpPr>
        <p:spPr>
          <a:xfrm xmlns:a="http://schemas.openxmlformats.org/drawingml/2006/main">
            <a:off x="7726680" y="1828800"/>
            <a:ext cx="356616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p xmlns:a="http://schemas.openxmlformats.org/drawingml/2006/main">
            <a:pPr marL="0" indent="0">
              <a:buNone/>
              <a:defRPr sz="1800" b="0">
                <a:solidFill>
                  <a:srgbClr val="0E2A38"/>
                </a:solidFill>
                <a:latin typeface="Calibri"/>
                <a:ea typeface="Calibri"/>
                <a:cs typeface="Calibri"/>
              </a:defRPr>
            </a:pPr>
            <a:r>
              <a:rPr sz="1800" b="0">
                <a:solidFill>
                  <a:srgbClr val="0E2A38"/>
                </a:solidFill>
                <a:latin typeface="Calibri"/>
                <a:ea typeface="Calibri"/>
                <a:cs typeface="Calibri"/>
              </a:rPr>
              <a:t>18 planned cases</a:t>
            </a:r>
            <a:endParaRPr sz="1600"/>
          </a:p>
        </p:txBody>
      </p:sp>
      <p:sp>
        <p:nvSpPr>
          <p:cNvPr id="7" name="Text 4">
            <a:extLst xmlns:a="http://schemas.openxmlformats.org/drawingml/2006/main">
              <a:ext uri="{FF2B5EF4-FFF2-40B4-BE49-F238E27FC236}">
                <a16:creationId xmlns:a16="http://schemas.microsoft.com/office/drawing/2014/main" id="{15A78AD3-E3F9-4DA0-8073-D9BCD318B91C}"/>
              </a:ext>
            </a:extLst>
          </p:cNvPr>
          <p:cNvSpPr>
            <a:spLocks xmlns:a="http://schemas.openxmlformats.org/drawingml/2006/main" noGrp="1"/>
          </p:cNvSpPr>
          <p:nvPr/>
        </p:nvSpPr>
        <p:spPr>
          <a:xfrm xmlns:a="http://schemas.openxmlformats.org/drawingml/2006/main">
            <a:off x="7726680" y="2286000"/>
            <a:ext cx="3566160" cy="3291840"/>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p xmlns:a="http://schemas.openxmlformats.org/drawingml/2006/main">
            <a:pPr marL="0" indent="0">
              <a:lnSpc>
                <a:spcPts val="1700"/>
              </a:lnSpc>
              <a:buNone/>
              <a:defRPr sz="1650" b="0">
                <a:solidFill>
                  <a:srgbClr val="5A7383"/>
                </a:solidFill>
                <a:latin typeface="Calibri"/>
                <a:ea typeface="Calibri"/>
                <a:cs typeface="Calibri"/>
              </a:defRPr>
            </a:pPr>
            <a:r>
              <a:rPr sz="1650" b="0">
                <a:solidFill>
                  <a:srgbClr val="5A7383"/>
                </a:solidFill>
                <a:latin typeface="Calibri"/>
                <a:ea typeface="Calibri"/>
                <a:cs typeface="Calibri"/>
              </a:rPr>
              <a:t>17 reached a Pass or Fail outcome.</a:t>
            </a:r>
            <a:endParaRPr sz="1250"/>
          </a:p>
          <a:p xmlns:a="http://schemas.openxmlformats.org/drawingml/2006/main">
            <a:pPr marL="0" indent="0">
              <a:lnSpc>
                <a:spcPts val="1700"/>
              </a:lnSpc>
              <a:buNone/>
              <a:defRPr sz="1250" b="0">
                <a:solidFill>
                  <a:srgbClr val="5A7383"/>
                </a:solidFill>
                <a:latin typeface="Calibri"/>
                <a:ea typeface="Calibri"/>
                <a:cs typeface="Calibri"/>
              </a:defRPr>
            </a:pPr>
            <a:r>
              <a:rPr sz="1250" b="0">
                <a:solidFill>
                  <a:srgbClr val="5A7383"/>
                </a:solidFill>
                <a:latin typeface="Calibri"/>
                <a:ea typeface="Calibri"/>
                <a:cs typeface="Calibri"/>
              </a:rPr>
              <a:t/>
            </a:r>
            <a:endParaRPr sz="1250"/>
          </a:p>
          <a:p xmlns:a="http://schemas.openxmlformats.org/drawingml/2006/main">
            <a:pPr marL="0" indent="0">
              <a:lnSpc>
                <a:spcPts val="1700"/>
              </a:lnSpc>
              <a:buNone/>
              <a:defRPr sz="1650" b="0">
                <a:solidFill>
                  <a:srgbClr val="5A7383"/>
                </a:solidFill>
                <a:latin typeface="Calibri"/>
                <a:ea typeface="Calibri"/>
                <a:cs typeface="Calibri"/>
              </a:defRPr>
            </a:pPr>
            <a:r>
              <a:rPr sz="1650" b="0">
                <a:solidFill>
                  <a:srgbClr val="5A7383"/>
                </a:solidFill>
                <a:latin typeface="Calibri"/>
                <a:ea typeface="Calibri"/>
                <a:cs typeface="Calibri"/>
              </a:rPr>
              <a:t>Pass rate: 8 / 17 = 47.06%</a:t>
            </a:r>
            <a:endParaRPr sz="1250"/>
          </a:p>
          <a:p xmlns:a="http://schemas.openxmlformats.org/drawingml/2006/main">
            <a:pPr marL="0" indent="0">
              <a:lnSpc>
                <a:spcPts val="1700"/>
              </a:lnSpc>
              <a:buNone/>
              <a:defRPr sz="1650" b="0">
                <a:solidFill>
                  <a:srgbClr val="5A7383"/>
                </a:solidFill>
                <a:latin typeface="Calibri"/>
                <a:ea typeface="Calibri"/>
                <a:cs typeface="Calibri"/>
              </a:defRPr>
            </a:pPr>
            <a:r>
              <a:rPr sz="1650" b="0">
                <a:solidFill>
                  <a:srgbClr val="5A7383"/>
                </a:solidFill>
                <a:latin typeface="Calibri"/>
                <a:ea typeface="Calibri"/>
                <a:cs typeface="Calibri"/>
              </a:rPr>
              <a:t>Target: 95%</a:t>
            </a:r>
            <a:endParaRPr sz="1250"/>
          </a:p>
          <a:p xmlns:a="http://schemas.openxmlformats.org/drawingml/2006/main">
            <a:pPr marL="0" indent="0">
              <a:lnSpc>
                <a:spcPts val="1700"/>
              </a:lnSpc>
              <a:buNone/>
              <a:defRPr sz="1250" b="0">
                <a:solidFill>
                  <a:srgbClr val="5A7383"/>
                </a:solidFill>
                <a:latin typeface="Calibri"/>
                <a:ea typeface="Calibri"/>
                <a:cs typeface="Calibri"/>
              </a:defRPr>
            </a:pPr>
            <a:r>
              <a:rPr sz="1250" b="0">
                <a:solidFill>
                  <a:srgbClr val="5A7383"/>
                </a:solidFill>
                <a:latin typeface="Calibri"/>
                <a:ea typeface="Calibri"/>
                <a:cs typeface="Calibri"/>
              </a:rPr>
              <a:t/>
            </a:r>
            <a:endParaRPr sz="1250"/>
          </a:p>
          <a:p xmlns:a="http://schemas.openxmlformats.org/drawingml/2006/main">
            <a:pPr marL="0" indent="0">
              <a:lnSpc>
                <a:spcPts val="1700"/>
              </a:lnSpc>
              <a:buNone/>
              <a:defRPr sz="1650" b="0">
                <a:solidFill>
                  <a:srgbClr val="5A7383"/>
                </a:solidFill>
                <a:latin typeface="Calibri"/>
                <a:ea typeface="Calibri"/>
                <a:cs typeface="Calibri"/>
              </a:defRPr>
            </a:pPr>
            <a:r>
              <a:rPr sz="1650" b="0">
                <a:solidFill>
                  <a:srgbClr val="5A7383"/>
                </a:solidFill>
                <a:latin typeface="Calibri"/>
                <a:ea typeface="Calibri"/>
                <a:cs typeface="Calibri"/>
              </a:rPr>
              <a:t>TC-009 is blocked because no PDF was produced.</a:t>
            </a:r>
            <a:endParaRPr sz="1250"/>
          </a:p>
          <a:p xmlns:a="http://schemas.openxmlformats.org/drawingml/2006/main">
            <a:pPr marL="0" indent="0">
              <a:lnSpc>
                <a:spcPts val="1700"/>
              </a:lnSpc>
              <a:buNone/>
              <a:defRPr sz="1250" b="0">
                <a:solidFill>
                  <a:srgbClr val="5A7383"/>
                </a:solidFill>
                <a:latin typeface="Calibri"/>
                <a:ea typeface="Calibri"/>
                <a:cs typeface="Calibri"/>
              </a:defRPr>
            </a:pPr>
            <a:r>
              <a:rPr sz="1250" b="0">
                <a:solidFill>
                  <a:srgbClr val="5A7383"/>
                </a:solidFill>
                <a:latin typeface="Calibri"/>
                <a:ea typeface="Calibri"/>
                <a:cs typeface="Calibri"/>
              </a:rPr>
              <a:t/>
            </a:r>
            <a:endParaRPr sz="1250"/>
          </a:p>
          <a:p xmlns:a="http://schemas.openxmlformats.org/drawingml/2006/main">
            <a:pPr marL="0" indent="0">
              <a:lnSpc>
                <a:spcPts val="1700"/>
              </a:lnSpc>
              <a:buNone/>
              <a:defRPr sz="1650" b="0">
                <a:solidFill>
                  <a:srgbClr val="5A7383"/>
                </a:solidFill>
                <a:latin typeface="Calibri"/>
                <a:ea typeface="Calibri"/>
                <a:cs typeface="Calibri"/>
              </a:defRPr>
            </a:pPr>
            <a:r>
              <a:rPr sz="1650" b="0">
                <a:solidFill>
                  <a:srgbClr val="5A7383"/>
                </a:solidFill>
                <a:latin typeface="Calibri"/>
                <a:ea typeface="Calibri"/>
                <a:cs typeface="Calibri"/>
              </a:rPr>
              <a:t>Expanded coverage found gaps that the earlier tests missed.</a:t>
            </a:r>
            <a:endParaRPr sz="1250"/>
          </a:p>
        </p:txBody>
      </p:sp>
      <p:graphicFrame>
        <p:nvGraphicFramePr>
          <p:cNvPr id="14" name="Chart"/>
          <p:cNvGraphicFramePr/>
          <p:nvPr/>
        </p:nvGraphicFramePr>
        <p:xfrm>
          <a:off xmlns:a="http://schemas.openxmlformats.org/drawingml/2006/main" x="640080" y="1809750"/>
          <a:ext xmlns:a="http://schemas.openxmlformats.org/drawingml/2006/main" cx="6492240" cy="3714750"/>
        </p:xfrm>
        <a:graphic xmlns:a="http://schemas.openxmlformats.org/drawingml/2006/main">
          <a:graphicData uri="http://schemas.openxmlformats.org/drawingml/2006/chart">
            <c:chart xmlns:r="http://schemas.openxmlformats.org/officeDocument/2006/relationships" xmlns:c="http://schemas.openxmlformats.org/drawingml/2006/chart" r:id="R0dac8b3bb7ae42d6"/>
          </a:graphicData>
        </a:graphic>
      </p:graphicFrame>
    </p:spTree>
    <p:extLst>
      <p:ext uri="{BB962C8B-B14F-4D97-AF65-F5344CB8AC3E}">
        <p14:creationId xmlns:p14="http://schemas.microsoft.com/office/powerpoint/2010/main" val="2079636470"/>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FA5CC1C5-75A1-4AAC-9366-5E40C1E13CF1}"/>
              </a:ext>
            </a:extLst>
          </p:cNvPr>
          <p:cNvSpPr>
            <a:spLocks xmlns:a="http://schemas.openxmlformats.org/drawingml/2006/main" noGrp="1"/>
          </p:cNvSpPr>
          <p:nvPr/>
        </p:nvSpPr>
        <p:spPr>
          <a:xfrm xmlns:a="http://schemas.openxmlformats.org/drawingml/2006/main">
            <a:off x="640080" y="384048"/>
            <a:ext cx="82296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p xmlns:a="http://schemas.openxmlformats.org/drawingml/2006/main">
            <a:pPr marL="0" indent="0">
              <a:buNone/>
              <a:defRPr sz="1200" b="1">
                <a:solidFill>
                  <a:srgbClr val="CE9136"/>
                </a:solidFill>
                <a:latin typeface="Calibri"/>
                <a:ea typeface="Calibri"/>
                <a:cs typeface="Calibri"/>
              </a:defRPr>
            </a:pPr>
            <a:r>
              <a:rPr sz="1200" b="1" spc="200">
                <a:solidFill>
                  <a:srgbClr val="CE9136"/>
                </a:solidFill>
                <a:latin typeface="Calibri"/>
                <a:ea typeface="Calibri"/>
                <a:cs typeface="Calibri"/>
              </a:rPr>
              <a:t>BOOKING DATA</a:t>
            </a:r>
            <a:endParaRPr sz="1200"/>
          </a:p>
        </p:txBody>
      </p:sp>
      <p:sp>
        <p:nvSpPr>
          <p:cNvPr id="3" name="Text 1">
            <a:extLst xmlns:a="http://schemas.openxmlformats.org/drawingml/2006/main">
              <a:ext uri="{FF2B5EF4-FFF2-40B4-BE49-F238E27FC236}">
                <a16:creationId xmlns:a16="http://schemas.microsoft.com/office/drawing/2014/main" id="{592CEC7D-FC92-4D81-B67D-D60A13EE9AEE}"/>
              </a:ext>
            </a:extLst>
          </p:cNvPr>
          <p:cNvSpPr>
            <a:spLocks xmlns:a="http://schemas.openxmlformats.org/drawingml/2006/main" noGrp="1"/>
          </p:cNvSpPr>
          <p:nvPr/>
        </p:nvSpPr>
        <p:spPr>
          <a:xfrm xmlns:a="http://schemas.openxmlformats.org/drawingml/2006/main">
            <a:off x="640080" y="658368"/>
            <a:ext cx="1088136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p xmlns:a="http://schemas.openxmlformats.org/drawingml/2006/main">
            <a:pPr marL="0" indent="0">
              <a:buNone/>
              <a:defRPr sz="3150" b="1">
                <a:solidFill>
                  <a:srgbClr val="0E2A38"/>
                </a:solidFill>
                <a:latin typeface="Cambria"/>
                <a:ea typeface="Cambria"/>
                <a:cs typeface="Cambria"/>
              </a:defRPr>
            </a:pPr>
            <a:r>
              <a:rPr sz="3150" b="1">
                <a:solidFill>
                  <a:srgbClr val="0E2A38"/>
                </a:solidFill>
                <a:latin typeface="Cambria"/>
                <a:ea typeface="Cambria"/>
                <a:cs typeface="Cambria"/>
              </a:rPr>
              <a:t>The booking changes between screens</a:t>
            </a:r>
            <a:endParaRPr sz="3400"/>
          </a:p>
        </p:txBody>
      </p:sp>
      <p:sp>
        <p:nvSpPr>
          <p:cNvPr id="5" name="Text 2">
            <a:extLst xmlns:a="http://schemas.openxmlformats.org/drawingml/2006/main">
              <a:ext uri="{FF2B5EF4-FFF2-40B4-BE49-F238E27FC236}">
                <a16:creationId xmlns:a16="http://schemas.microsoft.com/office/drawing/2014/main" id="{63EBA2DC-04E6-4F44-9254-512B590B9B4A}"/>
              </a:ext>
            </a:extLst>
          </p:cNvPr>
          <p:cNvSpPr>
            <a:spLocks xmlns:a="http://schemas.openxmlformats.org/drawingml/2006/main" noGrp="1"/>
          </p:cNvSpPr>
          <p:nvPr/>
        </p:nvSpPr>
        <p:spPr>
          <a:xfrm xmlns:a="http://schemas.openxmlformats.org/drawingml/2006/main">
            <a:off x="640080" y="5989320"/>
            <a:ext cx="1088136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p xmlns:a="http://schemas.openxmlformats.org/drawingml/2006/main">
            <a:pPr marL="0" indent="0">
              <a:buNone/>
              <a:defRPr sz="1425" b="0">
                <a:solidFill>
                  <a:srgbClr val="5A7383"/>
                </a:solidFill>
                <a:latin typeface="Calibri"/>
                <a:ea typeface="Calibri"/>
                <a:cs typeface="Calibri"/>
              </a:defRPr>
            </a:pPr>
            <a:r>
              <a:rPr sz="1425" b="0" i="1">
                <a:solidFill>
                  <a:srgbClr val="5A7383"/>
                </a:solidFill>
                <a:latin typeface="Calibri"/>
                <a:ea typeface="Calibri"/>
                <a:cs typeface="Calibri"/>
              </a:rPr>
              <a:t>TC-010, TC-011 and TC-012 failed. The customer booked two guests and both add-ons.</a:t>
            </a:r>
            <a:endParaRPr sz="1200"/>
          </a:p>
        </p:txBody>
      </p:sp>
      <p:graphicFrame>
        <p:nvGraphicFramePr>
          <p:cNvPr id="10" name=""/>
          <p:cNvGraphicFramePr/>
          <p:nvPr/>
        </p:nvGraphicFramePr>
        <p:xfrm>
          <a:off xmlns:a="http://schemas.openxmlformats.org/drawingml/2006/main" x="640080" y="2000250"/>
          <a:ext xmlns:a="http://schemas.openxmlformats.org/drawingml/2006/main" cx="10858500" cy="3143250"/>
        </p:xfrm>
        <a:graphic xmlns:a="http://schemas.openxmlformats.org/drawingml/2006/main">
          <a:graphicData uri="http://schemas.openxmlformats.org/drawingml/2006/table">
            <a:tbl>
              <a:tblPr/>
              <a:tblGrid>
                <a:gridCol w="1714500"/>
                <a:gridCol w="3048000"/>
                <a:gridCol w="3048000"/>
                <a:gridCol w="3048000"/>
              </a:tblGrid>
              <a:tr h="785813">
                <a:tc>
                  <a:txBody>
                    <a:bodyPr>
                      <a:noAutofit/>
                    </a:bodyPr>
                    <a:lstStyle/>
                    <a:p>
                      <a:r>
                        <a:rPr sz="1650" b="1">
                          <a:solidFill>
                            <a:srgbClr val="FFFFFF"/>
                          </a:solidFill>
                          <a:latin typeface="Calibri"/>
                          <a:ea typeface="Calibri"/>
                          <a:cs typeface="Calibri"/>
                        </a:rPr>
                        <a:t>Detail</a:t>
                      </a:r>
                    </a:p>
                  </a:txBody>
                  <a:tcPr marL="91440" marR="91440" marT="45720" marB="45720">
                    <a:solidFill>
                      <a:srgbClr val="0E2A38"/>
                    </a:solidFill>
                  </a:tcPr>
                </a:tc>
                <a:tc>
                  <a:txBody>
                    <a:bodyPr>
                      <a:noAutofit/>
                    </a:bodyPr>
                    <a:lstStyle/>
                    <a:p>
                      <a:r>
                        <a:rPr sz="1650" b="1">
                          <a:solidFill>
                            <a:srgbClr val="FFFFFF"/>
                          </a:solidFill>
                          <a:latin typeface="Calibri"/>
                          <a:ea typeface="Calibri"/>
                          <a:cs typeface="Calibri"/>
                        </a:rPr>
                        <a:t>Customer booked</a:t>
                      </a:r>
                    </a:p>
                  </a:txBody>
                  <a:tcPr marL="91440" marR="91440" marT="45720" marB="45720">
                    <a:solidFill>
                      <a:srgbClr val="0E2A38"/>
                    </a:solidFill>
                  </a:tcPr>
                </a:tc>
                <a:tc>
                  <a:txBody>
                    <a:bodyPr>
                      <a:noAutofit/>
                    </a:bodyPr>
                    <a:lstStyle/>
                    <a:p>
                      <a:r>
                        <a:rPr sz="1650" b="1">
                          <a:solidFill>
                            <a:srgbClr val="FFFFFF"/>
                          </a:solidFill>
                          <a:latin typeface="Calibri"/>
                          <a:ea typeface="Calibri"/>
                          <a:cs typeface="Calibri"/>
                        </a:rPr>
                        <a:t>Checkout</a:t>
                      </a:r>
                    </a:p>
                  </a:txBody>
                  <a:tcPr marL="91440" marR="91440" marT="45720" marB="45720">
                    <a:solidFill>
                      <a:srgbClr val="0E2A38"/>
                    </a:solidFill>
                  </a:tcPr>
                </a:tc>
                <a:tc>
                  <a:txBody>
                    <a:bodyPr>
                      <a:noAutofit/>
                    </a:bodyPr>
                    <a:lstStyle/>
                    <a:p>
                      <a:r>
                        <a:rPr sz="1650" b="1">
                          <a:solidFill>
                            <a:srgbClr val="FFFFFF"/>
                          </a:solidFill>
                          <a:latin typeface="Calibri"/>
                          <a:ea typeface="Calibri"/>
                          <a:cs typeface="Calibri"/>
                        </a:rPr>
                        <a:t>Dashboard</a:t>
                      </a:r>
                    </a:p>
                  </a:txBody>
                  <a:tcPr marL="91440" marR="91440" marT="45720" marB="45720">
                    <a:solidFill>
                      <a:srgbClr val="0E2A38"/>
                    </a:solidFill>
                  </a:tcPr>
                </a:tc>
              </a:tr>
              <a:tr h="785813">
                <a:tc>
                  <a:txBody>
                    <a:bodyPr>
                      <a:noAutofit/>
                    </a:bodyPr>
                    <a:lstStyle/>
                    <a:p>
                      <a:r>
                        <a:rPr sz="1650" b="0">
                          <a:solidFill>
                            <a:srgbClr val="0E2A38"/>
                          </a:solidFill>
                          <a:latin typeface="Calibri"/>
                          <a:ea typeface="Calibri"/>
                          <a:cs typeface="Calibri"/>
                        </a:rPr>
                        <a:t>Guests</a:t>
                      </a:r>
                    </a:p>
                  </a:txBody>
                  <a:tcPr marL="91440" marR="91440" marT="45720" marB="45720">
                    <a:solidFill>
                      <a:srgbClr val="F3F6F8"/>
                    </a:solidFill>
                  </a:tcPr>
                </a:tc>
                <a:tc>
                  <a:txBody>
                    <a:bodyPr>
                      <a:noAutofit/>
                    </a:bodyPr>
                    <a:lstStyle/>
                    <a:p>
                      <a:r>
                        <a:rPr sz="1650" b="0">
                          <a:solidFill>
                            <a:srgbClr val="0E2A38"/>
                          </a:solidFill>
                          <a:latin typeface="Calibri"/>
                          <a:ea typeface="Calibri"/>
                          <a:cs typeface="Calibri"/>
                        </a:rPr>
                        <a:t>2</a:t>
                      </a:r>
                    </a:p>
                  </a:txBody>
                  <a:tcPr marL="91440" marR="91440" marT="45720" marB="45720">
                    <a:solidFill>
                      <a:srgbClr val="F3F6F8"/>
                    </a:solidFill>
                  </a:tcPr>
                </a:tc>
                <a:tc>
                  <a:txBody>
                    <a:bodyPr>
                      <a:noAutofit/>
                    </a:bodyPr>
                    <a:lstStyle/>
                    <a:p>
                      <a:r>
                        <a:rPr sz="1650" b="0">
                          <a:solidFill>
                            <a:srgbClr val="0E2A38"/>
                          </a:solidFill>
                          <a:latin typeface="Calibri"/>
                          <a:ea typeface="Calibri"/>
                          <a:cs typeface="Calibri"/>
                        </a:rPr>
                        <a:t>1</a:t>
                      </a:r>
                    </a:p>
                  </a:txBody>
                  <a:tcPr marL="91440" marR="91440" marT="45720" marB="45720">
                    <a:solidFill>
                      <a:srgbClr val="F3F6F8"/>
                    </a:solidFill>
                  </a:tcPr>
                </a:tc>
                <a:tc>
                  <a:txBody>
                    <a:bodyPr>
                      <a:noAutofit/>
                    </a:bodyPr>
                    <a:lstStyle/>
                    <a:p>
                      <a:r>
                        <a:rPr sz="1650" b="0">
                          <a:solidFill>
                            <a:srgbClr val="0E2A38"/>
                          </a:solidFill>
                          <a:latin typeface="Calibri"/>
                          <a:ea typeface="Calibri"/>
                          <a:cs typeface="Calibri"/>
                        </a:rPr>
                        <a:t>1</a:t>
                      </a:r>
                    </a:p>
                  </a:txBody>
                  <a:tcPr marL="91440" marR="91440" marT="45720" marB="45720">
                    <a:solidFill>
                      <a:srgbClr val="F3F6F8"/>
                    </a:solidFill>
                  </a:tcPr>
                </a:tc>
              </a:tr>
              <a:tr h="785813">
                <a:tc>
                  <a:txBody>
                    <a:bodyPr>
                      <a:noAutofit/>
                    </a:bodyPr>
                    <a:lstStyle/>
                    <a:p>
                      <a:r>
                        <a:rPr sz="1650" b="0">
                          <a:solidFill>
                            <a:srgbClr val="0E2A38"/>
                          </a:solidFill>
                          <a:latin typeface="Calibri"/>
                          <a:ea typeface="Calibri"/>
                          <a:cs typeface="Calibri"/>
                        </a:rPr>
                        <a:t>Tour date</a:t>
                      </a:r>
                    </a:p>
                  </a:txBody>
                  <a:tcPr marL="91440" marR="91440" marT="45720" marB="45720">
                    <a:solidFill>
                      <a:srgbClr val="FFFFFF"/>
                    </a:solidFill>
                  </a:tcPr>
                </a:tc>
                <a:tc>
                  <a:txBody>
                    <a:bodyPr>
                      <a:noAutofit/>
                    </a:bodyPr>
                    <a:lstStyle/>
                    <a:p>
                      <a:r>
                        <a:rPr sz="1650" b="0">
                          <a:solidFill>
                            <a:srgbClr val="0E2A38"/>
                          </a:solidFill>
                          <a:latin typeface="Calibri"/>
                          <a:ea typeface="Calibri"/>
                          <a:cs typeface="Calibri"/>
                        </a:rPr>
                        <a:t>27 September 2026</a:t>
                      </a:r>
                    </a:p>
                  </a:txBody>
                  <a:tcPr marL="91440" marR="91440" marT="45720" marB="45720">
                    <a:solidFill>
                      <a:srgbClr val="FFFFFF"/>
                    </a:solidFill>
                  </a:tcPr>
                </a:tc>
                <a:tc>
                  <a:txBody>
                    <a:bodyPr>
                      <a:noAutofit/>
                    </a:bodyPr>
                    <a:lstStyle/>
                    <a:p>
                      <a:r>
                        <a:rPr sz="1650" b="0">
                          <a:solidFill>
                            <a:srgbClr val="0E2A38"/>
                          </a:solidFill>
                          <a:latin typeface="Calibri"/>
                          <a:ea typeface="Calibri"/>
                          <a:cs typeface="Calibri"/>
                        </a:rPr>
                        <a:t>Pending confirmation</a:t>
                      </a:r>
                    </a:p>
                  </a:txBody>
                  <a:tcPr marL="91440" marR="91440" marT="45720" marB="45720">
                    <a:solidFill>
                      <a:srgbClr val="FFFFFF"/>
                    </a:solidFill>
                  </a:tcPr>
                </a:tc>
                <a:tc>
                  <a:txBody>
                    <a:bodyPr>
                      <a:noAutofit/>
                    </a:bodyPr>
                    <a:lstStyle/>
                    <a:p>
                      <a:r>
                        <a:rPr sz="1650" b="0">
                          <a:solidFill>
                            <a:srgbClr val="0E2A38"/>
                          </a:solidFill>
                          <a:latin typeface="Calibri"/>
                          <a:ea typeface="Calibri"/>
                          <a:cs typeface="Calibri"/>
                        </a:rPr>
                        <a:t>Pending confirmation</a:t>
                      </a:r>
                    </a:p>
                  </a:txBody>
                  <a:tcPr marL="91440" marR="91440" marT="45720" marB="45720">
                    <a:solidFill>
                      <a:srgbClr val="FFFFFF"/>
                    </a:solidFill>
                  </a:tcPr>
                </a:tc>
              </a:tr>
              <a:tr h="785813">
                <a:tc>
                  <a:txBody>
                    <a:bodyPr>
                      <a:noAutofit/>
                    </a:bodyPr>
                    <a:lstStyle/>
                    <a:p>
                      <a:r>
                        <a:rPr sz="1650" b="0">
                          <a:solidFill>
                            <a:srgbClr val="0E2A38"/>
                          </a:solidFill>
                          <a:latin typeface="Calibri"/>
                          <a:ea typeface="Calibri"/>
                          <a:cs typeface="Calibri"/>
                        </a:rPr>
                        <a:t>Total</a:t>
                      </a:r>
                    </a:p>
                  </a:txBody>
                  <a:tcPr marL="91440" marR="91440" marT="45720" marB="45720">
                    <a:solidFill>
                      <a:srgbClr val="F3F6F8"/>
                    </a:solidFill>
                  </a:tcPr>
                </a:tc>
                <a:tc>
                  <a:txBody>
                    <a:bodyPr>
                      <a:noAutofit/>
                    </a:bodyPr>
                    <a:lstStyle/>
                    <a:p>
                      <a:r>
                        <a:rPr sz="1650" b="0">
                          <a:solidFill>
                            <a:srgbClr val="0E2A38"/>
                          </a:solidFill>
                          <a:latin typeface="Calibri"/>
                          <a:ea typeface="Calibri"/>
                          <a:cs typeface="Calibri"/>
                        </a:rPr>
                        <a:t>PHP 3,900</a:t>
                      </a:r>
                    </a:p>
                  </a:txBody>
                  <a:tcPr marL="91440" marR="91440" marT="45720" marB="45720">
                    <a:solidFill>
                      <a:srgbClr val="F3F6F8"/>
                    </a:solidFill>
                  </a:tcPr>
                </a:tc>
                <a:tc>
                  <a:txBody>
                    <a:bodyPr>
                      <a:noAutofit/>
                    </a:bodyPr>
                    <a:lstStyle/>
                    <a:p>
                      <a:r>
                        <a:rPr sz="1650" b="0">
                          <a:solidFill>
                            <a:srgbClr val="0E2A38"/>
                          </a:solidFill>
                          <a:latin typeface="Calibri"/>
                          <a:ea typeface="Calibri"/>
                          <a:cs typeface="Calibri"/>
                        </a:rPr>
                        <a:t>PHP 1,350</a:t>
                      </a:r>
                    </a:p>
                  </a:txBody>
                  <a:tcPr marL="91440" marR="91440" marT="45720" marB="45720">
                    <a:solidFill>
                      <a:srgbClr val="F3F6F8"/>
                    </a:solidFill>
                  </a:tcPr>
                </a:tc>
                <a:tc>
                  <a:txBody>
                    <a:bodyPr>
                      <a:noAutofit/>
                    </a:bodyPr>
                    <a:lstStyle/>
                    <a:p>
                      <a:r>
                        <a:rPr sz="1650" b="0">
                          <a:solidFill>
                            <a:srgbClr val="0E2A38"/>
                          </a:solidFill>
                          <a:latin typeface="Calibri"/>
                          <a:ea typeface="Calibri"/>
                          <a:cs typeface="Calibri"/>
                        </a:rPr>
                        <a:t>PHP 1,350</a:t>
                      </a:r>
                    </a:p>
                  </a:txBody>
                  <a:tcPr marL="91440" marR="91440" marT="45720" marB="45720">
                    <a:solidFill>
                      <a:srgbClr val="F3F6F8"/>
                    </a:solidFill>
                  </a:tcPr>
                </a:tc>
              </a:tr>
            </a:tbl>
          </a:graphicData>
        </a:graphic>
      </p:graphicFrame>
    </p:spTree>
    <p:extLst>
      <p:ext uri="{BB962C8B-B14F-4D97-AF65-F5344CB8AC3E}">
        <p14:creationId xmlns:p14="http://schemas.microsoft.com/office/powerpoint/2010/main" val="1067563383"/>
      </p:ext>
    </p:extLst>
  </p:cSld>
</p:sld>
</file>

<file path=ppt/slides/slide6.xml><?xml version="1.0" encoding="utf-8"?>
<p:sld xmlns:p="http://schemas.openxmlformats.org/presentationml/2006/main">
  <p:cSld>
    <p:bg>
      <p:bgPr>
        <a:solidFill xmlns:a="http://schemas.openxmlformats.org/drawingml/2006/main">
          <a:srgbClr val="0E2A38"/>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B9D35351-7579-42BC-88B0-788139438C1C}"/>
              </a:ext>
            </a:extLst>
          </p:cNvPr>
          <p:cNvSpPr>
            <a:spLocks xmlns:a="http://schemas.openxmlformats.org/drawingml/2006/main" noGrp="1"/>
          </p:cNvSpPr>
          <p:nvPr/>
        </p:nvSpPr>
        <p:spPr>
          <a:xfrm xmlns:a="http://schemas.openxmlformats.org/drawingml/2006/main">
            <a:off x="10332720" y="-1188720"/>
            <a:ext cx="3474720" cy="3474720"/>
          </a:xfrm>
          <a:prstGeom xmlns:a="http://schemas.openxmlformats.org/drawingml/2006/main" prst="ellipse">
            <a:avLst/>
          </a:prstGeom>
          <a:solidFill xmlns:a="http://schemas.openxmlformats.org/drawingml/2006/main">
            <a:srgbClr val="2A6F84">
              <a:alpha val="40000"/>
            </a:srgbClr>
          </a:solidFill>
        </p:spPr>
        <p:txBody>
          <a:bodyPr xmlns:a="http://schemas.openxmlformats.org/drawingml/2006/main"/>
          <a:lstStyle xmlns:a="http://schemas.openxmlformats.org/drawingml/2006/main"/>
          <a:p xmlns:a="http://schemas.openxmlformats.org/drawingml/2006/main">
            <a:endParaRPr/>
          </a:p>
        </p:txBody>
      </p:sp>
      <p:sp>
        <p:nvSpPr>
          <p:cNvPr id="3" name="Text 1">
            <a:extLst xmlns:a="http://schemas.openxmlformats.org/drawingml/2006/main">
              <a:ext uri="{FF2B5EF4-FFF2-40B4-BE49-F238E27FC236}">
                <a16:creationId xmlns:a16="http://schemas.microsoft.com/office/drawing/2014/main" id="{5902282A-0E23-4DDF-9E60-1DEBF8FCCCF7}"/>
              </a:ext>
            </a:extLst>
          </p:cNvPr>
          <p:cNvSpPr>
            <a:spLocks xmlns:a="http://schemas.openxmlformats.org/drawingml/2006/main" noGrp="1"/>
          </p:cNvSpPr>
          <p:nvPr/>
        </p:nvSpPr>
        <p:spPr>
          <a:xfrm xmlns:a="http://schemas.openxmlformats.org/drawingml/2006/main">
            <a:off x="640080" y="457200"/>
            <a:ext cx="82296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p xmlns:a="http://schemas.openxmlformats.org/drawingml/2006/main">
            <a:pPr marL="0" indent="0">
              <a:buNone/>
              <a:defRPr sz="3300" b="1">
                <a:solidFill>
                  <a:srgbClr val="FFFFFF"/>
                </a:solidFill>
                <a:latin typeface="Cambria"/>
                <a:ea typeface="Cambria"/>
                <a:cs typeface="Cambria"/>
              </a:defRPr>
            </a:pPr>
            <a:r>
              <a:rPr sz="3300" b="1" spc="200">
                <a:solidFill>
                  <a:srgbClr val="FFFFFF"/>
                </a:solidFill>
                <a:latin typeface="Cambria"/>
                <a:ea typeface="Cambria"/>
                <a:cs typeface="Cambria"/>
              </a:rPr>
              <a:t>Invoice PDF still fails</a:t>
            </a:r>
            <a:endParaRPr sz="1200"/>
          </a:p>
        </p:txBody>
      </p:sp>
      <p:sp>
        <p:nvSpPr>
          <p:cNvPr id="4" name="Text 2">
            <a:extLst xmlns:a="http://schemas.openxmlformats.org/drawingml/2006/main">
              <a:ext uri="{FF2B5EF4-FFF2-40B4-BE49-F238E27FC236}">
                <a16:creationId xmlns:a16="http://schemas.microsoft.com/office/drawing/2014/main" id="{5B488544-1181-4F62-96DF-78A18D384F3F}"/>
              </a:ext>
            </a:extLst>
          </p:cNvPr>
          <p:cNvSpPr>
            <a:spLocks xmlns:a="http://schemas.openxmlformats.org/drawingml/2006/main" noGrp="1"/>
          </p:cNvSpPr>
          <p:nvPr/>
        </p:nvSpPr>
        <p:spPr>
          <a:xfrm xmlns:a="http://schemas.openxmlformats.org/drawingml/2006/main">
            <a:off x="640080" y="777240"/>
            <a:ext cx="1024128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400" b="1">
                <a:solidFill>
                  <a:srgbClr val="FFFFFF"/>
                </a:solidFill>
                <a:latin typeface="Cambria"/>
                <a:ea typeface="Cambria"/>
                <a:cs typeface="Cambria"/>
              </a:rPr>
              <a:t>BUG-001 failed the live retest</a:t>
            </a:r>
            <a:endParaRPr sz="3400"/>
          </a:p>
        </p:txBody>
      </p:sp>
      <p:sp>
        <p:nvSpPr>
          <p:cNvPr id="5" name="Text 3">
            <a:extLst xmlns:a="http://schemas.openxmlformats.org/drawingml/2006/main">
              <a:ext uri="{FF2B5EF4-FFF2-40B4-BE49-F238E27FC236}">
                <a16:creationId xmlns:a16="http://schemas.microsoft.com/office/drawing/2014/main" id="{C5BC04DB-FD4A-4769-B1B4-5B965809E17A}"/>
              </a:ext>
            </a:extLst>
          </p:cNvPr>
          <p:cNvSpPr>
            <a:spLocks xmlns:a="http://schemas.openxmlformats.org/drawingml/2006/main" noGrp="1"/>
          </p:cNvSpPr>
          <p:nvPr/>
        </p:nvSpPr>
        <p:spPr>
          <a:xfrm xmlns:a="http://schemas.openxmlformats.org/drawingml/2006/main">
            <a:off x="640080" y="1463040"/>
            <a:ext cx="1024128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p xmlns:a="http://schemas.openxmlformats.org/drawingml/2006/main">
            <a:pPr marL="0" indent="0">
              <a:buNone/>
              <a:defRPr sz="1725" b="0">
                <a:solidFill>
                  <a:srgbClr val="BFD3DD"/>
                </a:solidFill>
                <a:latin typeface="Calibri"/>
                <a:ea typeface="Calibri"/>
                <a:cs typeface="Calibri"/>
              </a:defRPr>
            </a:pPr>
            <a:r>
              <a:rPr sz="1725" b="0">
                <a:solidFill>
                  <a:srgbClr val="BFD3DD"/>
                </a:solidFill>
                <a:latin typeface="Calibri"/>
                <a:ea typeface="Calibri"/>
                <a:cs typeface="Calibri"/>
              </a:rPr>
              <a:t>The live retest reproduced BUG-001. No invoice file downloaded.</a:t>
            </a:r>
            <a:endParaRPr sz="1500"/>
          </a:p>
        </p:txBody>
      </p:sp>
      <p:sp>
        <p:nvSpPr>
          <p:cNvPr id="6" name="Shape 4">
            <a:extLst xmlns:a="http://schemas.openxmlformats.org/drawingml/2006/main">
              <a:ext uri="{FF2B5EF4-FFF2-40B4-BE49-F238E27FC236}">
                <a16:creationId xmlns:a16="http://schemas.microsoft.com/office/drawing/2014/main" id="{81909978-27AC-437F-889C-0AF28E308AFD}"/>
              </a:ext>
            </a:extLst>
          </p:cNvPr>
          <p:cNvSpPr>
            <a:spLocks xmlns:a="http://schemas.openxmlformats.org/drawingml/2006/main" noGrp="1"/>
          </p:cNvSpPr>
          <p:nvPr/>
        </p:nvSpPr>
        <p:spPr>
          <a:xfrm xmlns:a="http://schemas.openxmlformats.org/drawingml/2006/main">
            <a:off x="640080" y="2057400"/>
            <a:ext cx="10881360" cy="877824"/>
          </a:xfrm>
          <a:prstGeom xmlns:a="http://schemas.openxmlformats.org/drawingml/2006/main" prst="roundRect">
            <a:avLst>
              <a:gd name="adj" fmla="val 8333"/>
            </a:avLst>
          </a:prstGeom>
          <a:solidFill xmlns:a="http://schemas.openxmlformats.org/drawingml/2006/main">
            <a:srgbClr val="FFFFFF">
              <a:alpha val="8000"/>
            </a:srgbClr>
          </a:solidFill>
          <a:ln xmlns:a="http://schemas.openxmlformats.org/drawingml/2006/main" w="12700">
            <a:solidFill>
              <a:srgbClr val="2A6F84"/>
            </a:solidFill>
            <a:prstDash val="solid"/>
          </a:ln>
        </p:spPr>
        <p:txBody>
          <a:bodyPr xmlns:a="http://schemas.openxmlformats.org/drawingml/2006/main"/>
          <a:lstStyle xmlns:a="http://schemas.openxmlformats.org/drawingml/2006/main"/>
          <a:p xmlns:a="http://schemas.openxmlformats.org/drawingml/2006/main">
            <a:endParaRPr/>
          </a:p>
        </p:txBody>
      </p:sp>
      <p:sp>
        <p:nvSpPr>
          <p:cNvPr id="7" name="Text 5">
            <a:extLst xmlns:a="http://schemas.openxmlformats.org/drawingml/2006/main">
              <a:ext uri="{FF2B5EF4-FFF2-40B4-BE49-F238E27FC236}">
                <a16:creationId xmlns:a16="http://schemas.microsoft.com/office/drawing/2014/main" id="{B6DD4F82-4436-4C23-AFD5-B3605691820C}"/>
              </a:ext>
            </a:extLst>
          </p:cNvPr>
          <p:cNvSpPr>
            <a:spLocks xmlns:a="http://schemas.openxmlformats.org/drawingml/2006/main" noGrp="1"/>
          </p:cNvSpPr>
          <p:nvPr/>
        </p:nvSpPr>
        <p:spPr>
          <a:xfrm xmlns:a="http://schemas.openxmlformats.org/drawingml/2006/main">
            <a:off x="914400" y="2167128"/>
            <a:ext cx="2651760" cy="6583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b="1">
                <a:solidFill>
                  <a:srgbClr val="CE9136"/>
                </a:solidFill>
                <a:latin typeface="Calibri"/>
                <a:ea typeface="Calibri"/>
                <a:cs typeface="Calibri"/>
              </a:rPr>
              <a:t>Observed result</a:t>
            </a:r>
            <a:endParaRPr sz="1400"/>
          </a:p>
        </p:txBody>
      </p:sp>
      <p:sp>
        <p:nvSpPr>
          <p:cNvPr id="8" name="Text 6">
            <a:extLst xmlns:a="http://schemas.openxmlformats.org/drawingml/2006/main">
              <a:ext uri="{FF2B5EF4-FFF2-40B4-BE49-F238E27FC236}">
                <a16:creationId xmlns:a16="http://schemas.microsoft.com/office/drawing/2014/main" id="{AC7B56FE-628D-4587-A105-3D0B6A900887}"/>
              </a:ext>
            </a:extLst>
          </p:cNvPr>
          <p:cNvSpPr>
            <a:spLocks xmlns:a="http://schemas.openxmlformats.org/drawingml/2006/main" noGrp="1"/>
          </p:cNvSpPr>
          <p:nvPr/>
        </p:nvSpPr>
        <p:spPr>
          <a:xfrm xmlns:a="http://schemas.openxmlformats.org/drawingml/2006/main">
            <a:off x="3657600" y="2167128"/>
            <a:ext cx="7635240" cy="658368"/>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p xmlns:a="http://schemas.openxmlformats.org/drawingml/2006/main">
            <a:pPr marL="0" indent="0">
              <a:buNone/>
              <a:defRPr sz="1575" b="0">
                <a:solidFill>
                  <a:srgbClr val="FFFFFF"/>
                </a:solidFill>
                <a:latin typeface="Calibri"/>
                <a:ea typeface="Calibri"/>
                <a:cs typeface="Calibri"/>
              </a:defRPr>
            </a:pPr>
            <a:r>
              <a:rPr sz="1575" b="0">
                <a:solidFill>
                  <a:srgbClr val="FFFFFF"/>
                </a:solidFill>
                <a:latin typeface="Calibri"/>
                <a:ea typeface="Calibri"/>
                <a:cs typeface="Calibri"/>
              </a:rPr>
              <a:t>Download produced no file and displayed an error.</a:t>
            </a:r>
            <a:endParaRPr sz="1250"/>
          </a:p>
        </p:txBody>
      </p:sp>
      <p:sp>
        <p:nvSpPr>
          <p:cNvPr id="9" name="Shape 7">
            <a:extLst xmlns:a="http://schemas.openxmlformats.org/drawingml/2006/main">
              <a:ext uri="{FF2B5EF4-FFF2-40B4-BE49-F238E27FC236}">
                <a16:creationId xmlns:a16="http://schemas.microsoft.com/office/drawing/2014/main" id="{9FB9FB28-4309-4295-A714-8BF1EEA8F368}"/>
              </a:ext>
            </a:extLst>
          </p:cNvPr>
          <p:cNvSpPr>
            <a:spLocks xmlns:a="http://schemas.openxmlformats.org/drawingml/2006/main" noGrp="1"/>
          </p:cNvSpPr>
          <p:nvPr/>
        </p:nvSpPr>
        <p:spPr>
          <a:xfrm xmlns:a="http://schemas.openxmlformats.org/drawingml/2006/main">
            <a:off x="640080" y="3090672"/>
            <a:ext cx="10881360" cy="877824"/>
          </a:xfrm>
          <a:prstGeom xmlns:a="http://schemas.openxmlformats.org/drawingml/2006/main" prst="roundRect">
            <a:avLst>
              <a:gd name="adj" fmla="val 8333"/>
            </a:avLst>
          </a:prstGeom>
          <a:solidFill xmlns:a="http://schemas.openxmlformats.org/drawingml/2006/main">
            <a:srgbClr val="FFFFFF">
              <a:alpha val="8000"/>
            </a:srgbClr>
          </a:solidFill>
          <a:ln xmlns:a="http://schemas.openxmlformats.org/drawingml/2006/main" w="12700">
            <a:solidFill>
              <a:srgbClr val="2A6F84"/>
            </a:solidFill>
            <a:prstDash val="solid"/>
          </a:ln>
        </p:spPr>
        <p:txBody>
          <a:bodyPr xmlns:a="http://schemas.openxmlformats.org/drawingml/2006/main"/>
          <a:lstStyle xmlns:a="http://schemas.openxmlformats.org/drawingml/2006/main"/>
          <a:p xmlns:a="http://schemas.openxmlformats.org/drawingml/2006/main">
            <a:endParaRPr/>
          </a:p>
        </p:txBody>
      </p:sp>
      <p:sp>
        <p:nvSpPr>
          <p:cNvPr id="10" name="Text 8">
            <a:extLst xmlns:a="http://schemas.openxmlformats.org/drawingml/2006/main">
              <a:ext uri="{FF2B5EF4-FFF2-40B4-BE49-F238E27FC236}">
                <a16:creationId xmlns:a16="http://schemas.microsoft.com/office/drawing/2014/main" id="{3050D0DF-3A88-4F94-9772-5BE61E8A4CB9}"/>
              </a:ext>
            </a:extLst>
          </p:cNvPr>
          <p:cNvSpPr>
            <a:spLocks xmlns:a="http://schemas.openxmlformats.org/drawingml/2006/main" noGrp="1"/>
          </p:cNvSpPr>
          <p:nvPr/>
        </p:nvSpPr>
        <p:spPr>
          <a:xfrm xmlns:a="http://schemas.openxmlformats.org/drawingml/2006/main">
            <a:off x="914400" y="3200400"/>
            <a:ext cx="2651760" cy="6583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b="1">
                <a:solidFill>
                  <a:srgbClr val="CE9136"/>
                </a:solidFill>
                <a:latin typeface="Calibri"/>
                <a:ea typeface="Calibri"/>
                <a:cs typeface="Calibri"/>
              </a:rPr>
              <a:t>Console evidence</a:t>
            </a:r>
            <a:endParaRPr sz="1400"/>
          </a:p>
        </p:txBody>
      </p:sp>
      <p:sp>
        <p:nvSpPr>
          <p:cNvPr id="11" name="Text 9">
            <a:extLst xmlns:a="http://schemas.openxmlformats.org/drawingml/2006/main">
              <a:ext uri="{FF2B5EF4-FFF2-40B4-BE49-F238E27FC236}">
                <a16:creationId xmlns:a16="http://schemas.microsoft.com/office/drawing/2014/main" id="{C0ABE549-04C0-414D-85B3-BF99F984B235}"/>
              </a:ext>
            </a:extLst>
          </p:cNvPr>
          <p:cNvSpPr>
            <a:spLocks xmlns:a="http://schemas.openxmlformats.org/drawingml/2006/main" noGrp="1"/>
          </p:cNvSpPr>
          <p:nvPr/>
        </p:nvSpPr>
        <p:spPr>
          <a:xfrm xmlns:a="http://schemas.openxmlformats.org/drawingml/2006/main">
            <a:off x="3657600" y="3200400"/>
            <a:ext cx="7635240" cy="658368"/>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p xmlns:a="http://schemas.openxmlformats.org/drawingml/2006/main">
            <a:pPr marL="0" indent="0">
              <a:buNone/>
              <a:defRPr sz="1575" b="0">
                <a:solidFill>
                  <a:srgbClr val="FFFFFF"/>
                </a:solidFill>
                <a:latin typeface="Calibri"/>
                <a:ea typeface="Calibri"/>
                <a:cs typeface="Calibri"/>
              </a:defRPr>
            </a:pPr>
            <a:r>
              <a:rPr sz="1575" b="0">
                <a:solidFill>
                  <a:srgbClr val="FFFFFF"/>
                </a:solidFill>
                <a:latin typeface="Calibri"/>
                <a:ea typeface="Calibri"/>
                <a:cs typeface="Calibri"/>
              </a:rPr>
              <a:t>Unsupported colour function "lab" in html2canvas.</a:t>
            </a:r>
            <a:endParaRPr sz="1250"/>
          </a:p>
        </p:txBody>
      </p:sp>
      <p:sp>
        <p:nvSpPr>
          <p:cNvPr id="12" name="Shape 10">
            <a:extLst xmlns:a="http://schemas.openxmlformats.org/drawingml/2006/main">
              <a:ext uri="{FF2B5EF4-FFF2-40B4-BE49-F238E27FC236}">
                <a16:creationId xmlns:a16="http://schemas.microsoft.com/office/drawing/2014/main" id="{A91BDAD1-5F1A-4C29-A823-FDC617DBBE96}"/>
              </a:ext>
            </a:extLst>
          </p:cNvPr>
          <p:cNvSpPr>
            <a:spLocks xmlns:a="http://schemas.openxmlformats.org/drawingml/2006/main" noGrp="1"/>
          </p:cNvSpPr>
          <p:nvPr/>
        </p:nvSpPr>
        <p:spPr>
          <a:xfrm xmlns:a="http://schemas.openxmlformats.org/drawingml/2006/main">
            <a:off x="640080" y="4123944"/>
            <a:ext cx="10881360" cy="877824"/>
          </a:xfrm>
          <a:prstGeom xmlns:a="http://schemas.openxmlformats.org/drawingml/2006/main" prst="roundRect">
            <a:avLst>
              <a:gd name="adj" fmla="val 8333"/>
            </a:avLst>
          </a:prstGeom>
          <a:solidFill xmlns:a="http://schemas.openxmlformats.org/drawingml/2006/main">
            <a:srgbClr val="FFFFFF">
              <a:alpha val="8000"/>
            </a:srgbClr>
          </a:solidFill>
          <a:ln xmlns:a="http://schemas.openxmlformats.org/drawingml/2006/main" w="12700">
            <a:solidFill>
              <a:srgbClr val="2A6F84"/>
            </a:solidFill>
            <a:prstDash val="solid"/>
          </a:ln>
        </p:spPr>
        <p:txBody>
          <a:bodyPr xmlns:a="http://schemas.openxmlformats.org/drawingml/2006/main"/>
          <a:lstStyle xmlns:a="http://schemas.openxmlformats.org/drawingml/2006/main"/>
          <a:p xmlns:a="http://schemas.openxmlformats.org/drawingml/2006/main">
            <a:endParaRPr/>
          </a:p>
        </p:txBody>
      </p:sp>
      <p:sp>
        <p:nvSpPr>
          <p:cNvPr id="13" name="Text 11">
            <a:extLst xmlns:a="http://schemas.openxmlformats.org/drawingml/2006/main">
              <a:ext uri="{FF2B5EF4-FFF2-40B4-BE49-F238E27FC236}">
                <a16:creationId xmlns:a16="http://schemas.microsoft.com/office/drawing/2014/main" id="{9BD2119B-47CE-4AB7-8BF6-4D7D73920584}"/>
              </a:ext>
            </a:extLst>
          </p:cNvPr>
          <p:cNvSpPr>
            <a:spLocks xmlns:a="http://schemas.openxmlformats.org/drawingml/2006/main" noGrp="1"/>
          </p:cNvSpPr>
          <p:nvPr/>
        </p:nvSpPr>
        <p:spPr>
          <a:xfrm xmlns:a="http://schemas.openxmlformats.org/drawingml/2006/main">
            <a:off x="914400" y="4233672"/>
            <a:ext cx="2651760" cy="6583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b="1">
                <a:solidFill>
                  <a:srgbClr val="CE9136"/>
                </a:solidFill>
                <a:latin typeface="Calibri"/>
                <a:ea typeface="Calibri"/>
                <a:cs typeface="Calibri"/>
              </a:rPr>
              <a:t>Impact</a:t>
            </a:r>
            <a:endParaRPr sz="1400"/>
          </a:p>
        </p:txBody>
      </p:sp>
      <p:sp>
        <p:nvSpPr>
          <p:cNvPr id="14" name="Text 12">
            <a:extLst xmlns:a="http://schemas.openxmlformats.org/drawingml/2006/main">
              <a:ext uri="{FF2B5EF4-FFF2-40B4-BE49-F238E27FC236}">
                <a16:creationId xmlns:a16="http://schemas.microsoft.com/office/drawing/2014/main" id="{95CCC2D6-117D-4C85-91E0-80B93877CBF4}"/>
              </a:ext>
            </a:extLst>
          </p:cNvPr>
          <p:cNvSpPr>
            <a:spLocks xmlns:a="http://schemas.openxmlformats.org/drawingml/2006/main" noGrp="1"/>
          </p:cNvSpPr>
          <p:nvPr/>
        </p:nvSpPr>
        <p:spPr>
          <a:xfrm xmlns:a="http://schemas.openxmlformats.org/drawingml/2006/main">
            <a:off x="3657600" y="4233672"/>
            <a:ext cx="7635240" cy="658368"/>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p xmlns:a="http://schemas.openxmlformats.org/drawingml/2006/main">
            <a:pPr marL="0" indent="0">
              <a:buNone/>
              <a:defRPr sz="1575" b="0">
                <a:solidFill>
                  <a:srgbClr val="FFFFFF"/>
                </a:solidFill>
                <a:latin typeface="Calibri"/>
                <a:ea typeface="Calibri"/>
                <a:cs typeface="Calibri"/>
              </a:defRPr>
            </a:pPr>
            <a:r>
              <a:rPr sz="1575" b="0">
                <a:solidFill>
                  <a:srgbClr val="FFFFFF"/>
                </a:solidFill>
                <a:latin typeface="Calibri"/>
                <a:ea typeface="Calibri"/>
                <a:cs typeface="Calibri"/>
              </a:rPr>
              <a:t>The customer cannot obtain the PDF. Its content check is blocked.</a:t>
            </a:r>
            <a:endParaRPr sz="1250"/>
          </a:p>
        </p:txBody>
      </p:sp>
      <p:sp>
        <p:nvSpPr>
          <p:cNvPr id="15" name="Shape 13">
            <a:extLst xmlns:a="http://schemas.openxmlformats.org/drawingml/2006/main">
              <a:ext uri="{FF2B5EF4-FFF2-40B4-BE49-F238E27FC236}">
                <a16:creationId xmlns:a16="http://schemas.microsoft.com/office/drawing/2014/main" id="{9ED98BE4-6CAF-45B5-BEED-A2581DBBC6EE}"/>
              </a:ext>
            </a:extLst>
          </p:cNvPr>
          <p:cNvSpPr>
            <a:spLocks xmlns:a="http://schemas.openxmlformats.org/drawingml/2006/main" noGrp="1"/>
          </p:cNvSpPr>
          <p:nvPr/>
        </p:nvSpPr>
        <p:spPr>
          <a:xfrm xmlns:a="http://schemas.openxmlformats.org/drawingml/2006/main">
            <a:off x="640080" y="5157216"/>
            <a:ext cx="10881360" cy="877824"/>
          </a:xfrm>
          <a:prstGeom xmlns:a="http://schemas.openxmlformats.org/drawingml/2006/main" prst="roundRect">
            <a:avLst>
              <a:gd name="adj" fmla="val 8333"/>
            </a:avLst>
          </a:prstGeom>
          <a:solidFill xmlns:a="http://schemas.openxmlformats.org/drawingml/2006/main">
            <a:srgbClr val="FFFFFF">
              <a:alpha val="8000"/>
            </a:srgbClr>
          </a:solidFill>
          <a:ln xmlns:a="http://schemas.openxmlformats.org/drawingml/2006/main" w="12700">
            <a:solidFill>
              <a:srgbClr val="2A6F84"/>
            </a:solidFill>
            <a:prstDash val="solid"/>
          </a:ln>
        </p:spPr>
        <p:txBody>
          <a:bodyPr xmlns:a="http://schemas.openxmlformats.org/drawingml/2006/main"/>
          <a:lstStyle xmlns:a="http://schemas.openxmlformats.org/drawingml/2006/main"/>
          <a:p xmlns:a="http://schemas.openxmlformats.org/drawingml/2006/main">
            <a:endParaRPr/>
          </a:p>
        </p:txBody>
      </p:sp>
      <p:sp>
        <p:nvSpPr>
          <p:cNvPr id="16" name="Text 14">
            <a:extLst xmlns:a="http://schemas.openxmlformats.org/drawingml/2006/main">
              <a:ext uri="{FF2B5EF4-FFF2-40B4-BE49-F238E27FC236}">
                <a16:creationId xmlns:a16="http://schemas.microsoft.com/office/drawing/2014/main" id="{5E6745D0-2E95-4438-A167-E17B7CF3A8D3}"/>
              </a:ext>
            </a:extLst>
          </p:cNvPr>
          <p:cNvSpPr>
            <a:spLocks xmlns:a="http://schemas.openxmlformats.org/drawingml/2006/main" noGrp="1"/>
          </p:cNvSpPr>
          <p:nvPr/>
        </p:nvSpPr>
        <p:spPr>
          <a:xfrm xmlns:a="http://schemas.openxmlformats.org/drawingml/2006/main">
            <a:off x="914400" y="5266944"/>
            <a:ext cx="2651760" cy="6583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b="1">
                <a:solidFill>
                  <a:srgbClr val="CE9136"/>
                </a:solidFill>
                <a:latin typeface="Calibri"/>
                <a:ea typeface="Calibri"/>
                <a:cs typeface="Calibri"/>
              </a:rPr>
              <a:t>QA disposition</a:t>
            </a:r>
            <a:endParaRPr sz="1400"/>
          </a:p>
        </p:txBody>
      </p:sp>
      <p:sp>
        <p:nvSpPr>
          <p:cNvPr id="17" name="Text 15">
            <a:extLst xmlns:a="http://schemas.openxmlformats.org/drawingml/2006/main">
              <a:ext uri="{FF2B5EF4-FFF2-40B4-BE49-F238E27FC236}">
                <a16:creationId xmlns:a16="http://schemas.microsoft.com/office/drawing/2014/main" id="{E08630FA-D9EC-4F05-8386-15E498C6B2A6}"/>
              </a:ext>
            </a:extLst>
          </p:cNvPr>
          <p:cNvSpPr>
            <a:spLocks xmlns:a="http://schemas.openxmlformats.org/drawingml/2006/main" noGrp="1"/>
          </p:cNvSpPr>
          <p:nvPr/>
        </p:nvSpPr>
        <p:spPr>
          <a:xfrm xmlns:a="http://schemas.openxmlformats.org/drawingml/2006/main">
            <a:off x="3657600" y="5266944"/>
            <a:ext cx="7635240" cy="658368"/>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p xmlns:a="http://schemas.openxmlformats.org/drawingml/2006/main">
            <a:pPr marL="0" indent="0">
              <a:buNone/>
              <a:defRPr sz="1575" b="0">
                <a:solidFill>
                  <a:srgbClr val="FFFFFF"/>
                </a:solidFill>
                <a:latin typeface="Calibri"/>
                <a:ea typeface="Calibri"/>
                <a:cs typeface="Calibri"/>
              </a:defRPr>
            </a:pPr>
            <a:r>
              <a:rPr sz="1575" b="0">
                <a:solidFill>
                  <a:srgbClr val="FFFFFF"/>
                </a:solidFill>
                <a:latin typeface="Calibri"/>
                <a:ea typeface="Calibri"/>
                <a:cs typeface="Calibri"/>
              </a:rPr>
              <a:t>Keep BUG-001 open. Retest download, readability and content after a fix.</a:t>
            </a:r>
            <a:endParaRPr sz="1250"/>
          </a:p>
        </p:txBody>
      </p:sp>
    </p:spTree>
    <p:extLst>
      <p:ext uri="{BB962C8B-B14F-4D97-AF65-F5344CB8AC3E}">
        <p14:creationId xmlns:p14="http://schemas.microsoft.com/office/powerpoint/2010/main" val="648699478"/>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A6C2081A-6CF8-44D7-8277-F135F3D81BF4}"/>
              </a:ext>
            </a:extLst>
          </p:cNvPr>
          <p:cNvSpPr>
            <a:spLocks xmlns:a="http://schemas.openxmlformats.org/drawingml/2006/main" noGrp="1"/>
          </p:cNvSpPr>
          <p:nvPr/>
        </p:nvSpPr>
        <p:spPr>
          <a:xfrm xmlns:a="http://schemas.openxmlformats.org/drawingml/2006/main">
            <a:off x="640080" y="384048"/>
            <a:ext cx="82296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p xmlns:a="http://schemas.openxmlformats.org/drawingml/2006/main">
            <a:pPr marL="0" indent="0">
              <a:buNone/>
              <a:defRPr sz="1200" b="1">
                <a:solidFill>
                  <a:srgbClr val="CE9136"/>
                </a:solidFill>
                <a:latin typeface="Calibri"/>
                <a:ea typeface="Calibri"/>
                <a:cs typeface="Calibri"/>
              </a:defRPr>
            </a:pPr>
            <a:r>
              <a:rPr sz="1200" b="1" spc="200">
                <a:solidFill>
                  <a:srgbClr val="CE9136"/>
                </a:solidFill>
                <a:latin typeface="Calibri"/>
                <a:ea typeface="Calibri"/>
                <a:cs typeface="Calibri"/>
              </a:rPr>
              <a:t>INPUT VALIDATION</a:t>
            </a:r>
            <a:endParaRPr sz="1200"/>
          </a:p>
        </p:txBody>
      </p:sp>
      <p:sp>
        <p:nvSpPr>
          <p:cNvPr id="3" name="Text 1">
            <a:extLst xmlns:a="http://schemas.openxmlformats.org/drawingml/2006/main">
              <a:ext uri="{FF2B5EF4-FFF2-40B4-BE49-F238E27FC236}">
                <a16:creationId xmlns:a16="http://schemas.microsoft.com/office/drawing/2014/main" id="{A4A80473-8CDC-4ABF-A17B-7808D61C67AF}"/>
              </a:ext>
            </a:extLst>
          </p:cNvPr>
          <p:cNvSpPr>
            <a:spLocks xmlns:a="http://schemas.openxmlformats.org/drawingml/2006/main" noGrp="1"/>
          </p:cNvSpPr>
          <p:nvPr/>
        </p:nvSpPr>
        <p:spPr>
          <a:xfrm xmlns:a="http://schemas.openxmlformats.org/drawingml/2006/main">
            <a:off x="640080" y="658368"/>
            <a:ext cx="1088136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p xmlns:a="http://schemas.openxmlformats.org/drawingml/2006/main">
            <a:pPr marL="0" indent="0">
              <a:buNone/>
              <a:defRPr sz="3150" b="1">
                <a:solidFill>
                  <a:srgbClr val="0E2A38"/>
                </a:solidFill>
                <a:latin typeface="Cambria"/>
                <a:ea typeface="Cambria"/>
                <a:cs typeface="Cambria"/>
              </a:defRPr>
            </a:pPr>
            <a:r>
              <a:rPr sz="3150" b="1">
                <a:solidFill>
                  <a:srgbClr val="0E2A38"/>
                </a:solidFill>
                <a:latin typeface="Cambria"/>
                <a:ea typeface="Cambria"/>
                <a:cs typeface="Cambria"/>
              </a:rPr>
              <a:t>Invalid inputs are only partly rejected</a:t>
            </a:r>
            <a:endParaRPr sz="3400"/>
          </a:p>
        </p:txBody>
      </p:sp>
      <p:sp>
        <p:nvSpPr>
          <p:cNvPr id="28" name="Text 26">
            <a:extLst xmlns:a="http://schemas.openxmlformats.org/drawingml/2006/main">
              <a:ext uri="{FF2B5EF4-FFF2-40B4-BE49-F238E27FC236}">
                <a16:creationId xmlns:a16="http://schemas.microsoft.com/office/drawing/2014/main" id="{4907163B-D5B5-4847-97D1-18A9468C0455}"/>
              </a:ext>
            </a:extLst>
          </p:cNvPr>
          <p:cNvSpPr>
            <a:spLocks xmlns:a="http://schemas.openxmlformats.org/drawingml/2006/main" noGrp="1"/>
          </p:cNvSpPr>
          <p:nvPr/>
        </p:nvSpPr>
        <p:spPr>
          <a:xfrm xmlns:a="http://schemas.openxmlformats.org/drawingml/2006/main">
            <a:off x="640080" y="6053328"/>
            <a:ext cx="100584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p xmlns:a="http://schemas.openxmlformats.org/drawingml/2006/main">
            <a:pPr marL="0" indent="0">
              <a:buNone/>
              <a:defRPr sz="1425" b="0">
                <a:solidFill>
                  <a:srgbClr val="5A7383"/>
                </a:solidFill>
                <a:latin typeface="Calibri"/>
                <a:ea typeface="Calibri"/>
                <a:cs typeface="Calibri"/>
              </a:defRPr>
            </a:pPr>
            <a:r>
              <a:rPr sz="1425" b="0" i="1">
                <a:solidFill>
                  <a:srgbClr val="5A7383"/>
                </a:solidFill>
                <a:latin typeface="Calibri"/>
                <a:ea typeface="Calibri"/>
                <a:cs typeface="Calibri"/>
              </a:rPr>
              <a:t>Three negative cases: one pass and two fail. Payment success is simulated.</a:t>
            </a:r>
            <a:endParaRPr sz="1050"/>
          </a:p>
        </p:txBody>
      </p:sp>
      <p:graphicFrame>
        <p:nvGraphicFramePr>
          <p:cNvPr id="33" name=""/>
          <p:cNvGraphicFramePr/>
          <p:nvPr/>
        </p:nvGraphicFramePr>
        <p:xfrm>
          <a:off xmlns:a="http://schemas.openxmlformats.org/drawingml/2006/main" x="640080" y="2000250"/>
          <a:ext xmlns:a="http://schemas.openxmlformats.org/drawingml/2006/main" cx="10858500" cy="3143250"/>
        </p:xfrm>
        <a:graphic xmlns:a="http://schemas.openxmlformats.org/drawingml/2006/main">
          <a:graphicData uri="http://schemas.openxmlformats.org/drawingml/2006/table">
            <a:tbl>
              <a:tblPr/>
              <a:tblGrid>
                <a:gridCol w="2952750"/>
                <a:gridCol w="2571750"/>
                <a:gridCol w="4000500"/>
                <a:gridCol w="1333500"/>
              </a:tblGrid>
              <a:tr h="785813">
                <a:tc>
                  <a:txBody>
                    <a:bodyPr>
                      <a:noAutofit/>
                    </a:bodyPr>
                    <a:lstStyle/>
                    <a:p>
                      <a:r>
                        <a:rPr sz="1650" b="1">
                          <a:solidFill>
                            <a:srgbClr val="FFFFFF"/>
                          </a:solidFill>
                          <a:latin typeface="Calibri"/>
                          <a:ea typeface="Calibri"/>
                          <a:cs typeface="Calibri"/>
                        </a:rPr>
                        <a:t>Test</a:t>
                      </a:r>
                    </a:p>
                  </a:txBody>
                  <a:tcPr marL="91440" marR="91440" marT="45720" marB="45720">
                    <a:solidFill>
                      <a:srgbClr val="0E2A38"/>
                    </a:solidFill>
                  </a:tcPr>
                </a:tc>
                <a:tc>
                  <a:txBody>
                    <a:bodyPr>
                      <a:noAutofit/>
                    </a:bodyPr>
                    <a:lstStyle/>
                    <a:p>
                      <a:r>
                        <a:rPr sz="1650" b="1">
                          <a:solidFill>
                            <a:srgbClr val="FFFFFF"/>
                          </a:solidFill>
                          <a:latin typeface="Calibri"/>
                          <a:ea typeface="Calibri"/>
                          <a:cs typeface="Calibri"/>
                        </a:rPr>
                        <a:t>Expected</a:t>
                      </a:r>
                    </a:p>
                  </a:txBody>
                  <a:tcPr marL="91440" marR="91440" marT="45720" marB="45720">
                    <a:solidFill>
                      <a:srgbClr val="0E2A38"/>
                    </a:solidFill>
                  </a:tcPr>
                </a:tc>
                <a:tc>
                  <a:txBody>
                    <a:bodyPr>
                      <a:noAutofit/>
                    </a:bodyPr>
                    <a:lstStyle/>
                    <a:p>
                      <a:r>
                        <a:rPr sz="1650" b="1">
                          <a:solidFill>
                            <a:srgbClr val="FFFFFF"/>
                          </a:solidFill>
                          <a:latin typeface="Calibri"/>
                          <a:ea typeface="Calibri"/>
                          <a:cs typeface="Calibri"/>
                        </a:rPr>
                        <a:t>Observed</a:t>
                      </a:r>
                    </a:p>
                  </a:txBody>
                  <a:tcPr marL="91440" marR="91440" marT="45720" marB="45720">
                    <a:solidFill>
                      <a:srgbClr val="0E2A38"/>
                    </a:solidFill>
                  </a:tcPr>
                </a:tc>
                <a:tc>
                  <a:txBody>
                    <a:bodyPr>
                      <a:noAutofit/>
                    </a:bodyPr>
                    <a:lstStyle/>
                    <a:p>
                      <a:r>
                        <a:rPr sz="1650" b="1">
                          <a:solidFill>
                            <a:srgbClr val="FFFFFF"/>
                          </a:solidFill>
                          <a:latin typeface="Calibri"/>
                          <a:ea typeface="Calibri"/>
                          <a:cs typeface="Calibri"/>
                        </a:rPr>
                        <a:t>Result</a:t>
                      </a:r>
                    </a:p>
                  </a:txBody>
                  <a:tcPr marL="91440" marR="91440" marT="45720" marB="45720">
                    <a:solidFill>
                      <a:srgbClr val="0E2A38"/>
                    </a:solidFill>
                  </a:tcPr>
                </a:tc>
              </a:tr>
              <a:tr h="785813">
                <a:tc>
                  <a:txBody>
                    <a:bodyPr>
                      <a:noAutofit/>
                    </a:bodyPr>
                    <a:lstStyle/>
                    <a:p>
                      <a:r>
                        <a:rPr sz="1650" b="0">
                          <a:solidFill>
                            <a:srgbClr val="0E2A38"/>
                          </a:solidFill>
                          <a:latin typeface="Calibri"/>
                          <a:ea typeface="Calibri"/>
                          <a:cs typeface="Calibri"/>
                        </a:rPr>
                        <a:t>Empty card fields</a:t>
                      </a:r>
                    </a:p>
                  </a:txBody>
                  <a:tcPr marL="91440" marR="91440" marT="45720" marB="45720">
                    <a:solidFill>
                      <a:srgbClr val="F3F6F8"/>
                    </a:solidFill>
                  </a:tcPr>
                </a:tc>
                <a:tc>
                  <a:txBody>
                    <a:bodyPr>
                      <a:noAutofit/>
                    </a:bodyPr>
                    <a:lstStyle/>
                    <a:p>
                      <a:r>
                        <a:rPr sz="1650" b="0">
                          <a:solidFill>
                            <a:srgbClr val="0E2A38"/>
                          </a:solidFill>
                          <a:latin typeface="Calibri"/>
                          <a:ea typeface="Calibri"/>
                          <a:cs typeface="Calibri"/>
                        </a:rPr>
                        <a:t>Reject submission</a:t>
                      </a:r>
                    </a:p>
                  </a:txBody>
                  <a:tcPr marL="91440" marR="91440" marT="45720" marB="45720">
                    <a:solidFill>
                      <a:srgbClr val="F3F6F8"/>
                    </a:solidFill>
                  </a:tcPr>
                </a:tc>
                <a:tc>
                  <a:txBody>
                    <a:bodyPr>
                      <a:noAutofit/>
                    </a:bodyPr>
                    <a:lstStyle/>
                    <a:p>
                      <a:r>
                        <a:rPr sz="1650" b="0">
                          <a:solidFill>
                            <a:srgbClr val="0E2A38"/>
                          </a:solidFill>
                          <a:latin typeface="Calibri"/>
                          <a:ea typeface="Calibri"/>
                          <a:cs typeface="Calibri"/>
                        </a:rPr>
                        <a:t>Required-field message</a:t>
                      </a:r>
                    </a:p>
                  </a:txBody>
                  <a:tcPr marL="91440" marR="91440" marT="45720" marB="45720">
                    <a:solidFill>
                      <a:srgbClr val="F3F6F8"/>
                    </a:solidFill>
                  </a:tcPr>
                </a:tc>
                <a:tc>
                  <a:txBody>
                    <a:bodyPr>
                      <a:noAutofit/>
                    </a:bodyPr>
                    <a:lstStyle/>
                    <a:p>
                      <a:r>
                        <a:rPr sz="1650" b="0">
                          <a:solidFill>
                            <a:srgbClr val="0E2A38"/>
                          </a:solidFill>
                          <a:latin typeface="Calibri"/>
                          <a:ea typeface="Calibri"/>
                          <a:cs typeface="Calibri"/>
                        </a:rPr>
                        <a:t>Pass</a:t>
                      </a:r>
                    </a:p>
                  </a:txBody>
                  <a:tcPr marL="91440" marR="91440" marT="45720" marB="45720">
                    <a:solidFill>
                      <a:srgbClr val="F3F6F8"/>
                    </a:solidFill>
                  </a:tcPr>
                </a:tc>
              </a:tr>
              <a:tr h="785813">
                <a:tc>
                  <a:txBody>
                    <a:bodyPr>
                      <a:noAutofit/>
                    </a:bodyPr>
                    <a:lstStyle/>
                    <a:p>
                      <a:r>
                        <a:rPr sz="1650" b="0">
                          <a:solidFill>
                            <a:srgbClr val="0E2A38"/>
                          </a:solidFill>
                          <a:latin typeface="Calibri"/>
                          <a:ea typeface="Calibri"/>
                          <a:cs typeface="Calibri"/>
                        </a:rPr>
                        <a:t>Malformed card details</a:t>
                      </a:r>
                    </a:p>
                  </a:txBody>
                  <a:tcPr marL="91440" marR="91440" marT="45720" marB="45720">
                    <a:solidFill>
                      <a:srgbClr val="FFFFFF"/>
                    </a:solidFill>
                  </a:tcPr>
                </a:tc>
                <a:tc>
                  <a:txBody>
                    <a:bodyPr>
                      <a:noAutofit/>
                    </a:bodyPr>
                    <a:lstStyle/>
                    <a:p>
                      <a:r>
                        <a:rPr sz="1650" b="0">
                          <a:solidFill>
                            <a:srgbClr val="0E2A38"/>
                          </a:solidFill>
                          <a:latin typeface="Calibri"/>
                          <a:ea typeface="Calibri"/>
                          <a:cs typeface="Calibri"/>
                        </a:rPr>
                        <a:t>Reject invalid values</a:t>
                      </a:r>
                    </a:p>
                  </a:txBody>
                  <a:tcPr marL="91440" marR="91440" marT="45720" marB="45720">
                    <a:solidFill>
                      <a:srgbClr val="FFFFFF"/>
                    </a:solidFill>
                  </a:tcPr>
                </a:tc>
                <a:tc>
                  <a:txBody>
                    <a:bodyPr>
                      <a:noAutofit/>
                    </a:bodyPr>
                    <a:lstStyle/>
                    <a:p>
                      <a:r>
                        <a:rPr sz="1650" b="0">
                          <a:solidFill>
                            <a:srgbClr val="0E2A38"/>
                          </a:solidFill>
                          <a:latin typeface="Calibri"/>
                          <a:ea typeface="Calibri"/>
                          <a:cs typeface="Calibri"/>
                        </a:rPr>
                        <a:t>Simulated success</a:t>
                      </a:r>
                    </a:p>
                  </a:txBody>
                  <a:tcPr marL="91440" marR="91440" marT="45720" marB="45720">
                    <a:solidFill>
                      <a:srgbClr val="FFFFFF"/>
                    </a:solidFill>
                  </a:tcPr>
                </a:tc>
                <a:tc>
                  <a:txBody>
                    <a:bodyPr>
                      <a:noAutofit/>
                    </a:bodyPr>
                    <a:lstStyle/>
                    <a:p>
                      <a:r>
                        <a:rPr sz="1650" b="0">
                          <a:solidFill>
                            <a:srgbClr val="0E2A38"/>
                          </a:solidFill>
                          <a:latin typeface="Calibri"/>
                          <a:ea typeface="Calibri"/>
                          <a:cs typeface="Calibri"/>
                        </a:rPr>
                        <a:t>Fail</a:t>
                      </a:r>
                    </a:p>
                  </a:txBody>
                  <a:tcPr marL="91440" marR="91440" marT="45720" marB="45720">
                    <a:solidFill>
                      <a:srgbClr val="FFFFFF"/>
                    </a:solidFill>
                  </a:tcPr>
                </a:tc>
              </a:tr>
              <a:tr h="785813">
                <a:tc>
                  <a:txBody>
                    <a:bodyPr>
                      <a:noAutofit/>
                    </a:bodyPr>
                    <a:lstStyle/>
                    <a:p>
                      <a:r>
                        <a:rPr sz="1650" b="0">
                          <a:solidFill>
                            <a:srgbClr val="0E2A38"/>
                          </a:solidFill>
                          <a:latin typeface="Calibri"/>
                          <a:ea typeface="Calibri"/>
                          <a:cs typeface="Calibri"/>
                        </a:rPr>
                        <a:t>Past tour date</a:t>
                      </a:r>
                    </a:p>
                  </a:txBody>
                  <a:tcPr marL="91440" marR="91440" marT="45720" marB="45720">
                    <a:solidFill>
                      <a:srgbClr val="F3F6F8"/>
                    </a:solidFill>
                  </a:tcPr>
                </a:tc>
                <a:tc>
                  <a:txBody>
                    <a:bodyPr>
                      <a:noAutofit/>
                    </a:bodyPr>
                    <a:lstStyle/>
                    <a:p>
                      <a:r>
                        <a:rPr sz="1650" b="0">
                          <a:solidFill>
                            <a:srgbClr val="0E2A38"/>
                          </a:solidFill>
                          <a:latin typeface="Calibri"/>
                          <a:ea typeface="Calibri"/>
                          <a:cs typeface="Calibri"/>
                        </a:rPr>
                        <a:t>Reject booking</a:t>
                      </a:r>
                    </a:p>
                  </a:txBody>
                  <a:tcPr marL="91440" marR="91440" marT="45720" marB="45720">
                    <a:solidFill>
                      <a:srgbClr val="F3F6F8"/>
                    </a:solidFill>
                  </a:tcPr>
                </a:tc>
                <a:tc>
                  <a:txBody>
                    <a:bodyPr>
                      <a:noAutofit/>
                    </a:bodyPr>
                    <a:lstStyle/>
                    <a:p>
                      <a:r>
                        <a:rPr sz="1650" b="0">
                          <a:solidFill>
                            <a:srgbClr val="0E2A38"/>
                          </a:solidFill>
                          <a:latin typeface="Calibri"/>
                          <a:ea typeface="Calibri"/>
                          <a:cs typeface="Calibri"/>
                        </a:rPr>
                        <a:t>Proceeds to checkout</a:t>
                      </a:r>
                    </a:p>
                  </a:txBody>
                  <a:tcPr marL="91440" marR="91440" marT="45720" marB="45720">
                    <a:solidFill>
                      <a:srgbClr val="F3F6F8"/>
                    </a:solidFill>
                  </a:tcPr>
                </a:tc>
                <a:tc>
                  <a:txBody>
                    <a:bodyPr>
                      <a:noAutofit/>
                    </a:bodyPr>
                    <a:lstStyle/>
                    <a:p>
                      <a:r>
                        <a:rPr sz="1650" b="0">
                          <a:solidFill>
                            <a:srgbClr val="0E2A38"/>
                          </a:solidFill>
                          <a:latin typeface="Calibri"/>
                          <a:ea typeface="Calibri"/>
                          <a:cs typeface="Calibri"/>
                        </a:rPr>
                        <a:t>Fail</a:t>
                      </a:r>
                    </a:p>
                  </a:txBody>
                  <a:tcPr marL="91440" marR="91440" marT="45720" marB="45720">
                    <a:solidFill>
                      <a:srgbClr val="F3F6F8"/>
                    </a:solidFill>
                  </a:tcPr>
                </a:tc>
              </a:tr>
            </a:tbl>
          </a:graphicData>
        </a:graphic>
      </p:graphicFrame>
    </p:spTree>
    <p:extLst>
      <p:ext uri="{BB962C8B-B14F-4D97-AF65-F5344CB8AC3E}">
        <p14:creationId xmlns:p14="http://schemas.microsoft.com/office/powerpoint/2010/main" val="1072708425"/>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02E13056-F155-4E0C-A953-101C900BDA67}"/>
              </a:ext>
            </a:extLst>
          </p:cNvPr>
          <p:cNvSpPr>
            <a:spLocks xmlns:a="http://schemas.openxmlformats.org/drawingml/2006/main" noGrp="1"/>
          </p:cNvSpPr>
          <p:nvPr/>
        </p:nvSpPr>
        <p:spPr>
          <a:xfrm xmlns:a="http://schemas.openxmlformats.org/drawingml/2006/main">
            <a:off x="640080" y="384048"/>
            <a:ext cx="82296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p xmlns:a="http://schemas.openxmlformats.org/drawingml/2006/main">
            <a:pPr marL="0" indent="0">
              <a:buNone/>
              <a:defRPr sz="1200" b="1">
                <a:solidFill>
                  <a:srgbClr val="CE9136"/>
                </a:solidFill>
                <a:latin typeface="Calibri"/>
                <a:ea typeface="Calibri"/>
                <a:cs typeface="Calibri"/>
              </a:defRPr>
            </a:pPr>
            <a:r>
              <a:rPr sz="1200" b="1" spc="200">
                <a:solidFill>
                  <a:srgbClr val="CE9136"/>
                </a:solidFill>
                <a:latin typeface="Calibri"/>
                <a:ea typeface="Calibri"/>
                <a:cs typeface="Calibri"/>
              </a:rPr>
              <a:t>ADMIN AND SETUP</a:t>
            </a:r>
            <a:endParaRPr sz="1200"/>
          </a:p>
        </p:txBody>
      </p:sp>
      <p:sp>
        <p:nvSpPr>
          <p:cNvPr id="3" name="Text 1">
            <a:extLst xmlns:a="http://schemas.openxmlformats.org/drawingml/2006/main">
              <a:ext uri="{FF2B5EF4-FFF2-40B4-BE49-F238E27FC236}">
                <a16:creationId xmlns:a16="http://schemas.microsoft.com/office/drawing/2014/main" id="{5C2964ED-6D04-4A9D-8335-91F03AACA7A0}"/>
              </a:ext>
            </a:extLst>
          </p:cNvPr>
          <p:cNvSpPr>
            <a:spLocks xmlns:a="http://schemas.openxmlformats.org/drawingml/2006/main" noGrp="1"/>
          </p:cNvSpPr>
          <p:nvPr/>
        </p:nvSpPr>
        <p:spPr>
          <a:xfrm xmlns:a="http://schemas.openxmlformats.org/drawingml/2006/main">
            <a:off x="640080" y="658368"/>
            <a:ext cx="1088136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p xmlns:a="http://schemas.openxmlformats.org/drawingml/2006/main">
            <a:pPr marL="0" indent="0">
              <a:buNone/>
              <a:defRPr sz="3150" b="1">
                <a:solidFill>
                  <a:srgbClr val="0E2A38"/>
                </a:solidFill>
                <a:latin typeface="Cambria"/>
                <a:ea typeface="Cambria"/>
                <a:cs typeface="Cambria"/>
              </a:defRPr>
            </a:pPr>
            <a:r>
              <a:rPr sz="3150" b="1">
                <a:solidFill>
                  <a:srgbClr val="0E2A38"/>
                </a:solidFill>
                <a:latin typeface="Cambria"/>
                <a:ea typeface="Cambria"/>
                <a:cs typeface="Cambria"/>
              </a:rPr>
              <a:t>Other findings affecting verification</a:t>
            </a:r>
            <a:endParaRPr sz="3400"/>
          </a:p>
        </p:txBody>
      </p:sp>
      <p:graphicFrame>
        <p:nvGraphicFramePr>
          <p:cNvPr id="7" name=""/>
          <p:cNvGraphicFramePr/>
          <p:nvPr/>
        </p:nvGraphicFramePr>
        <p:xfrm>
          <a:off xmlns:a="http://schemas.openxmlformats.org/drawingml/2006/main" x="640080" y="1952625"/>
          <a:ext xmlns:a="http://schemas.openxmlformats.org/drawingml/2006/main" cx="10858500" cy="3524250"/>
        </p:xfrm>
        <a:graphic xmlns:a="http://schemas.openxmlformats.org/drawingml/2006/main">
          <a:graphicData uri="http://schemas.openxmlformats.org/drawingml/2006/table">
            <a:tbl>
              <a:tblPr/>
              <a:tblGrid>
                <a:gridCol w="2381250"/>
                <a:gridCol w="4762500"/>
                <a:gridCol w="3714750"/>
              </a:tblGrid>
              <a:tr h="881063">
                <a:tc>
                  <a:txBody>
                    <a:bodyPr>
                      <a:noAutofit/>
                    </a:bodyPr>
                    <a:lstStyle/>
                    <a:p>
                      <a:r>
                        <a:rPr sz="1650" b="1">
                          <a:solidFill>
                            <a:srgbClr val="FFFFFF"/>
                          </a:solidFill>
                          <a:latin typeface="Calibri"/>
                          <a:ea typeface="Calibri"/>
                          <a:cs typeface="Calibri"/>
                        </a:rPr>
                        <a:t>Area</a:t>
                      </a:r>
                    </a:p>
                  </a:txBody>
                  <a:tcPr marL="91440" marR="91440" marT="45720" marB="45720">
                    <a:solidFill>
                      <a:srgbClr val="0E2A38"/>
                    </a:solidFill>
                  </a:tcPr>
                </a:tc>
                <a:tc>
                  <a:txBody>
                    <a:bodyPr>
                      <a:noAutofit/>
                    </a:bodyPr>
                    <a:lstStyle/>
                    <a:p>
                      <a:r>
                        <a:rPr sz="1650" b="1">
                          <a:solidFill>
                            <a:srgbClr val="FFFFFF"/>
                          </a:solidFill>
                          <a:latin typeface="Calibri"/>
                          <a:ea typeface="Calibri"/>
                          <a:cs typeface="Calibri"/>
                        </a:rPr>
                        <a:t>Observed result</a:t>
                      </a:r>
                    </a:p>
                  </a:txBody>
                  <a:tcPr marL="91440" marR="91440" marT="45720" marB="45720">
                    <a:solidFill>
                      <a:srgbClr val="0E2A38"/>
                    </a:solidFill>
                  </a:tcPr>
                </a:tc>
                <a:tc>
                  <a:txBody>
                    <a:bodyPr>
                      <a:noAutofit/>
                    </a:bodyPr>
                    <a:lstStyle/>
                    <a:p>
                      <a:r>
                        <a:rPr sz="1650" b="1">
                          <a:solidFill>
                            <a:srgbClr val="FFFFFF"/>
                          </a:solidFill>
                          <a:latin typeface="Calibri"/>
                          <a:ea typeface="Calibri"/>
                          <a:cs typeface="Calibri"/>
                        </a:rPr>
                        <a:t>QA conclusion</a:t>
                      </a:r>
                    </a:p>
                  </a:txBody>
                  <a:tcPr marL="91440" marR="91440" marT="45720" marB="45720">
                    <a:solidFill>
                      <a:srgbClr val="0E2A38"/>
                    </a:solidFill>
                  </a:tcPr>
                </a:tc>
              </a:tr>
              <a:tr h="881063">
                <a:tc>
                  <a:txBody>
                    <a:bodyPr>
                      <a:noAutofit/>
                    </a:bodyPr>
                    <a:lstStyle/>
                    <a:p>
                      <a:r>
                        <a:rPr sz="1650" b="0">
                          <a:solidFill>
                            <a:srgbClr val="0E2A38"/>
                          </a:solidFill>
                          <a:latin typeface="Calibri"/>
                          <a:ea typeface="Calibri"/>
                          <a:cs typeface="Calibri"/>
                        </a:rPr>
                        <a:t>Windows installation</a:t>
                      </a:r>
                    </a:p>
                  </a:txBody>
                  <a:tcPr marL="91440" marR="91440" marT="45720" marB="45720">
                    <a:solidFill>
                      <a:srgbClr val="F3F6F8"/>
                    </a:solidFill>
                  </a:tcPr>
                </a:tc>
                <a:tc>
                  <a:txBody>
                    <a:bodyPr>
                      <a:noAutofit/>
                    </a:bodyPr>
                    <a:lstStyle/>
                    <a:p>
                      <a:r>
                        <a:rPr sz="1650" b="0">
                          <a:solidFill>
                            <a:srgbClr val="0E2A38"/>
                          </a:solidFill>
                          <a:latin typeface="Calibri"/>
                          <a:ea typeface="Calibri"/>
                          <a:cs typeface="Calibri"/>
                        </a:rPr>
                        <a:t>Linux-only dependency blocks clean install</a:t>
                      </a:r>
                    </a:p>
                  </a:txBody>
                  <a:tcPr marL="91440" marR="91440" marT="45720" marB="45720">
                    <a:solidFill>
                      <a:srgbClr val="F3F6F8"/>
                    </a:solidFill>
                  </a:tcPr>
                </a:tc>
                <a:tc>
                  <a:txBody>
                    <a:bodyPr>
                      <a:noAutofit/>
                    </a:bodyPr>
                    <a:lstStyle/>
                    <a:p>
                      <a:r>
                        <a:rPr sz="1650" b="0">
                          <a:solidFill>
                            <a:srgbClr val="0E2A38"/>
                          </a:solidFill>
                          <a:latin typeface="Calibri"/>
                          <a:ea typeface="Calibri"/>
                          <a:cs typeface="Calibri"/>
                        </a:rPr>
                        <a:t>Failed; workaround used</a:t>
                      </a:r>
                    </a:p>
                  </a:txBody>
                  <a:tcPr marL="91440" marR="91440" marT="45720" marB="45720">
                    <a:solidFill>
                      <a:srgbClr val="F3F6F8"/>
                    </a:solidFill>
                  </a:tcPr>
                </a:tc>
              </a:tr>
              <a:tr h="881063">
                <a:tc>
                  <a:txBody>
                    <a:bodyPr>
                      <a:noAutofit/>
                    </a:bodyPr>
                    <a:lstStyle/>
                    <a:p>
                      <a:r>
                        <a:rPr sz="1650" b="0">
                          <a:solidFill>
                            <a:srgbClr val="0E2A38"/>
                          </a:solidFill>
                          <a:latin typeface="Calibri"/>
                          <a:ea typeface="Calibri"/>
                          <a:cs typeface="Calibri"/>
                        </a:rPr>
                        <a:t>Admin page loading</a:t>
                      </a:r>
                    </a:p>
                  </a:txBody>
                  <a:tcPr marL="91440" marR="91440" marT="45720" marB="45720">
                    <a:solidFill>
                      <a:srgbClr val="FFFFFF"/>
                    </a:solidFill>
                  </a:tcPr>
                </a:tc>
                <a:tc>
                  <a:txBody>
                    <a:bodyPr>
                      <a:noAutofit/>
                    </a:bodyPr>
                    <a:lstStyle/>
                    <a:p>
                      <a:r>
                        <a:rPr sz="1650" b="0">
                          <a:solidFill>
                            <a:srgbClr val="0E2A38"/>
                          </a:solidFill>
                          <a:latin typeface="Calibri"/>
                          <a:ea typeface="Calibri"/>
                          <a:cs typeface="Calibri"/>
                        </a:rPr>
                        <a:t>All five pages load; quotation raises a runtime error</a:t>
                      </a:r>
                    </a:p>
                  </a:txBody>
                  <a:tcPr marL="91440" marR="91440" marT="45720" marB="45720">
                    <a:solidFill>
                      <a:srgbClr val="FFFFFF"/>
                    </a:solidFill>
                  </a:tcPr>
                </a:tc>
                <a:tc>
                  <a:txBody>
                    <a:bodyPr>
                      <a:noAutofit/>
                    </a:bodyPr>
                    <a:lstStyle/>
                    <a:p>
                      <a:r>
                        <a:rPr sz="1650" b="0">
                          <a:solidFill>
                            <a:srgbClr val="0E2A38"/>
                          </a:solidFill>
                          <a:latin typeface="Calibri"/>
                          <a:ea typeface="Calibri"/>
                          <a:cs typeface="Calibri"/>
                        </a:rPr>
                        <a:t>Smoke case failed</a:t>
                      </a:r>
                    </a:p>
                  </a:txBody>
                  <a:tcPr marL="91440" marR="91440" marT="45720" marB="45720">
                    <a:solidFill>
                      <a:srgbClr val="FFFFFF"/>
                    </a:solidFill>
                  </a:tcPr>
                </a:tc>
              </a:tr>
              <a:tr h="881063">
                <a:tc>
                  <a:txBody>
                    <a:bodyPr>
                      <a:noAutofit/>
                    </a:bodyPr>
                    <a:lstStyle/>
                    <a:p>
                      <a:r>
                        <a:rPr sz="1650" b="0">
                          <a:solidFill>
                            <a:srgbClr val="0E2A38"/>
                          </a:solidFill>
                          <a:latin typeface="Calibri"/>
                          <a:ea typeface="Calibri"/>
                          <a:cs typeface="Calibri"/>
                        </a:rPr>
                        <a:t>Quotation record creation</a:t>
                      </a:r>
                    </a:p>
                  </a:txBody>
                  <a:tcPr marL="91440" marR="91440" marT="45720" marB="45720">
                    <a:solidFill>
                      <a:srgbClr val="F3F6F8"/>
                    </a:solidFill>
                  </a:tcPr>
                </a:tc>
                <a:tc>
                  <a:txBody>
                    <a:bodyPr>
                      <a:noAutofit/>
                    </a:bodyPr>
                    <a:lstStyle/>
                    <a:p>
                      <a:r>
                        <a:rPr sz="1650" b="0">
                          <a:solidFill>
                            <a:srgbClr val="0E2A38"/>
                          </a:solidFill>
                          <a:latin typeface="Calibri"/>
                          <a:ea typeface="Calibri"/>
                          <a:cs typeface="Calibri"/>
                        </a:rPr>
                        <a:t>Preview exists, but no submit/save record action</a:t>
                      </a:r>
                    </a:p>
                  </a:txBody>
                  <a:tcPr marL="91440" marR="91440" marT="45720" marB="45720">
                    <a:solidFill>
                      <a:srgbClr val="F3F6F8"/>
                    </a:solidFill>
                  </a:tcPr>
                </a:tc>
                <a:tc>
                  <a:txBody>
                    <a:bodyPr>
                      <a:noAutofit/>
                    </a:bodyPr>
                    <a:lstStyle/>
                    <a:p>
                      <a:r>
                        <a:rPr sz="1650" b="0">
                          <a:solidFill>
                            <a:srgbClr val="0E2A38"/>
                          </a:solidFill>
                          <a:latin typeface="Calibri"/>
                          <a:ea typeface="Calibri"/>
                          <a:cs typeface="Calibri"/>
                        </a:rPr>
                        <a:t>Written case failed; scope needs agreement</a:t>
                      </a:r>
                    </a:p>
                  </a:txBody>
                  <a:tcPr marL="91440" marR="91440" marT="45720" marB="45720">
                    <a:solidFill>
                      <a:srgbClr val="F3F6F8"/>
                    </a:solidFill>
                  </a:tcPr>
                </a:tc>
              </a:tr>
            </a:tbl>
          </a:graphicData>
        </a:graphic>
      </p:graphicFrame>
    </p:spTree>
    <p:extLst>
      <p:ext uri="{BB962C8B-B14F-4D97-AF65-F5344CB8AC3E}">
        <p14:creationId xmlns:p14="http://schemas.microsoft.com/office/powerpoint/2010/main" val="1806516328"/>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12DDDCDB-9933-4D11-B8D4-FFE56F324541}"/>
              </a:ext>
            </a:extLst>
          </p:cNvPr>
          <p:cNvSpPr>
            <a:spLocks xmlns:a="http://schemas.openxmlformats.org/drawingml/2006/main" noGrp="1"/>
          </p:cNvSpPr>
          <p:nvPr/>
        </p:nvSpPr>
        <p:spPr>
          <a:xfrm xmlns:a="http://schemas.openxmlformats.org/drawingml/2006/main">
            <a:off x="640080" y="384048"/>
            <a:ext cx="82296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spc="200">
                <a:solidFill>
                  <a:srgbClr val="CE9136"/>
                </a:solidFill>
                <a:latin typeface="Calibri"/>
                <a:ea typeface="Calibri"/>
                <a:cs typeface="Calibri"/>
              </a:rPr>
              <a:t>RECOMMENDATIONS</a:t>
            </a:r>
            <a:endParaRPr sz="1200"/>
          </a:p>
        </p:txBody>
      </p:sp>
      <p:sp>
        <p:nvSpPr>
          <p:cNvPr id="3" name="Text 1">
            <a:extLst xmlns:a="http://schemas.openxmlformats.org/drawingml/2006/main">
              <a:ext uri="{FF2B5EF4-FFF2-40B4-BE49-F238E27FC236}">
                <a16:creationId xmlns:a16="http://schemas.microsoft.com/office/drawing/2014/main" id="{050B2A08-13E8-4553-9115-3049844937F3}"/>
              </a:ext>
            </a:extLst>
          </p:cNvPr>
          <p:cNvSpPr>
            <a:spLocks xmlns:a="http://schemas.openxmlformats.org/drawingml/2006/main" noGrp="1"/>
          </p:cNvSpPr>
          <p:nvPr/>
        </p:nvSpPr>
        <p:spPr>
          <a:xfrm xmlns:a="http://schemas.openxmlformats.org/drawingml/2006/main">
            <a:off x="640080" y="658368"/>
            <a:ext cx="1088136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p xmlns:a="http://schemas.openxmlformats.org/drawingml/2006/main">
            <a:pPr marL="0" indent="0">
              <a:buNone/>
              <a:defRPr sz="3300" b="1">
                <a:solidFill>
                  <a:srgbClr val="0E2A38"/>
                </a:solidFill>
                <a:latin typeface="Cambria"/>
                <a:ea typeface="Cambria"/>
                <a:cs typeface="Cambria"/>
              </a:defRPr>
            </a:pPr>
            <a:r>
              <a:rPr sz="3300" b="1">
                <a:solidFill>
                  <a:srgbClr val="0E2A38"/>
                </a:solidFill>
                <a:latin typeface="Cambria"/>
                <a:ea typeface="Cambria"/>
                <a:cs typeface="Cambria"/>
              </a:rPr>
              <a:t>Recommended next steps</a:t>
            </a:r>
            <a:endParaRPr sz="3400"/>
          </a:p>
        </p:txBody>
      </p:sp>
      <p:sp>
        <p:nvSpPr>
          <p:cNvPr id="4" name="Shape 2">
            <a:extLst xmlns:a="http://schemas.openxmlformats.org/drawingml/2006/main">
              <a:ext uri="{FF2B5EF4-FFF2-40B4-BE49-F238E27FC236}">
                <a16:creationId xmlns:a16="http://schemas.microsoft.com/office/drawing/2014/main" id="{3EEC3F78-139D-4A90-A18C-D963F0A42F6E}"/>
              </a:ext>
            </a:extLst>
          </p:cNvPr>
          <p:cNvSpPr>
            <a:spLocks xmlns:a="http://schemas.openxmlformats.org/drawingml/2006/main" noGrp="1"/>
          </p:cNvSpPr>
          <p:nvPr/>
        </p:nvSpPr>
        <p:spPr>
          <a:xfrm xmlns:a="http://schemas.openxmlformats.org/drawingml/2006/main">
            <a:off x="640080" y="1572768"/>
            <a:ext cx="10881360" cy="786384"/>
          </a:xfrm>
          <a:prstGeom xmlns:a="http://schemas.openxmlformats.org/drawingml/2006/main" prst="roundRect">
            <a:avLst>
              <a:gd name="adj" fmla="val 10465"/>
            </a:avLst>
          </a:prstGeom>
          <a:solidFill xmlns:a="http://schemas.openxmlformats.org/drawingml/2006/main">
            <a:srgbClr val="FFFFFF"/>
          </a:solidFill>
          <a:ln xmlns:a="http://schemas.openxmlformats.org/drawingml/2006/main" w="12700">
            <a:solidFill>
              <a:srgbClr val="DDE5EA"/>
            </a:solidFill>
            <a:prstDash val="solid"/>
          </a:ln>
          <a:effectLst xmlns:a="http://schemas.openxmlformats.org/drawingml/2006/main">
            <a:outerShdw blurRad="127000" dist="25400" dir="5400000" algn="bl" rotWithShape="0">
              <a:srgbClr val="0E2A38">
                <a:alpha val="12000"/>
              </a:srgbClr>
            </a:outerShdw>
          </a:effectLst>
        </p:spPr>
        <p:txBody>
          <a:bodyPr xmlns:a="http://schemas.openxmlformats.org/drawingml/2006/main"/>
          <a:lstStyle xmlns:a="http://schemas.openxmlformats.org/drawingml/2006/main"/>
          <a:p xmlns:a="http://schemas.openxmlformats.org/drawingml/2006/main">
            <a:endParaRPr/>
          </a:p>
        </p:txBody>
      </p:sp>
      <p:sp>
        <p:nvSpPr>
          <p:cNvPr id="5" name="Shape 3">
            <a:extLst xmlns:a="http://schemas.openxmlformats.org/drawingml/2006/main">
              <a:ext uri="{FF2B5EF4-FFF2-40B4-BE49-F238E27FC236}">
                <a16:creationId xmlns:a16="http://schemas.microsoft.com/office/drawing/2014/main" id="{6380D4CD-8B1A-4577-B369-5F19CD0442A0}"/>
              </a:ext>
            </a:extLst>
          </p:cNvPr>
          <p:cNvSpPr>
            <a:spLocks xmlns:a="http://schemas.openxmlformats.org/drawingml/2006/main" noGrp="1"/>
          </p:cNvSpPr>
          <p:nvPr/>
        </p:nvSpPr>
        <p:spPr>
          <a:xfrm xmlns:a="http://schemas.openxmlformats.org/drawingml/2006/main">
            <a:off x="914400" y="1810512"/>
            <a:ext cx="310896" cy="310896"/>
          </a:xfrm>
          <a:prstGeom xmlns:a="http://schemas.openxmlformats.org/drawingml/2006/main" prst="ellipse">
            <a:avLst/>
          </a:prstGeom>
          <a:solidFill xmlns:a="http://schemas.openxmlformats.org/drawingml/2006/main">
            <a:srgbClr val="CE9136"/>
          </a:solidFill>
        </p:spPr>
        <p:txBody>
          <a:bodyPr xmlns:a="http://schemas.openxmlformats.org/drawingml/2006/main"/>
          <a:lstStyle xmlns:a="http://schemas.openxmlformats.org/drawingml/2006/main"/>
          <a:p xmlns:a="http://schemas.openxmlformats.org/drawingml/2006/main">
            <a:endParaRPr/>
          </a:p>
        </p:txBody>
      </p:sp>
      <p:sp>
        <p:nvSpPr>
          <p:cNvPr id="6" name="Text 4">
            <a:extLst xmlns:a="http://schemas.openxmlformats.org/drawingml/2006/main">
              <a:ext uri="{FF2B5EF4-FFF2-40B4-BE49-F238E27FC236}">
                <a16:creationId xmlns:a16="http://schemas.microsoft.com/office/drawing/2014/main" id="{EF58A91D-BBB5-45B5-99E0-FFB522D00266}"/>
              </a:ext>
            </a:extLst>
          </p:cNvPr>
          <p:cNvSpPr>
            <a:spLocks xmlns:a="http://schemas.openxmlformats.org/drawingml/2006/main" noGrp="1"/>
          </p:cNvSpPr>
          <p:nvPr/>
        </p:nvSpPr>
        <p:spPr>
          <a:xfrm xmlns:a="http://schemas.openxmlformats.org/drawingml/2006/main">
            <a:off x="914400" y="1810512"/>
            <a:ext cx="310896"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b="1">
                <a:solidFill>
                  <a:srgbClr val="FFFFFF"/>
                </a:solidFill>
                <a:latin typeface="Calibri"/>
                <a:ea typeface="Calibri"/>
                <a:cs typeface="Calibri"/>
              </a:rPr>
              <a:t>01</a:t>
            </a:r>
            <a:endParaRPr sz="1050"/>
          </a:p>
        </p:txBody>
      </p:sp>
      <p:sp>
        <p:nvSpPr>
          <p:cNvPr id="7" name="Text 5">
            <a:extLst xmlns:a="http://schemas.openxmlformats.org/drawingml/2006/main">
              <a:ext uri="{FF2B5EF4-FFF2-40B4-BE49-F238E27FC236}">
                <a16:creationId xmlns:a16="http://schemas.microsoft.com/office/drawing/2014/main" id="{D4BFA619-58E2-4CBD-AF15-BE47A7886CB8}"/>
              </a:ext>
            </a:extLst>
          </p:cNvPr>
          <p:cNvSpPr>
            <a:spLocks xmlns:a="http://schemas.openxmlformats.org/drawingml/2006/main" noGrp="1"/>
          </p:cNvSpPr>
          <p:nvPr/>
        </p:nvSpPr>
        <p:spPr>
          <a:xfrm xmlns:a="http://schemas.openxmlformats.org/drawingml/2006/main">
            <a:off x="1417320" y="1664208"/>
            <a:ext cx="3566160" cy="60350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b="1">
                <a:solidFill>
                  <a:srgbClr val="0E2A38"/>
                </a:solidFill>
                <a:latin typeface="Calibri"/>
                <a:ea typeface="Calibri"/>
                <a:cs typeface="Calibri"/>
              </a:rPr>
              <a:t>Complete the BUG-001 fix</a:t>
            </a:r>
            <a:endParaRPr sz="1350"/>
          </a:p>
        </p:txBody>
      </p:sp>
      <p:sp>
        <p:nvSpPr>
          <p:cNvPr id="8" name="Text 6">
            <a:extLst xmlns:a="http://schemas.openxmlformats.org/drawingml/2006/main">
              <a:ext uri="{FF2B5EF4-FFF2-40B4-BE49-F238E27FC236}">
                <a16:creationId xmlns:a16="http://schemas.microsoft.com/office/drawing/2014/main" id="{3A5D902E-399B-4E16-8083-6FC05B98A7F2}"/>
              </a:ext>
            </a:extLst>
          </p:cNvPr>
          <p:cNvSpPr>
            <a:spLocks xmlns:a="http://schemas.openxmlformats.org/drawingml/2006/main" noGrp="1"/>
          </p:cNvSpPr>
          <p:nvPr/>
        </p:nvSpPr>
        <p:spPr>
          <a:xfrm xmlns:a="http://schemas.openxmlformats.org/drawingml/2006/main">
            <a:off x="5074920" y="1664208"/>
            <a:ext cx="6217920" cy="603504"/>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p xmlns:a="http://schemas.openxmlformats.org/drawingml/2006/main">
            <a:pPr marL="0" indent="0">
              <a:buNone/>
              <a:defRPr sz="1575" b="0">
                <a:solidFill>
                  <a:srgbClr val="5A7383"/>
                </a:solidFill>
                <a:latin typeface="Calibri"/>
                <a:ea typeface="Calibri"/>
                <a:cs typeface="Calibri"/>
              </a:defRPr>
            </a:pPr>
            <a:r>
              <a:rPr sz="1575" b="0">
                <a:solidFill>
                  <a:srgbClr val="5A7383"/>
                </a:solidFill>
                <a:latin typeface="Calibri"/>
                <a:ea typeface="Calibri"/>
                <a:cs typeface="Calibri"/>
              </a:rPr>
              <a:t>Make PDF export work, then check the downloaded invoice.</a:t>
            </a:r>
            <a:endParaRPr sz="1200"/>
          </a:p>
        </p:txBody>
      </p:sp>
      <p:sp>
        <p:nvSpPr>
          <p:cNvPr id="9" name="Shape 7">
            <a:extLst xmlns:a="http://schemas.openxmlformats.org/drawingml/2006/main">
              <a:ext uri="{FF2B5EF4-FFF2-40B4-BE49-F238E27FC236}">
                <a16:creationId xmlns:a16="http://schemas.microsoft.com/office/drawing/2014/main" id="{920E5E22-8ED2-444B-BF1B-307169518E2B}"/>
              </a:ext>
            </a:extLst>
          </p:cNvPr>
          <p:cNvSpPr>
            <a:spLocks xmlns:a="http://schemas.openxmlformats.org/drawingml/2006/main" noGrp="1"/>
          </p:cNvSpPr>
          <p:nvPr/>
        </p:nvSpPr>
        <p:spPr>
          <a:xfrm xmlns:a="http://schemas.openxmlformats.org/drawingml/2006/main">
            <a:off x="640080" y="2478024"/>
            <a:ext cx="10881360" cy="786384"/>
          </a:xfrm>
          <a:prstGeom xmlns:a="http://schemas.openxmlformats.org/drawingml/2006/main" prst="roundRect">
            <a:avLst>
              <a:gd name="adj" fmla="val 10465"/>
            </a:avLst>
          </a:prstGeom>
          <a:solidFill xmlns:a="http://schemas.openxmlformats.org/drawingml/2006/main">
            <a:srgbClr val="FFFFFF"/>
          </a:solidFill>
          <a:ln xmlns:a="http://schemas.openxmlformats.org/drawingml/2006/main" w="12700">
            <a:solidFill>
              <a:srgbClr val="DDE5EA"/>
            </a:solidFill>
            <a:prstDash val="solid"/>
          </a:ln>
          <a:effectLst xmlns:a="http://schemas.openxmlformats.org/drawingml/2006/main">
            <a:outerShdw blurRad="127000" dist="25400" dir="5400000" algn="bl" rotWithShape="0">
              <a:srgbClr val="0E2A38">
                <a:alpha val="12000"/>
              </a:srgbClr>
            </a:outerShdw>
          </a:effectLst>
        </p:spPr>
        <p:txBody>
          <a:bodyPr xmlns:a="http://schemas.openxmlformats.org/drawingml/2006/main"/>
          <a:lstStyle xmlns:a="http://schemas.openxmlformats.org/drawingml/2006/main"/>
          <a:p xmlns:a="http://schemas.openxmlformats.org/drawingml/2006/main">
            <a:endParaRPr/>
          </a:p>
        </p:txBody>
      </p:sp>
      <p:sp>
        <p:nvSpPr>
          <p:cNvPr id="10" name="Shape 8">
            <a:extLst xmlns:a="http://schemas.openxmlformats.org/drawingml/2006/main">
              <a:ext uri="{FF2B5EF4-FFF2-40B4-BE49-F238E27FC236}">
                <a16:creationId xmlns:a16="http://schemas.microsoft.com/office/drawing/2014/main" id="{6C8BF6B8-2BEE-43B9-8E51-A65F3018B332}"/>
              </a:ext>
            </a:extLst>
          </p:cNvPr>
          <p:cNvSpPr>
            <a:spLocks xmlns:a="http://schemas.openxmlformats.org/drawingml/2006/main" noGrp="1"/>
          </p:cNvSpPr>
          <p:nvPr/>
        </p:nvSpPr>
        <p:spPr>
          <a:xfrm xmlns:a="http://schemas.openxmlformats.org/drawingml/2006/main">
            <a:off x="914400" y="2715768"/>
            <a:ext cx="310896" cy="310896"/>
          </a:xfrm>
          <a:prstGeom xmlns:a="http://schemas.openxmlformats.org/drawingml/2006/main" prst="ellipse">
            <a:avLst/>
          </a:prstGeom>
          <a:solidFill xmlns:a="http://schemas.openxmlformats.org/drawingml/2006/main">
            <a:srgbClr val="CE9136"/>
          </a:solidFill>
        </p:spPr>
        <p:txBody>
          <a:bodyPr xmlns:a="http://schemas.openxmlformats.org/drawingml/2006/main"/>
          <a:lstStyle xmlns:a="http://schemas.openxmlformats.org/drawingml/2006/main"/>
          <a:p xmlns:a="http://schemas.openxmlformats.org/drawingml/2006/main">
            <a:endParaRPr/>
          </a:p>
        </p:txBody>
      </p:sp>
      <p:sp>
        <p:nvSpPr>
          <p:cNvPr id="11" name="Text 9">
            <a:extLst xmlns:a="http://schemas.openxmlformats.org/drawingml/2006/main">
              <a:ext uri="{FF2B5EF4-FFF2-40B4-BE49-F238E27FC236}">
                <a16:creationId xmlns:a16="http://schemas.microsoft.com/office/drawing/2014/main" id="{0C561585-4D70-4F39-A7F7-4EEC1C470C99}"/>
              </a:ext>
            </a:extLst>
          </p:cNvPr>
          <p:cNvSpPr>
            <a:spLocks xmlns:a="http://schemas.openxmlformats.org/drawingml/2006/main" noGrp="1"/>
          </p:cNvSpPr>
          <p:nvPr/>
        </p:nvSpPr>
        <p:spPr>
          <a:xfrm xmlns:a="http://schemas.openxmlformats.org/drawingml/2006/main">
            <a:off x="914400" y="2715768"/>
            <a:ext cx="310896"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b="1">
                <a:solidFill>
                  <a:srgbClr val="FFFFFF"/>
                </a:solidFill>
                <a:latin typeface="Calibri"/>
                <a:ea typeface="Calibri"/>
                <a:cs typeface="Calibri"/>
              </a:rPr>
              <a:t>02</a:t>
            </a:r>
            <a:endParaRPr sz="1050"/>
          </a:p>
        </p:txBody>
      </p:sp>
      <p:sp>
        <p:nvSpPr>
          <p:cNvPr id="12" name="Text 10">
            <a:extLst xmlns:a="http://schemas.openxmlformats.org/drawingml/2006/main">
              <a:ext uri="{FF2B5EF4-FFF2-40B4-BE49-F238E27FC236}">
                <a16:creationId xmlns:a16="http://schemas.microsoft.com/office/drawing/2014/main" id="{4A3093A2-16EC-47A3-B7A0-1BB87F5F062B}"/>
              </a:ext>
            </a:extLst>
          </p:cNvPr>
          <p:cNvSpPr>
            <a:spLocks xmlns:a="http://schemas.openxmlformats.org/drawingml/2006/main" noGrp="1"/>
          </p:cNvSpPr>
          <p:nvPr/>
        </p:nvSpPr>
        <p:spPr>
          <a:xfrm xmlns:a="http://schemas.openxmlformats.org/drawingml/2006/main">
            <a:off x="1417320" y="2569464"/>
            <a:ext cx="3566160" cy="60350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b="1">
                <a:solidFill>
                  <a:srgbClr val="0E2A38"/>
                </a:solidFill>
                <a:latin typeface="Calibri"/>
                <a:ea typeface="Calibri"/>
                <a:cs typeface="Calibri"/>
              </a:rPr>
              <a:t>Pass booking data between pages</a:t>
            </a:r>
            <a:endParaRPr sz="1350"/>
          </a:p>
        </p:txBody>
      </p:sp>
      <p:sp>
        <p:nvSpPr>
          <p:cNvPr id="13" name="Text 11">
            <a:extLst xmlns:a="http://schemas.openxmlformats.org/drawingml/2006/main">
              <a:ext uri="{FF2B5EF4-FFF2-40B4-BE49-F238E27FC236}">
                <a16:creationId xmlns:a16="http://schemas.microsoft.com/office/drawing/2014/main" id="{B836C09E-0A61-4CF9-94BC-545FD8D6C1E7}"/>
              </a:ext>
            </a:extLst>
          </p:cNvPr>
          <p:cNvSpPr>
            <a:spLocks xmlns:a="http://schemas.openxmlformats.org/drawingml/2006/main" noGrp="1"/>
          </p:cNvSpPr>
          <p:nvPr/>
        </p:nvSpPr>
        <p:spPr>
          <a:xfrm xmlns:a="http://schemas.openxmlformats.org/drawingml/2006/main">
            <a:off x="5074920" y="2569464"/>
            <a:ext cx="6217920" cy="603504"/>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p xmlns:a="http://schemas.openxmlformats.org/drawingml/2006/main">
            <a:pPr marL="0" indent="0">
              <a:buNone/>
              <a:defRPr sz="1575" b="0">
                <a:solidFill>
                  <a:srgbClr val="5A7383"/>
                </a:solidFill>
                <a:latin typeface="Calibri"/>
                <a:ea typeface="Calibri"/>
                <a:cs typeface="Calibri"/>
              </a:defRPr>
            </a:pPr>
            <a:r>
              <a:rPr sz="1575" b="0">
                <a:solidFill>
                  <a:srgbClr val="5A7383"/>
                </a:solidFill>
                <a:latin typeface="Calibri"/>
                <a:ea typeface="Calibri"/>
                <a:cs typeface="Calibri"/>
              </a:rPr>
              <a:t>Keep the same guest details, date and total through every screen.</a:t>
            </a:r>
            <a:endParaRPr sz="1200"/>
          </a:p>
        </p:txBody>
      </p:sp>
      <p:sp>
        <p:nvSpPr>
          <p:cNvPr id="14" name="Shape 12">
            <a:extLst xmlns:a="http://schemas.openxmlformats.org/drawingml/2006/main">
              <a:ext uri="{FF2B5EF4-FFF2-40B4-BE49-F238E27FC236}">
                <a16:creationId xmlns:a16="http://schemas.microsoft.com/office/drawing/2014/main" id="{0A23EB93-5732-4358-830D-C1950F9FC918}"/>
              </a:ext>
            </a:extLst>
          </p:cNvPr>
          <p:cNvSpPr>
            <a:spLocks xmlns:a="http://schemas.openxmlformats.org/drawingml/2006/main" noGrp="1"/>
          </p:cNvSpPr>
          <p:nvPr/>
        </p:nvSpPr>
        <p:spPr>
          <a:xfrm xmlns:a="http://schemas.openxmlformats.org/drawingml/2006/main">
            <a:off x="640080" y="3383280"/>
            <a:ext cx="10881360" cy="786384"/>
          </a:xfrm>
          <a:prstGeom xmlns:a="http://schemas.openxmlformats.org/drawingml/2006/main" prst="roundRect">
            <a:avLst>
              <a:gd name="adj" fmla="val 10465"/>
            </a:avLst>
          </a:prstGeom>
          <a:solidFill xmlns:a="http://schemas.openxmlformats.org/drawingml/2006/main">
            <a:srgbClr val="FFFFFF"/>
          </a:solidFill>
          <a:ln xmlns:a="http://schemas.openxmlformats.org/drawingml/2006/main" w="12700">
            <a:solidFill>
              <a:srgbClr val="DDE5EA"/>
            </a:solidFill>
            <a:prstDash val="solid"/>
          </a:ln>
          <a:effectLst xmlns:a="http://schemas.openxmlformats.org/drawingml/2006/main">
            <a:outerShdw blurRad="127000" dist="25400" dir="5400000" algn="bl" rotWithShape="0">
              <a:srgbClr val="0E2A38">
                <a:alpha val="12000"/>
              </a:srgbClr>
            </a:outerShdw>
          </a:effectLst>
        </p:spPr>
        <p:txBody>
          <a:bodyPr xmlns:a="http://schemas.openxmlformats.org/drawingml/2006/main"/>
          <a:lstStyle xmlns:a="http://schemas.openxmlformats.org/drawingml/2006/main"/>
          <a:p xmlns:a="http://schemas.openxmlformats.org/drawingml/2006/main">
            <a:endParaRPr/>
          </a:p>
        </p:txBody>
      </p:sp>
      <p:sp>
        <p:nvSpPr>
          <p:cNvPr id="15" name="Shape 13">
            <a:extLst xmlns:a="http://schemas.openxmlformats.org/drawingml/2006/main">
              <a:ext uri="{FF2B5EF4-FFF2-40B4-BE49-F238E27FC236}">
                <a16:creationId xmlns:a16="http://schemas.microsoft.com/office/drawing/2014/main" id="{2AA55F18-9567-49E2-8E8E-8CC5FD0C3F65}"/>
              </a:ext>
            </a:extLst>
          </p:cNvPr>
          <p:cNvSpPr>
            <a:spLocks xmlns:a="http://schemas.openxmlformats.org/drawingml/2006/main" noGrp="1"/>
          </p:cNvSpPr>
          <p:nvPr/>
        </p:nvSpPr>
        <p:spPr>
          <a:xfrm xmlns:a="http://schemas.openxmlformats.org/drawingml/2006/main">
            <a:off x="914400" y="3621024"/>
            <a:ext cx="310896" cy="310896"/>
          </a:xfrm>
          <a:prstGeom xmlns:a="http://schemas.openxmlformats.org/drawingml/2006/main" prst="ellipse">
            <a:avLst/>
          </a:prstGeom>
          <a:solidFill xmlns:a="http://schemas.openxmlformats.org/drawingml/2006/main">
            <a:srgbClr val="B4432F"/>
          </a:solidFill>
        </p:spPr>
        <p:txBody>
          <a:bodyPr xmlns:a="http://schemas.openxmlformats.org/drawingml/2006/main"/>
          <a:lstStyle xmlns:a="http://schemas.openxmlformats.org/drawingml/2006/main"/>
          <a:p xmlns:a="http://schemas.openxmlformats.org/drawingml/2006/main">
            <a:endParaRPr/>
          </a:p>
        </p:txBody>
      </p:sp>
      <p:sp>
        <p:nvSpPr>
          <p:cNvPr id="16" name="Text 14">
            <a:extLst xmlns:a="http://schemas.openxmlformats.org/drawingml/2006/main">
              <a:ext uri="{FF2B5EF4-FFF2-40B4-BE49-F238E27FC236}">
                <a16:creationId xmlns:a16="http://schemas.microsoft.com/office/drawing/2014/main" id="{5BDA9375-9F4F-4A61-A68F-6BADCDED396A}"/>
              </a:ext>
            </a:extLst>
          </p:cNvPr>
          <p:cNvSpPr>
            <a:spLocks xmlns:a="http://schemas.openxmlformats.org/drawingml/2006/main" noGrp="1"/>
          </p:cNvSpPr>
          <p:nvPr/>
        </p:nvSpPr>
        <p:spPr>
          <a:xfrm xmlns:a="http://schemas.openxmlformats.org/drawingml/2006/main">
            <a:off x="914400" y="3621024"/>
            <a:ext cx="310896"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b="1">
                <a:solidFill>
                  <a:srgbClr val="FFFFFF"/>
                </a:solidFill>
                <a:latin typeface="Calibri"/>
                <a:ea typeface="Calibri"/>
                <a:cs typeface="Calibri"/>
              </a:rPr>
              <a:t>03</a:t>
            </a:r>
            <a:endParaRPr sz="1050"/>
          </a:p>
        </p:txBody>
      </p:sp>
      <p:sp>
        <p:nvSpPr>
          <p:cNvPr id="17" name="Text 15">
            <a:extLst xmlns:a="http://schemas.openxmlformats.org/drawingml/2006/main">
              <a:ext uri="{FF2B5EF4-FFF2-40B4-BE49-F238E27FC236}">
                <a16:creationId xmlns:a16="http://schemas.microsoft.com/office/drawing/2014/main" id="{4B35ABFC-B4AD-4B0D-B785-C19C1CD5BE3B}"/>
              </a:ext>
            </a:extLst>
          </p:cNvPr>
          <p:cNvSpPr>
            <a:spLocks xmlns:a="http://schemas.openxmlformats.org/drawingml/2006/main" noGrp="1"/>
          </p:cNvSpPr>
          <p:nvPr/>
        </p:nvSpPr>
        <p:spPr>
          <a:xfrm xmlns:a="http://schemas.openxmlformats.org/drawingml/2006/main">
            <a:off x="1417320" y="3474720"/>
            <a:ext cx="3566160" cy="60350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b="1">
                <a:solidFill>
                  <a:srgbClr val="0E2A38"/>
                </a:solidFill>
                <a:latin typeface="Calibri"/>
                <a:ea typeface="Calibri"/>
                <a:cs typeface="Calibri"/>
              </a:rPr>
              <a:t>Validate payment and tour date</a:t>
            </a:r>
            <a:endParaRPr sz="1350"/>
          </a:p>
        </p:txBody>
      </p:sp>
      <p:sp>
        <p:nvSpPr>
          <p:cNvPr id="18" name="Text 16">
            <a:extLst xmlns:a="http://schemas.openxmlformats.org/drawingml/2006/main">
              <a:ext uri="{FF2B5EF4-FFF2-40B4-BE49-F238E27FC236}">
                <a16:creationId xmlns:a16="http://schemas.microsoft.com/office/drawing/2014/main" id="{EE0E8369-AD0C-4C35-B0AB-D91D04038F4A}"/>
              </a:ext>
            </a:extLst>
          </p:cNvPr>
          <p:cNvSpPr>
            <a:spLocks xmlns:a="http://schemas.openxmlformats.org/drawingml/2006/main" noGrp="1"/>
          </p:cNvSpPr>
          <p:nvPr/>
        </p:nvSpPr>
        <p:spPr>
          <a:xfrm xmlns:a="http://schemas.openxmlformats.org/drawingml/2006/main">
            <a:off x="5074920" y="3474720"/>
            <a:ext cx="6217920" cy="603504"/>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p xmlns:a="http://schemas.openxmlformats.org/drawingml/2006/main">
            <a:pPr marL="0" indent="0">
              <a:buNone/>
              <a:defRPr sz="1575" b="0">
                <a:solidFill>
                  <a:srgbClr val="5A7383"/>
                </a:solidFill>
                <a:latin typeface="Calibri"/>
                <a:ea typeface="Calibri"/>
                <a:cs typeface="Calibri"/>
              </a:defRPr>
            </a:pPr>
            <a:r>
              <a:rPr sz="1575" b="0">
                <a:solidFill>
                  <a:srgbClr val="5A7383"/>
                </a:solidFill>
                <a:latin typeface="Calibri"/>
                <a:ea typeface="Calibri"/>
                <a:cs typeface="Calibri"/>
              </a:rPr>
              <a:t>Reject malformed card details and past tour dates.</a:t>
            </a:r>
            <a:endParaRPr sz="1200"/>
          </a:p>
        </p:txBody>
      </p:sp>
      <p:sp>
        <p:nvSpPr>
          <p:cNvPr id="19" name="Shape 17">
            <a:extLst xmlns:a="http://schemas.openxmlformats.org/drawingml/2006/main">
              <a:ext uri="{FF2B5EF4-FFF2-40B4-BE49-F238E27FC236}">
                <a16:creationId xmlns:a16="http://schemas.microsoft.com/office/drawing/2014/main" id="{082CF01E-8F03-4367-9E68-0EADAEEB40BC}"/>
              </a:ext>
            </a:extLst>
          </p:cNvPr>
          <p:cNvSpPr>
            <a:spLocks xmlns:a="http://schemas.openxmlformats.org/drawingml/2006/main" noGrp="1"/>
          </p:cNvSpPr>
          <p:nvPr/>
        </p:nvSpPr>
        <p:spPr>
          <a:xfrm xmlns:a="http://schemas.openxmlformats.org/drawingml/2006/main">
            <a:off x="640080" y="4288536"/>
            <a:ext cx="10881360" cy="786384"/>
          </a:xfrm>
          <a:prstGeom xmlns:a="http://schemas.openxmlformats.org/drawingml/2006/main" prst="roundRect">
            <a:avLst>
              <a:gd name="adj" fmla="val 10465"/>
            </a:avLst>
          </a:prstGeom>
          <a:solidFill xmlns:a="http://schemas.openxmlformats.org/drawingml/2006/main">
            <a:srgbClr val="FFFFFF"/>
          </a:solidFill>
          <a:ln xmlns:a="http://schemas.openxmlformats.org/drawingml/2006/main" w="12700">
            <a:solidFill>
              <a:srgbClr val="DDE5EA"/>
            </a:solidFill>
            <a:prstDash val="solid"/>
          </a:ln>
          <a:effectLst xmlns:a="http://schemas.openxmlformats.org/drawingml/2006/main">
            <a:outerShdw blurRad="127000" dist="25400" dir="5400000" algn="bl" rotWithShape="0">
              <a:srgbClr val="0E2A38">
                <a:alpha val="12000"/>
              </a:srgbClr>
            </a:outerShdw>
          </a:effectLst>
        </p:spPr>
        <p:txBody>
          <a:bodyPr xmlns:a="http://schemas.openxmlformats.org/drawingml/2006/main"/>
          <a:lstStyle xmlns:a="http://schemas.openxmlformats.org/drawingml/2006/main"/>
          <a:p xmlns:a="http://schemas.openxmlformats.org/drawingml/2006/main">
            <a:endParaRPr/>
          </a:p>
        </p:txBody>
      </p:sp>
      <p:sp>
        <p:nvSpPr>
          <p:cNvPr id="20" name="Shape 18">
            <a:extLst xmlns:a="http://schemas.openxmlformats.org/drawingml/2006/main">
              <a:ext uri="{FF2B5EF4-FFF2-40B4-BE49-F238E27FC236}">
                <a16:creationId xmlns:a16="http://schemas.microsoft.com/office/drawing/2014/main" id="{BDAF976F-9FE3-4400-9814-410B9D775EFF}"/>
              </a:ext>
            </a:extLst>
          </p:cNvPr>
          <p:cNvSpPr>
            <a:spLocks xmlns:a="http://schemas.openxmlformats.org/drawingml/2006/main" noGrp="1"/>
          </p:cNvSpPr>
          <p:nvPr/>
        </p:nvSpPr>
        <p:spPr>
          <a:xfrm xmlns:a="http://schemas.openxmlformats.org/drawingml/2006/main">
            <a:off x="914400" y="4526280"/>
            <a:ext cx="310896" cy="310896"/>
          </a:xfrm>
          <a:prstGeom xmlns:a="http://schemas.openxmlformats.org/drawingml/2006/main" prst="ellipse">
            <a:avLst/>
          </a:prstGeom>
          <a:solidFill xmlns:a="http://schemas.openxmlformats.org/drawingml/2006/main">
            <a:srgbClr val="2A6F84"/>
          </a:solidFill>
        </p:spPr>
        <p:txBody>
          <a:bodyPr xmlns:a="http://schemas.openxmlformats.org/drawingml/2006/main"/>
          <a:lstStyle xmlns:a="http://schemas.openxmlformats.org/drawingml/2006/main"/>
          <a:p xmlns:a="http://schemas.openxmlformats.org/drawingml/2006/main">
            <a:endParaRPr/>
          </a:p>
        </p:txBody>
      </p:sp>
      <p:sp>
        <p:nvSpPr>
          <p:cNvPr id="21" name="Text 19">
            <a:extLst xmlns:a="http://schemas.openxmlformats.org/drawingml/2006/main">
              <a:ext uri="{FF2B5EF4-FFF2-40B4-BE49-F238E27FC236}">
                <a16:creationId xmlns:a16="http://schemas.microsoft.com/office/drawing/2014/main" id="{65872168-0A5F-4FB0-AF7A-F424460B65B2}"/>
              </a:ext>
            </a:extLst>
          </p:cNvPr>
          <p:cNvSpPr>
            <a:spLocks xmlns:a="http://schemas.openxmlformats.org/drawingml/2006/main" noGrp="1"/>
          </p:cNvSpPr>
          <p:nvPr/>
        </p:nvSpPr>
        <p:spPr>
          <a:xfrm xmlns:a="http://schemas.openxmlformats.org/drawingml/2006/main">
            <a:off x="914400" y="4526280"/>
            <a:ext cx="310896"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b="1">
                <a:solidFill>
                  <a:srgbClr val="FFFFFF"/>
                </a:solidFill>
                <a:latin typeface="Calibri"/>
                <a:ea typeface="Calibri"/>
                <a:cs typeface="Calibri"/>
              </a:rPr>
              <a:t>04</a:t>
            </a:r>
            <a:endParaRPr sz="1050"/>
          </a:p>
        </p:txBody>
      </p:sp>
      <p:sp>
        <p:nvSpPr>
          <p:cNvPr id="22" name="Text 20">
            <a:extLst xmlns:a="http://schemas.openxmlformats.org/drawingml/2006/main">
              <a:ext uri="{FF2B5EF4-FFF2-40B4-BE49-F238E27FC236}">
                <a16:creationId xmlns:a16="http://schemas.microsoft.com/office/drawing/2014/main" id="{44DB0188-F451-43EC-A141-9B831AB3A848}"/>
              </a:ext>
            </a:extLst>
          </p:cNvPr>
          <p:cNvSpPr>
            <a:spLocks xmlns:a="http://schemas.openxmlformats.org/drawingml/2006/main" noGrp="1"/>
          </p:cNvSpPr>
          <p:nvPr/>
        </p:nvSpPr>
        <p:spPr>
          <a:xfrm xmlns:a="http://schemas.openxmlformats.org/drawingml/2006/main">
            <a:off x="1417320" y="4379976"/>
            <a:ext cx="3566160" cy="60350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b="1">
                <a:solidFill>
                  <a:srgbClr val="0E2A38"/>
                </a:solidFill>
                <a:latin typeface="Calibri"/>
                <a:ea typeface="Calibri"/>
                <a:cs typeface="Calibri"/>
              </a:rPr>
              <a:t>Fix the Windows dependency</a:t>
            </a:r>
            <a:endParaRPr sz="1350"/>
          </a:p>
        </p:txBody>
      </p:sp>
      <p:sp>
        <p:nvSpPr>
          <p:cNvPr id="23" name="Text 21">
            <a:extLst xmlns:a="http://schemas.openxmlformats.org/drawingml/2006/main">
              <a:ext uri="{FF2B5EF4-FFF2-40B4-BE49-F238E27FC236}">
                <a16:creationId xmlns:a16="http://schemas.microsoft.com/office/drawing/2014/main" id="{12C7FD57-E130-4C75-B8FF-3164F1733943}"/>
              </a:ext>
            </a:extLst>
          </p:cNvPr>
          <p:cNvSpPr>
            <a:spLocks xmlns:a="http://schemas.openxmlformats.org/drawingml/2006/main" noGrp="1"/>
          </p:cNvSpPr>
          <p:nvPr/>
        </p:nvSpPr>
        <p:spPr>
          <a:xfrm xmlns:a="http://schemas.openxmlformats.org/drawingml/2006/main">
            <a:off x="5074920" y="4379976"/>
            <a:ext cx="6217920" cy="603504"/>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p xmlns:a="http://schemas.openxmlformats.org/drawingml/2006/main">
            <a:pPr marL="0" indent="0">
              <a:buNone/>
              <a:defRPr sz="1575" b="0">
                <a:solidFill>
                  <a:srgbClr val="5A7383"/>
                </a:solidFill>
                <a:latin typeface="Calibri"/>
                <a:ea typeface="Calibri"/>
                <a:cs typeface="Calibri"/>
              </a:defRPr>
            </a:pPr>
            <a:r>
              <a:rPr sz="1575" b="0">
                <a:solidFill>
                  <a:srgbClr val="5A7383"/>
                </a:solidFill>
                <a:latin typeface="Calibri"/>
                <a:ea typeface="Calibri"/>
                <a:cs typeface="Calibri"/>
              </a:rPr>
              <a:t>Make a clean Windows install succeed without force.</a:t>
            </a:r>
            <a:endParaRPr sz="1200"/>
          </a:p>
        </p:txBody>
      </p:sp>
      <p:sp>
        <p:nvSpPr>
          <p:cNvPr id="24" name="Shape 22">
            <a:extLst xmlns:a="http://schemas.openxmlformats.org/drawingml/2006/main">
              <a:ext uri="{FF2B5EF4-FFF2-40B4-BE49-F238E27FC236}">
                <a16:creationId xmlns:a16="http://schemas.microsoft.com/office/drawing/2014/main" id="{1C6BE08B-7098-482D-ABC3-DBE58A206230}"/>
              </a:ext>
            </a:extLst>
          </p:cNvPr>
          <p:cNvSpPr>
            <a:spLocks xmlns:a="http://schemas.openxmlformats.org/drawingml/2006/main" noGrp="1"/>
          </p:cNvSpPr>
          <p:nvPr/>
        </p:nvSpPr>
        <p:spPr>
          <a:xfrm xmlns:a="http://schemas.openxmlformats.org/drawingml/2006/main">
            <a:off x="640080" y="5193792"/>
            <a:ext cx="10881360" cy="786384"/>
          </a:xfrm>
          <a:prstGeom xmlns:a="http://schemas.openxmlformats.org/drawingml/2006/main" prst="roundRect">
            <a:avLst>
              <a:gd name="adj" fmla="val 10465"/>
            </a:avLst>
          </a:prstGeom>
          <a:solidFill xmlns:a="http://schemas.openxmlformats.org/drawingml/2006/main">
            <a:srgbClr val="FFFFFF"/>
          </a:solidFill>
          <a:ln xmlns:a="http://schemas.openxmlformats.org/drawingml/2006/main" w="12700">
            <a:solidFill>
              <a:srgbClr val="DDE5EA"/>
            </a:solidFill>
            <a:prstDash val="solid"/>
          </a:ln>
          <a:effectLst xmlns:a="http://schemas.openxmlformats.org/drawingml/2006/main">
            <a:outerShdw blurRad="127000" dist="25400" dir="5400000" algn="bl" rotWithShape="0">
              <a:srgbClr val="0E2A38">
                <a:alpha val="12000"/>
              </a:srgbClr>
            </a:outerShdw>
          </a:effectLst>
        </p:spPr>
        <p:txBody>
          <a:bodyPr xmlns:a="http://schemas.openxmlformats.org/drawingml/2006/main"/>
          <a:lstStyle xmlns:a="http://schemas.openxmlformats.org/drawingml/2006/main"/>
          <a:p xmlns:a="http://schemas.openxmlformats.org/drawingml/2006/main">
            <a:endParaRPr/>
          </a:p>
        </p:txBody>
      </p:sp>
      <p:sp>
        <p:nvSpPr>
          <p:cNvPr id="25" name="Shape 23">
            <a:extLst xmlns:a="http://schemas.openxmlformats.org/drawingml/2006/main">
              <a:ext uri="{FF2B5EF4-FFF2-40B4-BE49-F238E27FC236}">
                <a16:creationId xmlns:a16="http://schemas.microsoft.com/office/drawing/2014/main" id="{664E6CC6-A24C-488F-82B8-70BE212B23F4}"/>
              </a:ext>
            </a:extLst>
          </p:cNvPr>
          <p:cNvSpPr>
            <a:spLocks xmlns:a="http://schemas.openxmlformats.org/drawingml/2006/main" noGrp="1"/>
          </p:cNvSpPr>
          <p:nvPr/>
        </p:nvSpPr>
        <p:spPr>
          <a:xfrm xmlns:a="http://schemas.openxmlformats.org/drawingml/2006/main">
            <a:off x="914400" y="5431536"/>
            <a:ext cx="310896" cy="310896"/>
          </a:xfrm>
          <a:prstGeom xmlns:a="http://schemas.openxmlformats.org/drawingml/2006/main" prst="ellipse">
            <a:avLst/>
          </a:prstGeom>
          <a:solidFill xmlns:a="http://schemas.openxmlformats.org/drawingml/2006/main">
            <a:srgbClr val="2A6F84"/>
          </a:solidFill>
        </p:spPr>
        <p:txBody>
          <a:bodyPr xmlns:a="http://schemas.openxmlformats.org/drawingml/2006/main"/>
          <a:lstStyle xmlns:a="http://schemas.openxmlformats.org/drawingml/2006/main"/>
          <a:p xmlns:a="http://schemas.openxmlformats.org/drawingml/2006/main">
            <a:endParaRPr/>
          </a:p>
        </p:txBody>
      </p:sp>
      <p:sp>
        <p:nvSpPr>
          <p:cNvPr id="26" name="Text 24">
            <a:extLst xmlns:a="http://schemas.openxmlformats.org/drawingml/2006/main">
              <a:ext uri="{FF2B5EF4-FFF2-40B4-BE49-F238E27FC236}">
                <a16:creationId xmlns:a16="http://schemas.microsoft.com/office/drawing/2014/main" id="{2EAD3565-BE56-4DD3-AA8F-23D23272B201}"/>
              </a:ext>
            </a:extLst>
          </p:cNvPr>
          <p:cNvSpPr>
            <a:spLocks xmlns:a="http://schemas.openxmlformats.org/drawingml/2006/main" noGrp="1"/>
          </p:cNvSpPr>
          <p:nvPr/>
        </p:nvSpPr>
        <p:spPr>
          <a:xfrm xmlns:a="http://schemas.openxmlformats.org/drawingml/2006/main">
            <a:off x="914400" y="5431536"/>
            <a:ext cx="310896"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b="1">
                <a:solidFill>
                  <a:srgbClr val="FFFFFF"/>
                </a:solidFill>
                <a:latin typeface="Calibri"/>
                <a:ea typeface="Calibri"/>
                <a:cs typeface="Calibri"/>
              </a:rPr>
              <a:t>05</a:t>
            </a:r>
            <a:endParaRPr sz="1050"/>
          </a:p>
        </p:txBody>
      </p:sp>
      <p:sp>
        <p:nvSpPr>
          <p:cNvPr id="27" name="Text 25">
            <a:extLst xmlns:a="http://schemas.openxmlformats.org/drawingml/2006/main">
              <a:ext uri="{FF2B5EF4-FFF2-40B4-BE49-F238E27FC236}">
                <a16:creationId xmlns:a16="http://schemas.microsoft.com/office/drawing/2014/main" id="{365E05C2-D3C2-45B1-9B0C-47AB22BB0E4B}"/>
              </a:ext>
            </a:extLst>
          </p:cNvPr>
          <p:cNvSpPr>
            <a:spLocks xmlns:a="http://schemas.openxmlformats.org/drawingml/2006/main" noGrp="1"/>
          </p:cNvSpPr>
          <p:nvPr/>
        </p:nvSpPr>
        <p:spPr>
          <a:xfrm xmlns:a="http://schemas.openxmlformats.org/drawingml/2006/main">
            <a:off x="1417320" y="5285232"/>
            <a:ext cx="3566160" cy="60350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b="1">
                <a:solidFill>
                  <a:srgbClr val="0E2A38"/>
                </a:solidFill>
                <a:latin typeface="Calibri"/>
                <a:ea typeface="Calibri"/>
                <a:cs typeface="Calibri"/>
              </a:rPr>
              <a:t>Resolve admin errors and scope</a:t>
            </a:r>
            <a:endParaRPr sz="1350"/>
          </a:p>
        </p:txBody>
      </p:sp>
      <p:sp>
        <p:nvSpPr>
          <p:cNvPr id="28" name="Text 26">
            <a:extLst xmlns:a="http://schemas.openxmlformats.org/drawingml/2006/main">
              <a:ext uri="{FF2B5EF4-FFF2-40B4-BE49-F238E27FC236}">
                <a16:creationId xmlns:a16="http://schemas.microsoft.com/office/drawing/2014/main" id="{D0EC39E6-A52A-41A9-9611-7A72C571BD72}"/>
              </a:ext>
            </a:extLst>
          </p:cNvPr>
          <p:cNvSpPr>
            <a:spLocks xmlns:a="http://schemas.openxmlformats.org/drawingml/2006/main" noGrp="1"/>
          </p:cNvSpPr>
          <p:nvPr/>
        </p:nvSpPr>
        <p:spPr>
          <a:xfrm xmlns:a="http://schemas.openxmlformats.org/drawingml/2006/main">
            <a:off x="5074920" y="5285232"/>
            <a:ext cx="6217920" cy="603504"/>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p xmlns:a="http://schemas.openxmlformats.org/drawingml/2006/main">
            <a:pPr marL="0" indent="0">
              <a:buNone/>
              <a:defRPr sz="1575" b="0">
                <a:solidFill>
                  <a:srgbClr val="5A7383"/>
                </a:solidFill>
                <a:latin typeface="Calibri"/>
                <a:ea typeface="Calibri"/>
                <a:cs typeface="Calibri"/>
              </a:defRPr>
            </a:pPr>
            <a:r>
              <a:rPr sz="1575" b="0">
                <a:solidFill>
                  <a:srgbClr val="5A7383"/>
                </a:solidFill>
                <a:latin typeface="Calibri"/>
                <a:ea typeface="Calibri"/>
                <a:cs typeface="Calibri"/>
              </a:rPr>
              <a:t>Fix the quotation runtime error and agree record-creation scope.</a:t>
            </a:r>
            <a:endParaRPr sz="1200"/>
          </a:p>
        </p:txBody>
      </p:sp>
    </p:spTree>
    <p:extLst>
      <p:ext uri="{BB962C8B-B14F-4D97-AF65-F5344CB8AC3E}">
        <p14:creationId xmlns:p14="http://schemas.microsoft.com/office/powerpoint/2010/main" val="452884028"/>
      </p:ext>
    </p:extLst>
  </p:cSld>
</p:sld>
</file>

<file path=ppt/slides/slide10.xml><?xml version="1.0" encoding="utf-8"?>
<p:sld xmlns:p="http://schemas.openxmlformats.org/presentationml/2006/main">
  <p:cSld>
    <p:bg>
      <p:bgPr>
        <a:solidFill xmlns:a="http://schemas.openxmlformats.org/drawingml/2006/main">
          <a:srgbClr val="0E2A38"/>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28475A88-9125-44F5-8FB5-D918374A74A4}"/>
              </a:ext>
            </a:extLst>
          </p:cNvPr>
          <p:cNvSpPr>
            <a:spLocks xmlns:a="http://schemas.openxmlformats.org/drawingml/2006/main" noGrp="1"/>
          </p:cNvSpPr>
          <p:nvPr/>
        </p:nvSpPr>
        <p:spPr>
          <a:xfrm xmlns:a="http://schemas.openxmlformats.org/drawingml/2006/main">
            <a:off x="-1280160" y="3840480"/>
            <a:ext cx="4206240" cy="4206240"/>
          </a:xfrm>
          <a:prstGeom xmlns:a="http://schemas.openxmlformats.org/drawingml/2006/main" prst="ellipse">
            <a:avLst/>
          </a:prstGeom>
          <a:solidFill xmlns:a="http://schemas.openxmlformats.org/drawingml/2006/main">
            <a:srgbClr val="2A6F84">
              <a:alpha val="40000"/>
            </a:srgbClr>
          </a:solidFill>
        </p:spPr>
        <p:txBody>
          <a:bodyPr xmlns:a="http://schemas.openxmlformats.org/drawingml/2006/main"/>
          <a:lstStyle xmlns:a="http://schemas.openxmlformats.org/drawingml/2006/main"/>
          <a:p xmlns:a="http://schemas.openxmlformats.org/drawingml/2006/main">
            <a:endParaRPr/>
          </a:p>
        </p:txBody>
      </p:sp>
      <p:sp>
        <p:nvSpPr>
          <p:cNvPr id="3" name="Shape 1">
            <a:extLst xmlns:a="http://schemas.openxmlformats.org/drawingml/2006/main">
              <a:ext uri="{FF2B5EF4-FFF2-40B4-BE49-F238E27FC236}">
                <a16:creationId xmlns:a16="http://schemas.microsoft.com/office/drawing/2014/main" id="{9328A480-ECE1-4361-860A-748A840A72A7}"/>
              </a:ext>
            </a:extLst>
          </p:cNvPr>
          <p:cNvSpPr>
            <a:spLocks xmlns:a="http://schemas.openxmlformats.org/drawingml/2006/main" noGrp="1"/>
          </p:cNvSpPr>
          <p:nvPr/>
        </p:nvSpPr>
        <p:spPr>
          <a:xfrm xmlns:a="http://schemas.openxmlformats.org/drawingml/2006/main">
            <a:off x="10881360" y="-822960"/>
            <a:ext cx="2560320" cy="2560320"/>
          </a:xfrm>
          <a:prstGeom xmlns:a="http://schemas.openxmlformats.org/drawingml/2006/main" prst="ellipse">
            <a:avLst/>
          </a:prstGeom>
          <a:solidFill xmlns:a="http://schemas.openxmlformats.org/drawingml/2006/main">
            <a:srgbClr val="CE9136">
              <a:alpha val="35000"/>
            </a:srgbClr>
          </a:solidFill>
        </p:spPr>
        <p:txBody>
          <a:bodyPr xmlns:a="http://schemas.openxmlformats.org/drawingml/2006/main"/>
          <a:lstStyle xmlns:a="http://schemas.openxmlformats.org/drawingml/2006/main"/>
          <a:p xmlns:a="http://schemas.openxmlformats.org/drawingml/2006/main">
            <a:endParaRPr/>
          </a:p>
        </p:txBody>
      </p:sp>
      <p:sp>
        <p:nvSpPr>
          <p:cNvPr id="4" name="Text 2">
            <a:extLst xmlns:a="http://schemas.openxmlformats.org/drawingml/2006/main">
              <a:ext uri="{FF2B5EF4-FFF2-40B4-BE49-F238E27FC236}">
                <a16:creationId xmlns:a16="http://schemas.microsoft.com/office/drawing/2014/main" id="{33D437F1-E5BC-4D00-B88E-DE1A6FB84FF6}"/>
              </a:ext>
            </a:extLst>
          </p:cNvPr>
          <p:cNvSpPr>
            <a:spLocks xmlns:a="http://schemas.openxmlformats.org/drawingml/2006/main" noGrp="1"/>
          </p:cNvSpPr>
          <p:nvPr/>
        </p:nvSpPr>
        <p:spPr>
          <a:xfrm xmlns:a="http://schemas.openxmlformats.org/drawingml/2006/main">
            <a:off x="822960" y="1234440"/>
            <a:ext cx="82296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spc="200">
                <a:solidFill>
                  <a:srgbClr val="CE9136"/>
                </a:solidFill>
                <a:latin typeface="Calibri"/>
                <a:ea typeface="Calibri"/>
                <a:cs typeface="Calibri"/>
              </a:rPr>
              <a:t>IN SUMMARY</a:t>
            </a:r>
            <a:endParaRPr sz="1200"/>
          </a:p>
        </p:txBody>
      </p:sp>
      <p:sp>
        <p:nvSpPr>
          <p:cNvPr id="5" name="Text 3">
            <a:extLst xmlns:a="http://schemas.openxmlformats.org/drawingml/2006/main">
              <a:ext uri="{FF2B5EF4-FFF2-40B4-BE49-F238E27FC236}">
                <a16:creationId xmlns:a16="http://schemas.microsoft.com/office/drawing/2014/main" id="{78351608-FBDA-42C6-B10C-41BCDDB9CF0A}"/>
              </a:ext>
            </a:extLst>
          </p:cNvPr>
          <p:cNvSpPr>
            <a:spLocks xmlns:a="http://schemas.openxmlformats.org/drawingml/2006/main" noGrp="1"/>
          </p:cNvSpPr>
          <p:nvPr/>
        </p:nvSpPr>
        <p:spPr>
          <a:xfrm xmlns:a="http://schemas.openxmlformats.org/drawingml/2006/main">
            <a:off x="822960" y="1645920"/>
            <a:ext cx="9692640" cy="1920240"/>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p xmlns:a="http://schemas.openxmlformats.org/drawingml/2006/main">
            <a:pPr marL="0" indent="0">
              <a:lnSpc>
                <a:spcPts val="4200"/>
              </a:lnSpc>
              <a:buNone/>
              <a:defRPr sz="2925" b="1">
                <a:solidFill>
                  <a:srgbClr val="FFFFFF"/>
                </a:solidFill>
                <a:latin typeface="Cambria"/>
                <a:ea typeface="Cambria"/>
                <a:cs typeface="Cambria"/>
              </a:defRPr>
            </a:pPr>
            <a:r>
              <a:rPr sz="2925" b="1">
                <a:solidFill>
                  <a:srgbClr val="FFFFFF"/>
                </a:solidFill>
                <a:latin typeface="Cambria"/>
                <a:ea typeface="Cambria"/>
                <a:cs typeface="Cambria"/>
              </a:rPr>
              <a:t>Exit criteria are not met.</a:t>
            </a:r>
            <a:endParaRPr sz="3000"/>
          </a:p>
          <a:p xmlns:a="http://schemas.openxmlformats.org/drawingml/2006/main">
            <a:pPr marL="0" indent="0">
              <a:lnSpc>
                <a:spcPts val="4200"/>
              </a:lnSpc>
              <a:buNone/>
              <a:defRPr sz="2925" b="1">
                <a:solidFill>
                  <a:srgbClr val="FFFFFF"/>
                </a:solidFill>
                <a:latin typeface="Cambria"/>
                <a:ea typeface="Cambria"/>
                <a:cs typeface="Cambria"/>
              </a:defRPr>
            </a:pPr>
            <a:r>
              <a:rPr sz="2925" b="1">
                <a:solidFill>
                  <a:srgbClr val="FFFFFF"/>
                </a:solidFill>
                <a:latin typeface="Cambria"/>
                <a:ea typeface="Cambria"/>
                <a:cs typeface="Cambria"/>
              </a:rPr>
              <a:t>Booking data and PDF export</a:t>
            </a:r>
            <a:endParaRPr sz="3000"/>
          </a:p>
          <a:p xmlns:a="http://schemas.openxmlformats.org/drawingml/2006/main">
            <a:pPr marL="0" indent="0">
              <a:lnSpc>
                <a:spcPts val="4200"/>
              </a:lnSpc>
              <a:buNone/>
              <a:defRPr sz="2925" b="1">
                <a:solidFill>
                  <a:srgbClr val="FFFFFF"/>
                </a:solidFill>
                <a:latin typeface="Cambria"/>
                <a:ea typeface="Cambria"/>
                <a:cs typeface="Cambria"/>
              </a:defRPr>
            </a:pPr>
            <a:r>
              <a:rPr sz="2925" b="1">
                <a:solidFill>
                  <a:srgbClr val="FFFFFF"/>
                </a:solidFill>
                <a:latin typeface="Cambria"/>
                <a:ea typeface="Cambria"/>
                <a:cs typeface="Cambria"/>
              </a:rPr>
              <a:t>need fixes and retesting.</a:t>
            </a:r>
            <a:endParaRPr sz="3000"/>
          </a:p>
        </p:txBody>
      </p:sp>
      <p:sp>
        <p:nvSpPr>
          <p:cNvPr id="6" name="Text 4">
            <a:extLst xmlns:a="http://schemas.openxmlformats.org/drawingml/2006/main">
              <a:ext uri="{FF2B5EF4-FFF2-40B4-BE49-F238E27FC236}">
                <a16:creationId xmlns:a16="http://schemas.microsoft.com/office/drawing/2014/main" id="{24791BB9-6524-4911-882E-FFB3DA36675C}"/>
              </a:ext>
            </a:extLst>
          </p:cNvPr>
          <p:cNvSpPr>
            <a:spLocks xmlns:a="http://schemas.openxmlformats.org/drawingml/2006/main" noGrp="1"/>
          </p:cNvSpPr>
          <p:nvPr/>
        </p:nvSpPr>
        <p:spPr>
          <a:xfrm xmlns:a="http://schemas.openxmlformats.org/drawingml/2006/main">
            <a:off x="822960" y="3886200"/>
            <a:ext cx="9692640" cy="822960"/>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p xmlns:a="http://schemas.openxmlformats.org/drawingml/2006/main">
            <a:pPr marL="0" indent="0">
              <a:lnSpc>
                <a:spcPts val="2200"/>
              </a:lnSpc>
              <a:buNone/>
              <a:defRPr sz="1650" b="0">
                <a:solidFill>
                  <a:srgbClr val="BFD3DD"/>
                </a:solidFill>
                <a:latin typeface="Calibri"/>
                <a:ea typeface="Calibri"/>
                <a:cs typeface="Calibri"/>
              </a:defRPr>
            </a:pPr>
            <a:r>
              <a:rPr sz="1650" b="0">
                <a:solidFill>
                  <a:srgbClr val="BFD3DD"/>
                </a:solidFill>
                <a:latin typeface="Calibri"/>
                <a:ea typeface="Calibri"/>
                <a:cs typeface="Calibri"/>
              </a:rPr>
              <a:t>47.06% pass rate against a 95% target</a:t>
            </a:r>
            <a:endParaRPr sz="1400"/>
          </a:p>
          <a:p xmlns:a="http://schemas.openxmlformats.org/drawingml/2006/main">
            <a:pPr marL="0" indent="0">
              <a:lnSpc>
                <a:spcPts val="2200"/>
              </a:lnSpc>
              <a:buNone/>
              <a:defRPr sz="1650" b="0">
                <a:solidFill>
                  <a:srgbClr val="BFD3DD"/>
                </a:solidFill>
                <a:latin typeface="Calibri"/>
                <a:ea typeface="Calibri"/>
                <a:cs typeface="Calibri"/>
              </a:defRPr>
            </a:pPr>
            <a:r>
              <a:rPr sz="1650" b="0">
                <a:solidFill>
                  <a:srgbClr val="BFD3DD"/>
                </a:solidFill>
                <a:latin typeface="Calibri"/>
                <a:ea typeface="Calibri"/>
                <a:cs typeface="Calibri"/>
              </a:rPr>
              <a:t>High-severity customer-flow issues remain open.</a:t>
            </a:r>
            <a:endParaRPr sz="1400"/>
          </a:p>
        </p:txBody>
      </p:sp>
      <p:sp>
        <p:nvSpPr>
          <p:cNvPr id="7" name="Text 5">
            <a:extLst xmlns:a="http://schemas.openxmlformats.org/drawingml/2006/main">
              <a:ext uri="{FF2B5EF4-FFF2-40B4-BE49-F238E27FC236}">
                <a16:creationId xmlns:a16="http://schemas.microsoft.com/office/drawing/2014/main" id="{B980E677-6F5E-4ABA-B5FA-7BFC145AE4BB}"/>
              </a:ext>
            </a:extLst>
          </p:cNvPr>
          <p:cNvSpPr>
            <a:spLocks xmlns:a="http://schemas.openxmlformats.org/drawingml/2006/main" noGrp="1"/>
          </p:cNvSpPr>
          <p:nvPr/>
        </p:nvSpPr>
        <p:spPr>
          <a:xfrm xmlns:a="http://schemas.openxmlformats.org/drawingml/2006/main">
            <a:off x="822960" y="4937760"/>
            <a:ext cx="457200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400" b="1">
                <a:solidFill>
                  <a:srgbClr val="CE9136"/>
                </a:solidFill>
                <a:latin typeface="Cambria"/>
                <a:ea typeface="Cambria"/>
                <a:cs typeface="Cambria"/>
              </a:rPr>
              <a:t>Questions</a:t>
            </a:r>
            <a:endParaRPr sz="2400"/>
          </a:p>
        </p:txBody>
      </p:sp>
    </p:spTree>
    <p:extLst>
      <p:ext uri="{BB962C8B-B14F-4D97-AF65-F5344CB8AC3E}">
        <p14:creationId xmlns:p14="http://schemas.microsoft.com/office/powerpoint/2010/main" val="2060617245"/>
      </p:ext>
    </p:extLst>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2026-09-18T00:14:54.5950000Z</dcterms:created>
  <dcterms:modified xsi:type="dcterms:W3CDTF">2026-09-18T00:14:54.5950000Z</dcterms:modified>
</coreProperties>
</file>